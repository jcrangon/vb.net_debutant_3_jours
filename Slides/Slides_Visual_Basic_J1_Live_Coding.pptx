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12192000" cy="6858000"/>
  <p:notesSz cx="6858000" cy="12192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4040F55-D2F3-4852-A6CF-B9150643D28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‹N°›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AEDF55-C6D9-4818-964B-F939F42D009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C82588-B7C7-44FE-B710-9B790CA3C19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04AC73-7DA9-462F-9A31-FF543C849F6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573313-0CA3-4899-AB0A-6F82BC7D00C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20BB7C-AA00-4D44-80B8-E22E62BBF6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A875CC-A8E7-4AE5-AFC1-8D3422C2298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D3438B-820D-4D72-A372-FF77F5BDE07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83B3F7-6FE3-44A4-B13D-479DEEFA22E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103501-EDD3-452C-9531-C56B2B8DD2A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5BE620-4A3C-4765-8364-5E1C249BAC6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8B1093-1E25-4466-8489-9628CB90DC4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334FD4-8861-4842-A831-0F4020406EB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CFFF42-9606-4FAB-96BD-8986A4BB3D4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AE4268-E5B8-4A7B-AB32-32CEFD784CF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0DD839-23F3-4A6D-81A8-CFA3C954A45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0A04DB-AA11-49CA-9E89-FC6A420741B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8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F7A8E8-5AE1-4470-9859-376758D3ABE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1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97A0D9-6245-4D3A-8CDE-36CDCAFB11D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4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57690C-F3D9-4C8C-8397-50AB22E4D3E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7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79B57B-8BB2-4256-92B0-0671E7B737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0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1C942C-23BD-46D2-9441-51AFAFFA3AA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3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D32F6B-5DA2-4953-AD6C-26EA62DFD4F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6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67EDA2-5481-46D7-B0E5-A77570119B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9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899E74-EE57-49EC-9C75-7ADCAF94528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2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720173-2CA4-4FAB-8F3D-004DF0BB000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5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FA4FB7-4FD0-4C9E-9802-0547C22BC6E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8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42B648-EB2B-4349-8D7A-5B7E70F61FE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1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2EE683-264F-4E47-9F93-A53FA2C16F0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4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4FCFFF-ED96-4B83-B6DC-E54C2AA70D1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7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F6870F-FD66-4A51-88D3-096D7574B0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0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ED08EC-5A77-4D56-AEAD-DEBAB414771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0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3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8F74BD-414E-46E6-B81B-75CB2364AA0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6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3D1595-4E60-45D2-A2DD-0F83C8597AF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9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DC35DA0-E228-4627-BE65-89C12A3A44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2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CF751D-48BC-46F4-BBB0-E04441AAC15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0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5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CFB7F1-17D5-48B1-B300-08E76805C27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8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6507EE-020A-4EF0-84A7-624AC926323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1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A1305C-B2F3-44F7-B048-CAC3DAC7CD5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4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4CB8A6-F2B5-44A3-9A41-E434ADC85AC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7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0F4DAB-04DE-4A57-B54D-518F21B8510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0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3D6C4D-E8EC-4DAC-AF62-44880C0655D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3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A4F8EF-0B02-4BE4-901B-06212FDF304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6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4B3E93-E0AC-441A-B49D-C5F9B957218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9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63DECB-DA76-4564-88E9-A51A550369C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109800" y="0"/>
            <a:ext cx="3748680" cy="6857640"/>
          </a:xfrm>
          <a:prstGeom prst="rect">
            <a:avLst/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502920" y="868680"/>
            <a:ext cx="3062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BDD7EA"/>
                </a:solidFill>
                <a:effectLst/>
                <a:uFillTx/>
                <a:latin typeface="Aptos"/>
              </a:rPr>
              <a:t>VISUAL BASIC .NET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502920" y="1325880"/>
            <a:ext cx="29714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Jour 1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502920" y="1783080"/>
            <a:ext cx="30171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Du besoin au premier programme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502920" y="5532120"/>
            <a:ext cx="29257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D9ECF7"/>
                </a:solidFill>
                <a:effectLst/>
                <a:uFillTx/>
                <a:latin typeface="Aptos"/>
              </a:rPr>
              <a:t>Cours orienté live coding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5870160" y="1572480"/>
            <a:ext cx="1554480" cy="360"/>
          </a:xfrm>
          <a:prstGeom prst="line">
            <a:avLst/>
          </a:prstGeom>
          <a:ln w="15120">
            <a:solidFill>
              <a:srgbClr val="9FB6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7424640" y="1572480"/>
            <a:ext cx="1554480" cy="360"/>
          </a:xfrm>
          <a:prstGeom prst="line">
            <a:avLst/>
          </a:prstGeom>
          <a:ln w="15120">
            <a:solidFill>
              <a:srgbClr val="9FB6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8979120" y="1572480"/>
            <a:ext cx="360" cy="1325880"/>
          </a:xfrm>
          <a:prstGeom prst="line">
            <a:avLst/>
          </a:prstGeom>
          <a:ln w="15120">
            <a:solidFill>
              <a:srgbClr val="9FB6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0"/>
          <p:cNvSpPr/>
          <p:nvPr/>
        </p:nvSpPr>
        <p:spPr>
          <a:xfrm flipH="1">
            <a:off x="7424640" y="2898360"/>
            <a:ext cx="1554480" cy="360"/>
          </a:xfrm>
          <a:prstGeom prst="line">
            <a:avLst/>
          </a:prstGeom>
          <a:ln w="15120">
            <a:solidFill>
              <a:srgbClr val="9FB6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1"/>
          <p:cNvSpPr/>
          <p:nvPr/>
        </p:nvSpPr>
        <p:spPr>
          <a:xfrm flipH="1">
            <a:off x="5870160" y="2898360"/>
            <a:ext cx="1554480" cy="360"/>
          </a:xfrm>
          <a:prstGeom prst="line">
            <a:avLst/>
          </a:prstGeom>
          <a:ln w="15120">
            <a:solidFill>
              <a:srgbClr val="9FB6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2"/>
          <p:cNvSpPr/>
          <p:nvPr/>
        </p:nvSpPr>
        <p:spPr>
          <a:xfrm flipV="1">
            <a:off x="5870160" y="1572480"/>
            <a:ext cx="360" cy="1325880"/>
          </a:xfrm>
          <a:prstGeom prst="line">
            <a:avLst/>
          </a:prstGeom>
          <a:ln w="15120">
            <a:solidFill>
              <a:srgbClr val="9FB6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3"/>
          <p:cNvSpPr/>
          <p:nvPr/>
        </p:nvSpPr>
        <p:spPr>
          <a:xfrm>
            <a:off x="5394960" y="1097280"/>
            <a:ext cx="950760" cy="950760"/>
          </a:xfrm>
          <a:prstGeom prst="ellipse">
            <a:avLst/>
          </a:prstGeom>
          <a:solidFill>
            <a:srgbClr val="EAF4EC"/>
          </a:solidFill>
          <a:ln w="12600">
            <a:solidFill>
              <a:srgbClr val="2E7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5440680" y="1417320"/>
            <a:ext cx="85932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Question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5"/>
          <p:cNvSpPr/>
          <p:nvPr/>
        </p:nvSpPr>
        <p:spPr>
          <a:xfrm>
            <a:off x="6949440" y="1097280"/>
            <a:ext cx="950760" cy="950760"/>
          </a:xfrm>
          <a:prstGeom prst="ellipse">
            <a:avLst/>
          </a:prstGeom>
          <a:solidFill>
            <a:srgbClr val="D9ECF7"/>
          </a:solidFill>
          <a:ln w="12600">
            <a:solidFill>
              <a:srgbClr val="2F6F9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6"/>
          <p:cNvSpPr/>
          <p:nvPr/>
        </p:nvSpPr>
        <p:spPr>
          <a:xfrm>
            <a:off x="6995160" y="1417320"/>
            <a:ext cx="85932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Prédire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7"/>
          <p:cNvSpPr/>
          <p:nvPr/>
        </p:nvSpPr>
        <p:spPr>
          <a:xfrm>
            <a:off x="8503920" y="1097280"/>
            <a:ext cx="950760" cy="950760"/>
          </a:xfrm>
          <a:prstGeom prst="ellipse">
            <a:avLst/>
          </a:prstGeom>
          <a:solidFill>
            <a:srgbClr val="EAF4EC"/>
          </a:solidFill>
          <a:ln w="12600">
            <a:solidFill>
              <a:srgbClr val="2E7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8"/>
          <p:cNvSpPr/>
          <p:nvPr/>
        </p:nvSpPr>
        <p:spPr>
          <a:xfrm>
            <a:off x="8549640" y="1417320"/>
            <a:ext cx="85932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Coder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9"/>
          <p:cNvSpPr/>
          <p:nvPr/>
        </p:nvSpPr>
        <p:spPr>
          <a:xfrm>
            <a:off x="8503920" y="2423160"/>
            <a:ext cx="950760" cy="950760"/>
          </a:xfrm>
          <a:prstGeom prst="ellipse">
            <a:avLst/>
          </a:prstGeom>
          <a:solidFill>
            <a:srgbClr val="D9ECF7"/>
          </a:solidFill>
          <a:ln w="12600">
            <a:solidFill>
              <a:srgbClr val="2F6F9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0"/>
          <p:cNvSpPr/>
          <p:nvPr/>
        </p:nvSpPr>
        <p:spPr>
          <a:xfrm>
            <a:off x="8549640" y="2743200"/>
            <a:ext cx="85932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Lancer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21"/>
          <p:cNvSpPr/>
          <p:nvPr/>
        </p:nvSpPr>
        <p:spPr>
          <a:xfrm>
            <a:off x="6949440" y="2423160"/>
            <a:ext cx="950760" cy="950760"/>
          </a:xfrm>
          <a:prstGeom prst="ellipse">
            <a:avLst/>
          </a:prstGeom>
          <a:solidFill>
            <a:srgbClr val="EAF4EC"/>
          </a:solidFill>
          <a:ln w="12600">
            <a:solidFill>
              <a:srgbClr val="2E7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2"/>
          <p:cNvSpPr/>
          <p:nvPr/>
        </p:nvSpPr>
        <p:spPr>
          <a:xfrm>
            <a:off x="6995160" y="2743200"/>
            <a:ext cx="85932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Observer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23"/>
          <p:cNvSpPr/>
          <p:nvPr/>
        </p:nvSpPr>
        <p:spPr>
          <a:xfrm>
            <a:off x="5394960" y="2423160"/>
            <a:ext cx="950760" cy="950760"/>
          </a:xfrm>
          <a:prstGeom prst="ellipse">
            <a:avLst/>
          </a:prstGeom>
          <a:solidFill>
            <a:srgbClr val="D9ECF7"/>
          </a:solidFill>
          <a:ln w="12600">
            <a:solidFill>
              <a:srgbClr val="2F6F9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4"/>
          <p:cNvSpPr/>
          <p:nvPr/>
        </p:nvSpPr>
        <p:spPr>
          <a:xfrm>
            <a:off x="5440680" y="2743200"/>
            <a:ext cx="85932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Varier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5"/>
          <p:cNvSpPr/>
          <p:nvPr/>
        </p:nvSpPr>
        <p:spPr>
          <a:xfrm>
            <a:off x="4663440" y="3703320"/>
            <a:ext cx="6309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Objectif du jour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6"/>
          <p:cNvSpPr/>
          <p:nvPr/>
        </p:nvSpPr>
        <p:spPr>
          <a:xfrm>
            <a:off x="4663440" y="4133160"/>
            <a:ext cx="61261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Construire progressivement une première application console : pseudo-code, Visual Studio, variables, conversions, opérateurs, lisibilité et mini-projet Contact.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"/>
          <p:cNvSpPr/>
          <p:nvPr/>
        </p:nvSpPr>
        <p:spPr>
          <a:xfrm>
            <a:off x="548640" y="25596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F6F9F"/>
                </a:solidFill>
                <a:effectLst/>
                <a:uFillTx/>
                <a:latin typeface="Aptos"/>
              </a:rPr>
              <a:t>FIL ROUGE PÉDAGOGIQUE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3"/>
          <p:cNvSpPr/>
          <p:nvPr/>
        </p:nvSpPr>
        <p:spPr>
          <a:xfrm>
            <a:off x="530280" y="50292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83B5A"/>
                </a:solidFill>
                <a:effectLst/>
                <a:uFillTx/>
                <a:latin typeface="Aptos"/>
              </a:rPr>
              <a:t>Rythme de la journée : apprendre en faisant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4"/>
          <p:cNvSpPr/>
          <p:nvPr/>
        </p:nvSpPr>
        <p:spPr>
          <a:xfrm>
            <a:off x="548640" y="987480"/>
            <a:ext cx="1142640" cy="406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5"/>
          <p:cNvSpPr/>
          <p:nvPr/>
        </p:nvSpPr>
        <p:spPr>
          <a:xfrm>
            <a:off x="640080" y="1463040"/>
            <a:ext cx="1439280" cy="475200"/>
          </a:xfrm>
          <a:prstGeom prst="roundRect">
            <a:avLst>
              <a:gd name="adj" fmla="val 11538"/>
            </a:avLst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6"/>
          <p:cNvSpPr/>
          <p:nvPr/>
        </p:nvSpPr>
        <p:spPr>
          <a:xfrm>
            <a:off x="676800" y="1618560"/>
            <a:ext cx="1365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Besoin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7"/>
          <p:cNvSpPr/>
          <p:nvPr/>
        </p:nvSpPr>
        <p:spPr>
          <a:xfrm>
            <a:off x="2097720" y="1682280"/>
            <a:ext cx="82440" cy="360"/>
          </a:xfrm>
          <a:prstGeom prst="line">
            <a:avLst/>
          </a:prstGeom>
          <a:ln w="15120">
            <a:solidFill>
              <a:srgbClr val="9FB6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8"/>
          <p:cNvSpPr/>
          <p:nvPr/>
        </p:nvSpPr>
        <p:spPr>
          <a:xfrm>
            <a:off x="2198520" y="1463040"/>
            <a:ext cx="1439280" cy="475200"/>
          </a:xfrm>
          <a:prstGeom prst="roundRect">
            <a:avLst>
              <a:gd name="adj" fmla="val 11538"/>
            </a:avLst>
          </a:prstGeom>
          <a:solidFill>
            <a:srgbClr val="F5F8FA"/>
          </a:solidFill>
          <a:ln w="12600">
            <a:solidFill>
              <a:srgbClr val="D5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9"/>
          <p:cNvSpPr/>
          <p:nvPr/>
        </p:nvSpPr>
        <p:spPr>
          <a:xfrm>
            <a:off x="2234880" y="1618560"/>
            <a:ext cx="1365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Pseudo-code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0"/>
          <p:cNvSpPr/>
          <p:nvPr/>
        </p:nvSpPr>
        <p:spPr>
          <a:xfrm>
            <a:off x="3656160" y="1682280"/>
            <a:ext cx="82080" cy="360"/>
          </a:xfrm>
          <a:prstGeom prst="line">
            <a:avLst/>
          </a:prstGeom>
          <a:ln w="15120">
            <a:solidFill>
              <a:srgbClr val="9FB6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11"/>
          <p:cNvSpPr/>
          <p:nvPr/>
        </p:nvSpPr>
        <p:spPr>
          <a:xfrm>
            <a:off x="3756960" y="1463040"/>
            <a:ext cx="1439280" cy="475200"/>
          </a:xfrm>
          <a:prstGeom prst="roundRect">
            <a:avLst>
              <a:gd name="adj" fmla="val 11538"/>
            </a:avLst>
          </a:prstGeom>
          <a:solidFill>
            <a:srgbClr val="F5F8FA"/>
          </a:solidFill>
          <a:ln w="12600">
            <a:solidFill>
              <a:srgbClr val="D5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2"/>
          <p:cNvSpPr/>
          <p:nvPr/>
        </p:nvSpPr>
        <p:spPr>
          <a:xfrm>
            <a:off x="3793320" y="1618560"/>
            <a:ext cx="1365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Code VB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3"/>
          <p:cNvSpPr/>
          <p:nvPr/>
        </p:nvSpPr>
        <p:spPr>
          <a:xfrm>
            <a:off x="5214600" y="1682280"/>
            <a:ext cx="82080" cy="360"/>
          </a:xfrm>
          <a:prstGeom prst="line">
            <a:avLst/>
          </a:prstGeom>
          <a:ln w="15120">
            <a:solidFill>
              <a:srgbClr val="9FB6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4"/>
          <p:cNvSpPr/>
          <p:nvPr/>
        </p:nvSpPr>
        <p:spPr>
          <a:xfrm>
            <a:off x="5315400" y="1463040"/>
            <a:ext cx="1439280" cy="475200"/>
          </a:xfrm>
          <a:prstGeom prst="roundRect">
            <a:avLst>
              <a:gd name="adj" fmla="val 11538"/>
            </a:avLst>
          </a:prstGeom>
          <a:solidFill>
            <a:srgbClr val="F5F8FA"/>
          </a:solidFill>
          <a:ln w="12600">
            <a:solidFill>
              <a:srgbClr val="D5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5"/>
          <p:cNvSpPr/>
          <p:nvPr/>
        </p:nvSpPr>
        <p:spPr>
          <a:xfrm>
            <a:off x="5351760" y="1618560"/>
            <a:ext cx="1365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Compiler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6"/>
          <p:cNvSpPr/>
          <p:nvPr/>
        </p:nvSpPr>
        <p:spPr>
          <a:xfrm>
            <a:off x="6773040" y="1682280"/>
            <a:ext cx="82080" cy="360"/>
          </a:xfrm>
          <a:prstGeom prst="line">
            <a:avLst/>
          </a:prstGeom>
          <a:ln w="15120">
            <a:solidFill>
              <a:srgbClr val="9FB6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7"/>
          <p:cNvSpPr/>
          <p:nvPr/>
        </p:nvSpPr>
        <p:spPr>
          <a:xfrm>
            <a:off x="6873840" y="1463040"/>
            <a:ext cx="1439280" cy="475200"/>
          </a:xfrm>
          <a:prstGeom prst="roundRect">
            <a:avLst>
              <a:gd name="adj" fmla="val 11538"/>
            </a:avLst>
          </a:prstGeom>
          <a:solidFill>
            <a:srgbClr val="F5F8FA"/>
          </a:solidFill>
          <a:ln w="12600">
            <a:solidFill>
              <a:srgbClr val="D5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8"/>
          <p:cNvSpPr/>
          <p:nvPr/>
        </p:nvSpPr>
        <p:spPr>
          <a:xfrm>
            <a:off x="6910200" y="1618560"/>
            <a:ext cx="1365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Exécuter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9"/>
          <p:cNvSpPr/>
          <p:nvPr/>
        </p:nvSpPr>
        <p:spPr>
          <a:xfrm>
            <a:off x="8331480" y="1682280"/>
            <a:ext cx="82080" cy="360"/>
          </a:xfrm>
          <a:prstGeom prst="line">
            <a:avLst/>
          </a:prstGeom>
          <a:ln w="15120">
            <a:solidFill>
              <a:srgbClr val="9FB6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20"/>
          <p:cNvSpPr/>
          <p:nvPr/>
        </p:nvSpPr>
        <p:spPr>
          <a:xfrm>
            <a:off x="8431920" y="1463040"/>
            <a:ext cx="1439280" cy="475200"/>
          </a:xfrm>
          <a:prstGeom prst="roundRect">
            <a:avLst>
              <a:gd name="adj" fmla="val 11538"/>
            </a:avLst>
          </a:prstGeom>
          <a:solidFill>
            <a:srgbClr val="F5F8FA"/>
          </a:solidFill>
          <a:ln w="12600">
            <a:solidFill>
              <a:srgbClr val="D5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1"/>
          <p:cNvSpPr/>
          <p:nvPr/>
        </p:nvSpPr>
        <p:spPr>
          <a:xfrm>
            <a:off x="8468640" y="1618560"/>
            <a:ext cx="1365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Observer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22"/>
          <p:cNvSpPr/>
          <p:nvPr/>
        </p:nvSpPr>
        <p:spPr>
          <a:xfrm>
            <a:off x="9889560" y="1682280"/>
            <a:ext cx="82440" cy="360"/>
          </a:xfrm>
          <a:prstGeom prst="line">
            <a:avLst/>
          </a:prstGeom>
          <a:ln w="15120">
            <a:solidFill>
              <a:srgbClr val="9FB6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23"/>
          <p:cNvSpPr/>
          <p:nvPr/>
        </p:nvSpPr>
        <p:spPr>
          <a:xfrm>
            <a:off x="9990360" y="1463040"/>
            <a:ext cx="1439280" cy="475200"/>
          </a:xfrm>
          <a:prstGeom prst="roundRect">
            <a:avLst>
              <a:gd name="adj" fmla="val 11538"/>
            </a:avLst>
          </a:prstGeom>
          <a:solidFill>
            <a:srgbClr val="2E7D61"/>
          </a:solidFill>
          <a:ln w="12600">
            <a:solidFill>
              <a:srgbClr val="2E7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4"/>
          <p:cNvSpPr/>
          <p:nvPr/>
        </p:nvSpPr>
        <p:spPr>
          <a:xfrm>
            <a:off x="10027080" y="1618560"/>
            <a:ext cx="13658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Améliorer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25"/>
          <p:cNvSpPr/>
          <p:nvPr/>
        </p:nvSpPr>
        <p:spPr>
          <a:xfrm>
            <a:off x="685800" y="2331720"/>
            <a:ext cx="3382920" cy="1828440"/>
          </a:xfrm>
          <a:prstGeom prst="roundRect">
            <a:avLst>
              <a:gd name="adj" fmla="val 4000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26"/>
          <p:cNvSpPr/>
          <p:nvPr/>
        </p:nvSpPr>
        <p:spPr>
          <a:xfrm>
            <a:off x="685800" y="2331720"/>
            <a:ext cx="72720" cy="1828440"/>
          </a:xfrm>
          <a:prstGeom prst="rect">
            <a:avLst/>
          </a:prstGeom>
          <a:solidFill>
            <a:srgbClr val="2F6F9F"/>
          </a:solidFill>
          <a:ln w="12600">
            <a:solidFill>
              <a:srgbClr val="2F6F9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7"/>
          <p:cNvSpPr/>
          <p:nvPr/>
        </p:nvSpPr>
        <p:spPr>
          <a:xfrm>
            <a:off x="850320" y="2450520"/>
            <a:ext cx="3108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Micro-cycle répété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8"/>
          <p:cNvSpPr/>
          <p:nvPr/>
        </p:nvSpPr>
        <p:spPr>
          <a:xfrm>
            <a:off x="850320" y="2752200"/>
            <a:ext cx="3108600" cy="129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Question courte → prédiction → code progressif → exécution → observation → correction → variation.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29"/>
          <p:cNvSpPr/>
          <p:nvPr/>
        </p:nvSpPr>
        <p:spPr>
          <a:xfrm>
            <a:off x="4389120" y="2331720"/>
            <a:ext cx="3382920" cy="1828440"/>
          </a:xfrm>
          <a:prstGeom prst="roundRect">
            <a:avLst>
              <a:gd name="adj" fmla="val 4000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30"/>
          <p:cNvSpPr/>
          <p:nvPr/>
        </p:nvSpPr>
        <p:spPr>
          <a:xfrm>
            <a:off x="4389120" y="2331720"/>
            <a:ext cx="72720" cy="1828440"/>
          </a:xfrm>
          <a:prstGeom prst="rect">
            <a:avLst/>
          </a:prstGeom>
          <a:solidFill>
            <a:srgbClr val="2E7D61"/>
          </a:solidFill>
          <a:ln w="12600">
            <a:solidFill>
              <a:srgbClr val="2E7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31"/>
          <p:cNvSpPr/>
          <p:nvPr/>
        </p:nvSpPr>
        <p:spPr>
          <a:xfrm>
            <a:off x="4553640" y="2450520"/>
            <a:ext cx="3108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Posture formateur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32"/>
          <p:cNvSpPr/>
          <p:nvPr/>
        </p:nvSpPr>
        <p:spPr>
          <a:xfrm>
            <a:off x="4553640" y="2752200"/>
            <a:ext cx="3108600" cy="129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Éviter le long cours magistral : l’écran Visual Studio devient le support principal de raisonnement.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33"/>
          <p:cNvSpPr/>
          <p:nvPr/>
        </p:nvSpPr>
        <p:spPr>
          <a:xfrm>
            <a:off x="8092440" y="2331720"/>
            <a:ext cx="3382920" cy="1828440"/>
          </a:xfrm>
          <a:prstGeom prst="roundRect">
            <a:avLst>
              <a:gd name="adj" fmla="val 4000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34"/>
          <p:cNvSpPr/>
          <p:nvPr/>
        </p:nvSpPr>
        <p:spPr>
          <a:xfrm>
            <a:off x="8092440" y="2331720"/>
            <a:ext cx="72720" cy="182844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35"/>
          <p:cNvSpPr/>
          <p:nvPr/>
        </p:nvSpPr>
        <p:spPr>
          <a:xfrm>
            <a:off x="8256960" y="2450520"/>
            <a:ext cx="3108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Trace produite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36"/>
          <p:cNvSpPr/>
          <p:nvPr/>
        </p:nvSpPr>
        <p:spPr>
          <a:xfrm>
            <a:off x="8256960" y="2752200"/>
            <a:ext cx="3108600" cy="129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À chaque séquence : un code exécutable, une erreur comprise ou une règle reformulée par les étudiants.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37"/>
          <p:cNvSpPr/>
          <p:nvPr/>
        </p:nvSpPr>
        <p:spPr>
          <a:xfrm>
            <a:off x="960120" y="5166360"/>
            <a:ext cx="102409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Le slide pose l’idée. La compréhension se construit dans l’éditeur.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38"/>
          <p:cNvSpPr/>
          <p:nvPr/>
        </p:nvSpPr>
        <p:spPr>
          <a:xfrm>
            <a:off x="502920" y="653796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Visual Basic .NET • J1 • Live coding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39"/>
          <p:cNvSpPr/>
          <p:nvPr/>
        </p:nvSpPr>
        <p:spPr>
          <a:xfrm>
            <a:off x="11384280" y="649224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01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"/>
          <p:cNvSpPr/>
          <p:nvPr/>
        </p:nvSpPr>
        <p:spPr>
          <a:xfrm>
            <a:off x="548640" y="25596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F6F9F"/>
                </a:solidFill>
                <a:effectLst/>
                <a:uFillTx/>
                <a:latin typeface="Aptos"/>
              </a:rPr>
              <a:t>À VÉRIFIER EN FIN DE JOURNÉE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3"/>
          <p:cNvSpPr/>
          <p:nvPr/>
        </p:nvSpPr>
        <p:spPr>
          <a:xfrm>
            <a:off x="530280" y="50292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83B5A"/>
                </a:solidFill>
                <a:effectLst/>
                <a:uFillTx/>
                <a:latin typeface="Aptos"/>
              </a:rPr>
              <a:t>Objectifs pédagogiques J1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4"/>
          <p:cNvSpPr/>
          <p:nvPr/>
        </p:nvSpPr>
        <p:spPr>
          <a:xfrm>
            <a:off x="548640" y="987480"/>
            <a:ext cx="1142640" cy="406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5"/>
          <p:cNvSpPr/>
          <p:nvPr/>
        </p:nvSpPr>
        <p:spPr>
          <a:xfrm>
            <a:off x="731520" y="1353240"/>
            <a:ext cx="6400440" cy="429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r>
              <a:rPr lang="en-US" sz="1400" b="0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• Distinguer besoin, algorithme, syntaxe et exécution.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• Créer et lancer une application console Visual Basic dans Visual Studio.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• Lire une première erreur de compilation comme un indice de diagnostic.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• Déclarer variables, constantes et types simples.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• Comprendre que ReadLine renvoie du texte et convertir si nécessaire.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• Prédire des expressions arithmétiques, comparatives et logiques.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• Refactoriser un code pour le rendre plus lisible.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• Construire une première fiche Contact puis un calculateur console.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6"/>
          <p:cNvSpPr/>
          <p:nvPr/>
        </p:nvSpPr>
        <p:spPr>
          <a:xfrm>
            <a:off x="7635240" y="1645920"/>
            <a:ext cx="3382920" cy="1874160"/>
          </a:xfrm>
          <a:prstGeom prst="roundRect">
            <a:avLst>
              <a:gd name="adj" fmla="val 3902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7"/>
          <p:cNvSpPr/>
          <p:nvPr/>
        </p:nvSpPr>
        <p:spPr>
          <a:xfrm>
            <a:off x="7635240" y="1645920"/>
            <a:ext cx="72720" cy="1874160"/>
          </a:xfrm>
          <a:prstGeom prst="rect">
            <a:avLst/>
          </a:prstGeom>
          <a:solidFill>
            <a:srgbClr val="2E7D61"/>
          </a:solidFill>
          <a:ln w="12600">
            <a:solidFill>
              <a:srgbClr val="2E7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8"/>
          <p:cNvSpPr/>
          <p:nvPr/>
        </p:nvSpPr>
        <p:spPr>
          <a:xfrm>
            <a:off x="7799760" y="1764720"/>
            <a:ext cx="3108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Point de contrôle final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9"/>
          <p:cNvSpPr/>
          <p:nvPr/>
        </p:nvSpPr>
        <p:spPr>
          <a:xfrm>
            <a:off x="7799760" y="2066400"/>
            <a:ext cx="3108600" cy="134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Partir d’un besoin court, écrire quelques étapes en pseudo-code, traduire en VB, exécuter, expliquer le résultat et repérer les erreurs simples.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0"/>
          <p:cNvSpPr/>
          <p:nvPr/>
        </p:nvSpPr>
        <p:spPr>
          <a:xfrm>
            <a:off x="8458200" y="4041720"/>
            <a:ext cx="1874160" cy="1874160"/>
          </a:xfrm>
          <a:prstGeom prst="ellipse">
            <a:avLst/>
          </a:prstGeom>
          <a:solidFill>
            <a:srgbClr val="D9ECF7"/>
          </a:solidFill>
          <a:ln w="12600">
            <a:solidFill>
              <a:srgbClr val="2F6F9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1"/>
          <p:cNvSpPr/>
          <p:nvPr/>
        </p:nvSpPr>
        <p:spPr>
          <a:xfrm>
            <a:off x="8823960" y="446220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17h00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2"/>
          <p:cNvSpPr/>
          <p:nvPr/>
        </p:nvSpPr>
        <p:spPr>
          <a:xfrm>
            <a:off x="8613720" y="4892040"/>
            <a:ext cx="1554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code expliqué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3"/>
          <p:cNvSpPr/>
          <p:nvPr/>
        </p:nvSpPr>
        <p:spPr>
          <a:xfrm>
            <a:off x="502920" y="653796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Visual Basic .NET • J1 • Live coding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4"/>
          <p:cNvSpPr/>
          <p:nvPr/>
        </p:nvSpPr>
        <p:spPr>
          <a:xfrm>
            <a:off x="11384280" y="649224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02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"/>
          <p:cNvSpPr/>
          <p:nvPr/>
        </p:nvSpPr>
        <p:spPr>
          <a:xfrm>
            <a:off x="548640" y="25596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F6F9F"/>
                </a:solidFill>
                <a:effectLst/>
                <a:uFillTx/>
                <a:latin typeface="Aptos"/>
              </a:rPr>
              <a:t>VISUAL STUDIO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3"/>
          <p:cNvSpPr/>
          <p:nvPr/>
        </p:nvSpPr>
        <p:spPr>
          <a:xfrm>
            <a:off x="530280" y="50292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83B5A"/>
                </a:solidFill>
                <a:effectLst/>
                <a:uFillTx/>
                <a:latin typeface="Aptos"/>
              </a:rPr>
              <a:t>Préparation technique avant 09h00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4"/>
          <p:cNvSpPr/>
          <p:nvPr/>
        </p:nvSpPr>
        <p:spPr>
          <a:xfrm>
            <a:off x="548640" y="987480"/>
            <a:ext cx="1142640" cy="406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5"/>
          <p:cNvSpPr/>
          <p:nvPr/>
        </p:nvSpPr>
        <p:spPr>
          <a:xfrm>
            <a:off x="685800" y="1417320"/>
            <a:ext cx="3474360" cy="1508400"/>
          </a:xfrm>
          <a:prstGeom prst="roundRect">
            <a:avLst>
              <a:gd name="adj" fmla="val 4848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6"/>
          <p:cNvSpPr/>
          <p:nvPr/>
        </p:nvSpPr>
        <p:spPr>
          <a:xfrm>
            <a:off x="685800" y="1417320"/>
            <a:ext cx="72720" cy="1508400"/>
          </a:xfrm>
          <a:prstGeom prst="rect">
            <a:avLst/>
          </a:prstGeom>
          <a:solidFill>
            <a:srgbClr val="2F6F9F"/>
          </a:solidFill>
          <a:ln w="12600">
            <a:solidFill>
              <a:srgbClr val="2F6F9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7"/>
          <p:cNvSpPr/>
          <p:nvPr/>
        </p:nvSpPr>
        <p:spPr>
          <a:xfrm>
            <a:off x="850320" y="153612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Environnement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8"/>
          <p:cNvSpPr/>
          <p:nvPr/>
        </p:nvSpPr>
        <p:spPr>
          <a:xfrm>
            <a:off x="850320" y="1837800"/>
            <a:ext cx="3200040" cy="97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Visual Studio installé avec la charge de travail Développement .NET Desktop et le support Visual Basic.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9"/>
          <p:cNvSpPr/>
          <p:nvPr/>
        </p:nvSpPr>
        <p:spPr>
          <a:xfrm>
            <a:off x="4434840" y="1417320"/>
            <a:ext cx="3474360" cy="1508400"/>
          </a:xfrm>
          <a:prstGeom prst="roundRect">
            <a:avLst>
              <a:gd name="adj" fmla="val 4848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0"/>
          <p:cNvSpPr/>
          <p:nvPr/>
        </p:nvSpPr>
        <p:spPr>
          <a:xfrm>
            <a:off x="4434840" y="1417320"/>
            <a:ext cx="72720" cy="1508400"/>
          </a:xfrm>
          <a:prstGeom prst="rect">
            <a:avLst/>
          </a:prstGeom>
          <a:solidFill>
            <a:srgbClr val="2E7D61"/>
          </a:solidFill>
          <a:ln w="12600">
            <a:solidFill>
              <a:srgbClr val="2E7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1"/>
          <p:cNvSpPr/>
          <p:nvPr/>
        </p:nvSpPr>
        <p:spPr>
          <a:xfrm>
            <a:off x="4599360" y="153612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Projection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2"/>
          <p:cNvSpPr/>
          <p:nvPr/>
        </p:nvSpPr>
        <p:spPr>
          <a:xfrm>
            <a:off x="4599360" y="1837800"/>
            <a:ext cx="3200040" cy="97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Police de l’éditeur agrandie, Solution Explorer / Error List / Output visibles et repérés.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3"/>
          <p:cNvSpPr/>
          <p:nvPr/>
        </p:nvSpPr>
        <p:spPr>
          <a:xfrm>
            <a:off x="8183880" y="1417320"/>
            <a:ext cx="3291480" cy="1508400"/>
          </a:xfrm>
          <a:prstGeom prst="roundRect">
            <a:avLst>
              <a:gd name="adj" fmla="val 4848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4"/>
          <p:cNvSpPr/>
          <p:nvPr/>
        </p:nvSpPr>
        <p:spPr>
          <a:xfrm>
            <a:off x="8183880" y="1417320"/>
            <a:ext cx="72720" cy="150840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5"/>
          <p:cNvSpPr/>
          <p:nvPr/>
        </p:nvSpPr>
        <p:spPr>
          <a:xfrm>
            <a:off x="8348400" y="1536120"/>
            <a:ext cx="30171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Projets J1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6"/>
          <p:cNvSpPr/>
          <p:nvPr/>
        </p:nvSpPr>
        <p:spPr>
          <a:xfrm>
            <a:off x="8348400" y="1837800"/>
            <a:ext cx="3017160" cy="97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Un dossier propre pour les mini-projets : Hello, prénom, erreurs, types, opérateurs, contact et calculateur.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7"/>
          <p:cNvSpPr/>
          <p:nvPr/>
        </p:nvSpPr>
        <p:spPr>
          <a:xfrm>
            <a:off x="1828800" y="3429000"/>
            <a:ext cx="8412120" cy="2239920"/>
          </a:xfrm>
          <a:prstGeom prst="roundRect">
            <a:avLst>
              <a:gd name="adj" fmla="val 2449"/>
            </a:avLst>
          </a:prstGeom>
          <a:solidFill>
            <a:srgbClr val="17212B"/>
          </a:solidFill>
          <a:ln w="6480">
            <a:solidFill>
              <a:srgbClr val="0F17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8"/>
          <p:cNvSpPr/>
          <p:nvPr/>
        </p:nvSpPr>
        <p:spPr>
          <a:xfrm>
            <a:off x="1993320" y="3547800"/>
            <a:ext cx="8119440" cy="203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J1/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  01_HelloConsole/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  02_Prenom/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  03_ErreursCompilation/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  04_TypesConversions/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  05_Operateurs/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  06_RefactorisationLisibilite/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  07_ContactConsole/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  08_TP_Calculateur/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9"/>
          <p:cNvSpPr/>
          <p:nvPr/>
        </p:nvSpPr>
        <p:spPr>
          <a:xfrm>
            <a:off x="502920" y="653796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Visual Basic .NET • J1 • Live coding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0"/>
          <p:cNvSpPr/>
          <p:nvPr/>
        </p:nvSpPr>
        <p:spPr>
          <a:xfrm>
            <a:off x="11384280" y="649224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03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"/>
          <p:cNvSpPr/>
          <p:nvPr/>
        </p:nvSpPr>
        <p:spPr>
          <a:xfrm>
            <a:off x="548640" y="25596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F6F9F"/>
                </a:solidFill>
                <a:effectLst/>
                <a:uFillTx/>
                <a:latin typeface="Aptos"/>
              </a:rPr>
              <a:t>ACTIVITÉ D’OUVERTURE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"/>
          <p:cNvSpPr/>
          <p:nvPr/>
        </p:nvSpPr>
        <p:spPr>
          <a:xfrm>
            <a:off x="530280" y="50292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83B5A"/>
                </a:solidFill>
                <a:effectLst/>
                <a:uFillTx/>
                <a:latin typeface="Aptos"/>
              </a:rPr>
              <a:t>Diagnostic initial : texte, calcul, comparaison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4"/>
          <p:cNvSpPr/>
          <p:nvPr/>
        </p:nvSpPr>
        <p:spPr>
          <a:xfrm>
            <a:off x="548640" y="987480"/>
            <a:ext cx="1142640" cy="406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5"/>
          <p:cNvSpPr/>
          <p:nvPr/>
        </p:nvSpPr>
        <p:spPr>
          <a:xfrm>
            <a:off x="685800" y="123444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Consigne : faire prédire avant d’exécuter. Corriger seulement après le vote.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6"/>
          <p:cNvSpPr/>
          <p:nvPr/>
        </p:nvSpPr>
        <p:spPr>
          <a:xfrm>
            <a:off x="914400" y="1874520"/>
            <a:ext cx="4937400" cy="2285640"/>
          </a:xfrm>
          <a:prstGeom prst="roundRect">
            <a:avLst>
              <a:gd name="adj" fmla="val 2400"/>
            </a:avLst>
          </a:prstGeom>
          <a:solidFill>
            <a:srgbClr val="17212B"/>
          </a:solidFill>
          <a:ln w="6480">
            <a:solidFill>
              <a:srgbClr val="0F17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7"/>
          <p:cNvSpPr/>
          <p:nvPr/>
        </p:nvSpPr>
        <p:spPr>
          <a:xfrm>
            <a:off x="1078920" y="1993320"/>
            <a:ext cx="4644720" cy="208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Console.WriteLine("5 + 2")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Console.WriteLine(5 + 2)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age As Integer = 20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Console.WriteLine(age &gt; 18)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8"/>
          <p:cNvSpPr/>
          <p:nvPr/>
        </p:nvSpPr>
        <p:spPr>
          <a:xfrm>
            <a:off x="6400800" y="1874520"/>
            <a:ext cx="4480200" cy="2285640"/>
          </a:xfrm>
          <a:prstGeom prst="roundRect">
            <a:avLst>
              <a:gd name="adj" fmla="val 3200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9"/>
          <p:cNvSpPr/>
          <p:nvPr/>
        </p:nvSpPr>
        <p:spPr>
          <a:xfrm>
            <a:off x="6400800" y="1874520"/>
            <a:ext cx="72720" cy="2285640"/>
          </a:xfrm>
          <a:prstGeom prst="rect">
            <a:avLst/>
          </a:prstGeom>
          <a:solidFill>
            <a:srgbClr val="2E7D61"/>
          </a:solidFill>
          <a:ln w="12600">
            <a:solidFill>
              <a:srgbClr val="2E7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0"/>
          <p:cNvSpPr/>
          <p:nvPr/>
        </p:nvSpPr>
        <p:spPr>
          <a:xfrm>
            <a:off x="6565320" y="1993320"/>
            <a:ext cx="4205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Ce que l’on observe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1"/>
          <p:cNvSpPr/>
          <p:nvPr/>
        </p:nvSpPr>
        <p:spPr>
          <a:xfrm>
            <a:off x="6565320" y="2295000"/>
            <a:ext cx="4205880" cy="175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• Texte affiché tel quel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• Calcul numérique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• Variable typée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• Comparaison qui produit True/False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2"/>
          <p:cNvSpPr/>
          <p:nvPr/>
        </p:nvSpPr>
        <p:spPr>
          <a:xfrm>
            <a:off x="1188720" y="4892040"/>
            <a:ext cx="9692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C9732F"/>
                </a:solidFill>
                <a:effectLst/>
                <a:uFillTx/>
                <a:latin typeface="Aptos"/>
                <a:ea typeface="Aptos"/>
              </a:rPr>
              <a:t>But : installer l’habitude “je prédis → je lance → j’explique”.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3"/>
          <p:cNvSpPr/>
          <p:nvPr/>
        </p:nvSpPr>
        <p:spPr>
          <a:xfrm>
            <a:off x="502920" y="653796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Visual Basic .NET • J1 • Live coding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4"/>
          <p:cNvSpPr/>
          <p:nvPr/>
        </p:nvSpPr>
        <p:spPr>
          <a:xfrm>
            <a:off x="11384280" y="649224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04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2"/>
          <p:cNvSpPr/>
          <p:nvPr/>
        </p:nvSpPr>
        <p:spPr>
          <a:xfrm>
            <a:off x="548640" y="25596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F6F9F"/>
                </a:solidFill>
                <a:effectLst/>
                <a:uFillTx/>
                <a:latin typeface="Aptos"/>
              </a:rPr>
              <a:t>AVANT LA SYNTAXE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3"/>
          <p:cNvSpPr/>
          <p:nvPr/>
        </p:nvSpPr>
        <p:spPr>
          <a:xfrm>
            <a:off x="530280" y="50292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83B5A"/>
                </a:solidFill>
                <a:effectLst/>
                <a:uFillTx/>
                <a:latin typeface="Aptos"/>
              </a:rPr>
              <a:t>Un programme répond d’abord à un besoin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4"/>
          <p:cNvSpPr/>
          <p:nvPr/>
        </p:nvSpPr>
        <p:spPr>
          <a:xfrm>
            <a:off x="548640" y="987480"/>
            <a:ext cx="1142640" cy="406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5"/>
          <p:cNvSpPr/>
          <p:nvPr/>
        </p:nvSpPr>
        <p:spPr>
          <a:xfrm>
            <a:off x="777240" y="1325880"/>
            <a:ext cx="3245760" cy="1371240"/>
          </a:xfrm>
          <a:prstGeom prst="roundRect">
            <a:avLst>
              <a:gd name="adj" fmla="val 5333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6"/>
          <p:cNvSpPr/>
          <p:nvPr/>
        </p:nvSpPr>
        <p:spPr>
          <a:xfrm>
            <a:off x="777240" y="1325880"/>
            <a:ext cx="72720" cy="1371240"/>
          </a:xfrm>
          <a:prstGeom prst="rect">
            <a:avLst/>
          </a:prstGeom>
          <a:solidFill>
            <a:srgbClr val="2F6F9F"/>
          </a:solidFill>
          <a:ln w="12600">
            <a:solidFill>
              <a:srgbClr val="2F6F9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7"/>
          <p:cNvSpPr/>
          <p:nvPr/>
        </p:nvSpPr>
        <p:spPr>
          <a:xfrm>
            <a:off x="941760" y="1444680"/>
            <a:ext cx="2971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Besoin utilisateur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8"/>
          <p:cNvSpPr/>
          <p:nvPr/>
        </p:nvSpPr>
        <p:spPr>
          <a:xfrm>
            <a:off x="941760" y="1746360"/>
            <a:ext cx="297144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Demander le prénom d’une personne puis afficher : Bonjour &lt;prénom&gt;.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9"/>
          <p:cNvSpPr/>
          <p:nvPr/>
        </p:nvSpPr>
        <p:spPr>
          <a:xfrm>
            <a:off x="4251960" y="2011680"/>
            <a:ext cx="914400" cy="360"/>
          </a:xfrm>
          <a:prstGeom prst="line">
            <a:avLst/>
          </a:prstGeom>
          <a:ln w="17640">
            <a:solidFill>
              <a:srgbClr val="9FB6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0"/>
          <p:cNvSpPr/>
          <p:nvPr/>
        </p:nvSpPr>
        <p:spPr>
          <a:xfrm>
            <a:off x="5394960" y="1325880"/>
            <a:ext cx="2651400" cy="1371240"/>
          </a:xfrm>
          <a:prstGeom prst="roundRect">
            <a:avLst>
              <a:gd name="adj" fmla="val 5333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1"/>
          <p:cNvSpPr/>
          <p:nvPr/>
        </p:nvSpPr>
        <p:spPr>
          <a:xfrm>
            <a:off x="5394960" y="1325880"/>
            <a:ext cx="72720" cy="1371240"/>
          </a:xfrm>
          <a:prstGeom prst="rect">
            <a:avLst/>
          </a:prstGeom>
          <a:solidFill>
            <a:srgbClr val="2E7D61"/>
          </a:solidFill>
          <a:ln w="12600">
            <a:solidFill>
              <a:srgbClr val="2E7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2"/>
          <p:cNvSpPr/>
          <p:nvPr/>
        </p:nvSpPr>
        <p:spPr>
          <a:xfrm>
            <a:off x="5559480" y="1444680"/>
            <a:ext cx="23770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Algorithme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3"/>
          <p:cNvSpPr/>
          <p:nvPr/>
        </p:nvSpPr>
        <p:spPr>
          <a:xfrm>
            <a:off x="5559480" y="1746360"/>
            <a:ext cx="237708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Décrire les étapes sans dépendre encore de Visual Basic.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4"/>
          <p:cNvSpPr/>
          <p:nvPr/>
        </p:nvSpPr>
        <p:spPr>
          <a:xfrm>
            <a:off x="8321040" y="2011680"/>
            <a:ext cx="777240" cy="360"/>
          </a:xfrm>
          <a:prstGeom prst="line">
            <a:avLst/>
          </a:prstGeom>
          <a:ln w="17640">
            <a:solidFill>
              <a:srgbClr val="9FB6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5"/>
          <p:cNvSpPr/>
          <p:nvPr/>
        </p:nvSpPr>
        <p:spPr>
          <a:xfrm>
            <a:off x="9326880" y="1325880"/>
            <a:ext cx="2102760" cy="1371240"/>
          </a:xfrm>
          <a:prstGeom prst="roundRect">
            <a:avLst>
              <a:gd name="adj" fmla="val 5333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6"/>
          <p:cNvSpPr/>
          <p:nvPr/>
        </p:nvSpPr>
        <p:spPr>
          <a:xfrm>
            <a:off x="9326880" y="1325880"/>
            <a:ext cx="72720" cy="137124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7"/>
          <p:cNvSpPr/>
          <p:nvPr/>
        </p:nvSpPr>
        <p:spPr>
          <a:xfrm>
            <a:off x="9491400" y="144468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Code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8"/>
          <p:cNvSpPr/>
          <p:nvPr/>
        </p:nvSpPr>
        <p:spPr>
          <a:xfrm>
            <a:off x="9491400" y="1746360"/>
            <a:ext cx="182844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Traduire progressivement dans l’éditeur.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9"/>
          <p:cNvSpPr/>
          <p:nvPr/>
        </p:nvSpPr>
        <p:spPr>
          <a:xfrm>
            <a:off x="914400" y="3429000"/>
            <a:ext cx="4845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À faire au tableau : ENTRÉE / TRAITEMENT / SORTIE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20"/>
          <p:cNvSpPr/>
          <p:nvPr/>
        </p:nvSpPr>
        <p:spPr>
          <a:xfrm>
            <a:off x="914400" y="4069080"/>
            <a:ext cx="3200040" cy="475200"/>
          </a:xfrm>
          <a:prstGeom prst="roundRect">
            <a:avLst>
              <a:gd name="adj" fmla="val 11538"/>
            </a:avLst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1"/>
          <p:cNvSpPr/>
          <p:nvPr/>
        </p:nvSpPr>
        <p:spPr>
          <a:xfrm>
            <a:off x="951120" y="4224600"/>
            <a:ext cx="31269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Entrée : prénom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22"/>
          <p:cNvSpPr/>
          <p:nvPr/>
        </p:nvSpPr>
        <p:spPr>
          <a:xfrm>
            <a:off x="4132800" y="4288320"/>
            <a:ext cx="192240" cy="360"/>
          </a:xfrm>
          <a:prstGeom prst="line">
            <a:avLst/>
          </a:prstGeom>
          <a:ln w="15120">
            <a:solidFill>
              <a:srgbClr val="9FB6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23"/>
          <p:cNvSpPr/>
          <p:nvPr/>
        </p:nvSpPr>
        <p:spPr>
          <a:xfrm>
            <a:off x="4343400" y="4069080"/>
            <a:ext cx="3200040" cy="475200"/>
          </a:xfrm>
          <a:prstGeom prst="roundRect">
            <a:avLst>
              <a:gd name="adj" fmla="val 11538"/>
            </a:avLst>
          </a:prstGeom>
          <a:solidFill>
            <a:srgbClr val="F5F8FA"/>
          </a:solidFill>
          <a:ln w="12600">
            <a:solidFill>
              <a:srgbClr val="D5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4"/>
          <p:cNvSpPr/>
          <p:nvPr/>
        </p:nvSpPr>
        <p:spPr>
          <a:xfrm>
            <a:off x="4380120" y="4224600"/>
            <a:ext cx="31269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Traitement : construire le message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25"/>
          <p:cNvSpPr/>
          <p:nvPr/>
        </p:nvSpPr>
        <p:spPr>
          <a:xfrm>
            <a:off x="7561800" y="4288320"/>
            <a:ext cx="192240" cy="360"/>
          </a:xfrm>
          <a:prstGeom prst="line">
            <a:avLst/>
          </a:prstGeom>
          <a:ln w="15120">
            <a:solidFill>
              <a:srgbClr val="9FB6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26"/>
          <p:cNvSpPr/>
          <p:nvPr/>
        </p:nvSpPr>
        <p:spPr>
          <a:xfrm>
            <a:off x="7772400" y="4069080"/>
            <a:ext cx="3200040" cy="475200"/>
          </a:xfrm>
          <a:prstGeom prst="roundRect">
            <a:avLst>
              <a:gd name="adj" fmla="val 11538"/>
            </a:avLst>
          </a:prstGeom>
          <a:solidFill>
            <a:srgbClr val="2E7D61"/>
          </a:solidFill>
          <a:ln w="12600">
            <a:solidFill>
              <a:srgbClr val="2E7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7"/>
          <p:cNvSpPr/>
          <p:nvPr/>
        </p:nvSpPr>
        <p:spPr>
          <a:xfrm>
            <a:off x="7809120" y="4224600"/>
            <a:ext cx="31269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Sortie : afficher Bonjour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8"/>
          <p:cNvSpPr/>
          <p:nvPr/>
        </p:nvSpPr>
        <p:spPr>
          <a:xfrm>
            <a:off x="502920" y="653796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Visual Basic .NET • J1 • Live coding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29"/>
          <p:cNvSpPr/>
          <p:nvPr/>
        </p:nvSpPr>
        <p:spPr>
          <a:xfrm>
            <a:off x="11384280" y="649224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05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2"/>
          <p:cNvSpPr/>
          <p:nvPr/>
        </p:nvSpPr>
        <p:spPr>
          <a:xfrm>
            <a:off x="548640" y="25596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F6F9F"/>
                </a:solidFill>
                <a:effectLst/>
                <a:uFillTx/>
                <a:latin typeface="Aptos"/>
              </a:rPr>
              <a:t>MODÈLE MENTAL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3"/>
          <p:cNvSpPr/>
          <p:nvPr/>
        </p:nvSpPr>
        <p:spPr>
          <a:xfrm>
            <a:off x="530280" y="50292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83B5A"/>
                </a:solidFill>
                <a:effectLst/>
                <a:uFillTx/>
                <a:latin typeface="Aptos"/>
              </a:rPr>
              <a:t>Définition : algorithme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4"/>
          <p:cNvSpPr/>
          <p:nvPr/>
        </p:nvSpPr>
        <p:spPr>
          <a:xfrm>
            <a:off x="548640" y="987480"/>
            <a:ext cx="1142640" cy="406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5"/>
          <p:cNvSpPr/>
          <p:nvPr/>
        </p:nvSpPr>
        <p:spPr>
          <a:xfrm>
            <a:off x="868680" y="132588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F6F9F"/>
                </a:solidFill>
                <a:effectLst/>
                <a:uFillTx/>
                <a:latin typeface="Aptos"/>
                <a:ea typeface="Aptos"/>
              </a:rPr>
              <a:t>Définition simple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6"/>
          <p:cNvSpPr/>
          <p:nvPr/>
        </p:nvSpPr>
        <p:spPr>
          <a:xfrm>
            <a:off x="868680" y="1719000"/>
            <a:ext cx="41601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Une suite d’étapes ordonnées pour résoudre un problème.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7"/>
          <p:cNvSpPr/>
          <p:nvPr/>
        </p:nvSpPr>
        <p:spPr>
          <a:xfrm>
            <a:off x="6400800" y="132588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E7D61"/>
                </a:solidFill>
                <a:effectLst/>
                <a:uFillTx/>
                <a:latin typeface="Aptos"/>
                <a:ea typeface="Aptos"/>
              </a:rPr>
              <a:t>Définition plus rigoureuse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8"/>
          <p:cNvSpPr/>
          <p:nvPr/>
        </p:nvSpPr>
        <p:spPr>
          <a:xfrm>
            <a:off x="6400800" y="1719000"/>
            <a:ext cx="429732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Une description indépendante du langage qui précise les entrées, traitements et sorties attendues.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9"/>
          <p:cNvSpPr/>
          <p:nvPr/>
        </p:nvSpPr>
        <p:spPr>
          <a:xfrm>
            <a:off x="2103120" y="3246120"/>
            <a:ext cx="7863480" cy="1782720"/>
          </a:xfrm>
          <a:prstGeom prst="roundRect">
            <a:avLst>
              <a:gd name="adj" fmla="val 3077"/>
            </a:avLst>
          </a:prstGeom>
          <a:solidFill>
            <a:srgbClr val="17212B"/>
          </a:solidFill>
          <a:ln w="6480">
            <a:solidFill>
              <a:srgbClr val="0F17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0"/>
          <p:cNvSpPr/>
          <p:nvPr/>
        </p:nvSpPr>
        <p:spPr>
          <a:xfrm>
            <a:off x="2267640" y="3364920"/>
            <a:ext cx="7570800" cy="158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DÉBUT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Afficher "Quel est votre prénom ?"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Lire prenom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Afficher "Bonjour " + prenom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FIN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1"/>
          <p:cNvSpPr/>
          <p:nvPr/>
        </p:nvSpPr>
        <p:spPr>
          <a:xfrm>
            <a:off x="502920" y="653796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Visual Basic .NET • J1 • Live coding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2"/>
          <p:cNvSpPr/>
          <p:nvPr/>
        </p:nvSpPr>
        <p:spPr>
          <a:xfrm>
            <a:off x="11384280" y="649224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06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"/>
          <p:cNvSpPr/>
          <p:nvPr/>
        </p:nvSpPr>
        <p:spPr>
          <a:xfrm>
            <a:off x="548640" y="25596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F6F9F"/>
                </a:solidFill>
                <a:effectLst/>
                <a:uFillTx/>
                <a:latin typeface="Aptos"/>
              </a:rPr>
              <a:t>LIVE CODING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"/>
          <p:cNvSpPr/>
          <p:nvPr/>
        </p:nvSpPr>
        <p:spPr>
          <a:xfrm>
            <a:off x="530280" y="50292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83B5A"/>
                </a:solidFill>
                <a:effectLst/>
                <a:uFillTx/>
                <a:latin typeface="Aptos"/>
              </a:rPr>
              <a:t>Traduction progressive en Visual Basic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4"/>
          <p:cNvSpPr/>
          <p:nvPr/>
        </p:nvSpPr>
        <p:spPr>
          <a:xfrm>
            <a:off x="548640" y="987480"/>
            <a:ext cx="1142640" cy="406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5"/>
          <p:cNvSpPr/>
          <p:nvPr/>
        </p:nvSpPr>
        <p:spPr>
          <a:xfrm>
            <a:off x="685800" y="123444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F6F9F"/>
                </a:solidFill>
                <a:effectLst/>
                <a:uFillTx/>
                <a:latin typeface="Aptos"/>
                <a:ea typeface="Aptos"/>
              </a:rPr>
              <a:t>Étape 1 : afficher une question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6"/>
          <p:cNvSpPr/>
          <p:nvPr/>
        </p:nvSpPr>
        <p:spPr>
          <a:xfrm>
            <a:off x="685800" y="1572840"/>
            <a:ext cx="5028840" cy="694440"/>
          </a:xfrm>
          <a:prstGeom prst="roundRect">
            <a:avLst>
              <a:gd name="adj" fmla="val 7895"/>
            </a:avLst>
          </a:prstGeom>
          <a:solidFill>
            <a:srgbClr val="17212B"/>
          </a:solidFill>
          <a:ln w="6480">
            <a:solidFill>
              <a:srgbClr val="0F17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7"/>
          <p:cNvSpPr/>
          <p:nvPr/>
        </p:nvSpPr>
        <p:spPr>
          <a:xfrm>
            <a:off x="850320" y="1691640"/>
            <a:ext cx="473616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Console.WriteLine("Quel est votre prénom ?")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8"/>
          <p:cNvSpPr/>
          <p:nvPr/>
        </p:nvSpPr>
        <p:spPr>
          <a:xfrm>
            <a:off x="685800" y="254196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E7D61"/>
                </a:solidFill>
                <a:effectLst/>
                <a:uFillTx/>
                <a:latin typeface="Aptos"/>
                <a:ea typeface="Aptos"/>
              </a:rPr>
              <a:t>Étape 2 : lire du texte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9"/>
          <p:cNvSpPr/>
          <p:nvPr/>
        </p:nvSpPr>
        <p:spPr>
          <a:xfrm>
            <a:off x="685800" y="2880360"/>
            <a:ext cx="5028840" cy="694440"/>
          </a:xfrm>
          <a:prstGeom prst="roundRect">
            <a:avLst>
              <a:gd name="adj" fmla="val 7895"/>
            </a:avLst>
          </a:prstGeom>
          <a:solidFill>
            <a:srgbClr val="17212B"/>
          </a:solidFill>
          <a:ln w="6480">
            <a:solidFill>
              <a:srgbClr val="0F17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0"/>
          <p:cNvSpPr/>
          <p:nvPr/>
        </p:nvSpPr>
        <p:spPr>
          <a:xfrm>
            <a:off x="850320" y="2999160"/>
            <a:ext cx="473616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prenom As String = Console.ReadLine()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1"/>
          <p:cNvSpPr/>
          <p:nvPr/>
        </p:nvSpPr>
        <p:spPr>
          <a:xfrm>
            <a:off x="685800" y="384048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C9732F"/>
                </a:solidFill>
                <a:effectLst/>
                <a:uFillTx/>
                <a:latin typeface="Aptos"/>
                <a:ea typeface="Aptos"/>
              </a:rPr>
              <a:t>Étape 3 : réutiliser la donnée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2"/>
          <p:cNvSpPr/>
          <p:nvPr/>
        </p:nvSpPr>
        <p:spPr>
          <a:xfrm>
            <a:off x="685800" y="4169520"/>
            <a:ext cx="5028840" cy="694440"/>
          </a:xfrm>
          <a:prstGeom prst="roundRect">
            <a:avLst>
              <a:gd name="adj" fmla="val 7895"/>
            </a:avLst>
          </a:prstGeom>
          <a:solidFill>
            <a:srgbClr val="17212B"/>
          </a:solidFill>
          <a:ln w="6480">
            <a:solidFill>
              <a:srgbClr val="0F17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3"/>
          <p:cNvSpPr/>
          <p:nvPr/>
        </p:nvSpPr>
        <p:spPr>
          <a:xfrm>
            <a:off x="850320" y="4288680"/>
            <a:ext cx="473616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Console.WriteLine("Bonjour " &amp; prenom)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4"/>
          <p:cNvSpPr/>
          <p:nvPr/>
        </p:nvSpPr>
        <p:spPr>
          <a:xfrm>
            <a:off x="6400800" y="1691640"/>
            <a:ext cx="4388760" cy="2468520"/>
          </a:xfrm>
          <a:prstGeom prst="roundRect">
            <a:avLst>
              <a:gd name="adj" fmla="val 2963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15"/>
          <p:cNvSpPr/>
          <p:nvPr/>
        </p:nvSpPr>
        <p:spPr>
          <a:xfrm>
            <a:off x="6400800" y="1691640"/>
            <a:ext cx="72720" cy="2468520"/>
          </a:xfrm>
          <a:prstGeom prst="rect">
            <a:avLst/>
          </a:prstGeom>
          <a:solidFill>
            <a:srgbClr val="2F6F9F"/>
          </a:solidFill>
          <a:ln w="12600">
            <a:solidFill>
              <a:srgbClr val="2F6F9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6"/>
          <p:cNvSpPr/>
          <p:nvPr/>
        </p:nvSpPr>
        <p:spPr>
          <a:xfrm>
            <a:off x="6565320" y="1810440"/>
            <a:ext cx="4114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Questions à poser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7"/>
          <p:cNvSpPr/>
          <p:nvPr/>
        </p:nvSpPr>
        <p:spPr>
          <a:xfrm>
            <a:off x="6565320" y="2112120"/>
            <a:ext cx="4114440" cy="193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• Où apparaît le texte ?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• Que manque-t-il après l’étape 1 ?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• Pourquoi prenom est-il un String ?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• Que change le symbole &amp; ?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8"/>
          <p:cNvSpPr/>
          <p:nvPr/>
        </p:nvSpPr>
        <p:spPr>
          <a:xfrm>
            <a:off x="502920" y="653796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Visual Basic .NET • J1 • Live coding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9"/>
          <p:cNvSpPr/>
          <p:nvPr/>
        </p:nvSpPr>
        <p:spPr>
          <a:xfrm>
            <a:off x="11384280" y="649224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07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2"/>
          <p:cNvSpPr/>
          <p:nvPr/>
        </p:nvSpPr>
        <p:spPr>
          <a:xfrm>
            <a:off x="548640" y="25596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F6F9F"/>
                </a:solidFill>
                <a:effectLst/>
                <a:uFillTx/>
                <a:latin typeface="Aptos"/>
              </a:rPr>
              <a:t>CODE EXÉCUTABLE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3"/>
          <p:cNvSpPr/>
          <p:nvPr/>
        </p:nvSpPr>
        <p:spPr>
          <a:xfrm>
            <a:off x="530280" y="50292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83B5A"/>
                </a:solidFill>
                <a:effectLst/>
                <a:uFillTx/>
                <a:latin typeface="Aptos"/>
              </a:rPr>
              <a:t>Version complète : Bonjour prénom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4"/>
          <p:cNvSpPr/>
          <p:nvPr/>
        </p:nvSpPr>
        <p:spPr>
          <a:xfrm>
            <a:off x="548640" y="987480"/>
            <a:ext cx="1142640" cy="406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5"/>
          <p:cNvSpPr/>
          <p:nvPr/>
        </p:nvSpPr>
        <p:spPr>
          <a:xfrm>
            <a:off x="914400" y="1325880"/>
            <a:ext cx="7406280" cy="3245760"/>
          </a:xfrm>
          <a:prstGeom prst="roundRect">
            <a:avLst>
              <a:gd name="adj" fmla="val 1690"/>
            </a:avLst>
          </a:prstGeom>
          <a:solidFill>
            <a:srgbClr val="17212B"/>
          </a:solidFill>
          <a:ln w="6480">
            <a:solidFill>
              <a:srgbClr val="0F17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6"/>
          <p:cNvSpPr/>
          <p:nvPr/>
        </p:nvSpPr>
        <p:spPr>
          <a:xfrm>
            <a:off x="1078920" y="1444680"/>
            <a:ext cx="7113600" cy="304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Module Program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    Sub Main(args As String())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        Console.WriteLine("Quel est votre prénom ?")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        Dim prenom As String = Console.ReadLine()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        Console.WriteLine("Bonjour " &amp; prenom &amp; " !")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    End Sub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End Module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7"/>
          <p:cNvSpPr/>
          <p:nvPr/>
        </p:nvSpPr>
        <p:spPr>
          <a:xfrm>
            <a:off x="8641080" y="1600200"/>
            <a:ext cx="2559960" cy="2559960"/>
          </a:xfrm>
          <a:prstGeom prst="roundRect">
            <a:avLst>
              <a:gd name="adj" fmla="val 2857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8"/>
          <p:cNvSpPr/>
          <p:nvPr/>
        </p:nvSpPr>
        <p:spPr>
          <a:xfrm>
            <a:off x="8641080" y="1600200"/>
            <a:ext cx="72720" cy="2559960"/>
          </a:xfrm>
          <a:prstGeom prst="rect">
            <a:avLst/>
          </a:prstGeom>
          <a:solidFill>
            <a:srgbClr val="2E7D61"/>
          </a:solidFill>
          <a:ln w="12600">
            <a:solidFill>
              <a:srgbClr val="2E7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9"/>
          <p:cNvSpPr/>
          <p:nvPr/>
        </p:nvSpPr>
        <p:spPr>
          <a:xfrm>
            <a:off x="8805600" y="1719000"/>
            <a:ext cx="2285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Variations rapides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0"/>
          <p:cNvSpPr/>
          <p:nvPr/>
        </p:nvSpPr>
        <p:spPr>
          <a:xfrm>
            <a:off x="8805600" y="2020680"/>
            <a:ext cx="2285640" cy="202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1. Changer Bonjour en Bienvenue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2. Ajouter une ville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3. Tester un prénom vide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4. Faire reformuler le rôle de chaque ligne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1"/>
          <p:cNvSpPr/>
          <p:nvPr/>
        </p:nvSpPr>
        <p:spPr>
          <a:xfrm>
            <a:off x="1097280" y="5074920"/>
            <a:ext cx="95094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C9732F"/>
                </a:solidFill>
                <a:effectLst/>
                <a:uFillTx/>
                <a:latin typeface="Aptos"/>
                <a:ea typeface="Aptos"/>
              </a:rPr>
              <a:t>Règle : une modification à la fois, puis exécution.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2"/>
          <p:cNvSpPr/>
          <p:nvPr/>
        </p:nvSpPr>
        <p:spPr>
          <a:xfrm>
            <a:off x="502920" y="653796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Visual Basic .NET • J1 • Live coding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3"/>
          <p:cNvSpPr/>
          <p:nvPr/>
        </p:nvSpPr>
        <p:spPr>
          <a:xfrm>
            <a:off x="11384280" y="649224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08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2"/>
          <p:cNvSpPr/>
          <p:nvPr/>
        </p:nvSpPr>
        <p:spPr>
          <a:xfrm>
            <a:off x="548640" y="25596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F6F9F"/>
                </a:solidFill>
                <a:effectLst/>
                <a:uFillTx/>
                <a:latin typeface="Aptos"/>
              </a:rPr>
              <a:t>REPÈRES UTILES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"/>
          <p:cNvSpPr/>
          <p:nvPr/>
        </p:nvSpPr>
        <p:spPr>
          <a:xfrm>
            <a:off x="530280" y="50292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83B5A"/>
                </a:solidFill>
                <a:effectLst/>
                <a:uFillTx/>
                <a:latin typeface="Aptos"/>
              </a:rPr>
              <a:t>Visual Studio : ce que l’on montre au J1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4"/>
          <p:cNvSpPr/>
          <p:nvPr/>
        </p:nvSpPr>
        <p:spPr>
          <a:xfrm>
            <a:off x="548640" y="987480"/>
            <a:ext cx="1142640" cy="406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5"/>
          <p:cNvSpPr/>
          <p:nvPr/>
        </p:nvSpPr>
        <p:spPr>
          <a:xfrm>
            <a:off x="777240" y="1325880"/>
            <a:ext cx="2007720" cy="475200"/>
          </a:xfrm>
          <a:prstGeom prst="roundRect">
            <a:avLst>
              <a:gd name="adj" fmla="val 11538"/>
            </a:avLst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6"/>
          <p:cNvSpPr/>
          <p:nvPr/>
        </p:nvSpPr>
        <p:spPr>
          <a:xfrm>
            <a:off x="813960" y="1481400"/>
            <a:ext cx="19346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Éditeur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7"/>
          <p:cNvSpPr/>
          <p:nvPr/>
        </p:nvSpPr>
        <p:spPr>
          <a:xfrm>
            <a:off x="2803320" y="1545120"/>
            <a:ext cx="82440" cy="360"/>
          </a:xfrm>
          <a:prstGeom prst="line">
            <a:avLst/>
          </a:prstGeom>
          <a:ln w="15120">
            <a:solidFill>
              <a:srgbClr val="9FB6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8"/>
          <p:cNvSpPr/>
          <p:nvPr/>
        </p:nvSpPr>
        <p:spPr>
          <a:xfrm>
            <a:off x="2904120" y="1325880"/>
            <a:ext cx="2007720" cy="475200"/>
          </a:xfrm>
          <a:prstGeom prst="roundRect">
            <a:avLst>
              <a:gd name="adj" fmla="val 11538"/>
            </a:avLst>
          </a:prstGeom>
          <a:solidFill>
            <a:srgbClr val="F5F8FA"/>
          </a:solidFill>
          <a:ln w="12600">
            <a:solidFill>
              <a:srgbClr val="D5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9"/>
          <p:cNvSpPr/>
          <p:nvPr/>
        </p:nvSpPr>
        <p:spPr>
          <a:xfrm>
            <a:off x="2940840" y="1481400"/>
            <a:ext cx="19346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Solution Explorer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10"/>
          <p:cNvSpPr/>
          <p:nvPr/>
        </p:nvSpPr>
        <p:spPr>
          <a:xfrm>
            <a:off x="4930200" y="1545120"/>
            <a:ext cx="82440" cy="360"/>
          </a:xfrm>
          <a:prstGeom prst="line">
            <a:avLst/>
          </a:prstGeom>
          <a:ln w="15120">
            <a:solidFill>
              <a:srgbClr val="9FB6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11"/>
          <p:cNvSpPr/>
          <p:nvPr/>
        </p:nvSpPr>
        <p:spPr>
          <a:xfrm>
            <a:off x="5031000" y="1325880"/>
            <a:ext cx="2007720" cy="475200"/>
          </a:xfrm>
          <a:prstGeom prst="roundRect">
            <a:avLst>
              <a:gd name="adj" fmla="val 11538"/>
            </a:avLst>
          </a:prstGeom>
          <a:solidFill>
            <a:srgbClr val="F5F8FA"/>
          </a:solidFill>
          <a:ln w="12600">
            <a:solidFill>
              <a:srgbClr val="D5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2"/>
          <p:cNvSpPr/>
          <p:nvPr/>
        </p:nvSpPr>
        <p:spPr>
          <a:xfrm>
            <a:off x="5067720" y="1481400"/>
            <a:ext cx="19346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Error List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13"/>
          <p:cNvSpPr/>
          <p:nvPr/>
        </p:nvSpPr>
        <p:spPr>
          <a:xfrm>
            <a:off x="7057080" y="1545120"/>
            <a:ext cx="82440" cy="360"/>
          </a:xfrm>
          <a:prstGeom prst="line">
            <a:avLst/>
          </a:prstGeom>
          <a:ln w="15120">
            <a:solidFill>
              <a:srgbClr val="9FB6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14"/>
          <p:cNvSpPr/>
          <p:nvPr/>
        </p:nvSpPr>
        <p:spPr>
          <a:xfrm>
            <a:off x="7157880" y="1325880"/>
            <a:ext cx="2007720" cy="475200"/>
          </a:xfrm>
          <a:prstGeom prst="roundRect">
            <a:avLst>
              <a:gd name="adj" fmla="val 11538"/>
            </a:avLst>
          </a:prstGeom>
          <a:solidFill>
            <a:srgbClr val="F5F8FA"/>
          </a:solidFill>
          <a:ln w="12600">
            <a:solidFill>
              <a:srgbClr val="D5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5"/>
          <p:cNvSpPr/>
          <p:nvPr/>
        </p:nvSpPr>
        <p:spPr>
          <a:xfrm>
            <a:off x="7194600" y="1481400"/>
            <a:ext cx="19346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Output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6"/>
          <p:cNvSpPr/>
          <p:nvPr/>
        </p:nvSpPr>
        <p:spPr>
          <a:xfrm>
            <a:off x="9183960" y="1545120"/>
            <a:ext cx="82440" cy="360"/>
          </a:xfrm>
          <a:prstGeom prst="line">
            <a:avLst/>
          </a:prstGeom>
          <a:ln w="15120">
            <a:solidFill>
              <a:srgbClr val="9FB6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7"/>
          <p:cNvSpPr/>
          <p:nvPr/>
        </p:nvSpPr>
        <p:spPr>
          <a:xfrm>
            <a:off x="9284760" y="1325880"/>
            <a:ext cx="2007720" cy="475200"/>
          </a:xfrm>
          <a:prstGeom prst="roundRect">
            <a:avLst>
              <a:gd name="adj" fmla="val 11538"/>
            </a:avLst>
          </a:prstGeom>
          <a:solidFill>
            <a:srgbClr val="2E7D61"/>
          </a:solidFill>
          <a:ln w="12600">
            <a:solidFill>
              <a:srgbClr val="2E7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8"/>
          <p:cNvSpPr/>
          <p:nvPr/>
        </p:nvSpPr>
        <p:spPr>
          <a:xfrm>
            <a:off x="9321480" y="1481400"/>
            <a:ext cx="19346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Console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19"/>
          <p:cNvSpPr/>
          <p:nvPr/>
        </p:nvSpPr>
        <p:spPr>
          <a:xfrm>
            <a:off x="868680" y="2331720"/>
            <a:ext cx="4023000" cy="1462680"/>
          </a:xfrm>
          <a:prstGeom prst="roundRect">
            <a:avLst>
              <a:gd name="adj" fmla="val 5000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20"/>
          <p:cNvSpPr/>
          <p:nvPr/>
        </p:nvSpPr>
        <p:spPr>
          <a:xfrm>
            <a:off x="868680" y="2331720"/>
            <a:ext cx="72720" cy="1462680"/>
          </a:xfrm>
          <a:prstGeom prst="rect">
            <a:avLst/>
          </a:prstGeom>
          <a:solidFill>
            <a:srgbClr val="B84A4A"/>
          </a:solidFill>
          <a:ln w="12600">
            <a:solidFill>
              <a:srgbClr val="B84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21"/>
          <p:cNvSpPr/>
          <p:nvPr/>
        </p:nvSpPr>
        <p:spPr>
          <a:xfrm>
            <a:off x="1033200" y="245052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À ne pas faire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22"/>
          <p:cNvSpPr/>
          <p:nvPr/>
        </p:nvSpPr>
        <p:spPr>
          <a:xfrm>
            <a:off x="1033200" y="2752200"/>
            <a:ext cx="374868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Tout expliquer d’un coup : fichiers .vbproj, assemblies, configurations avancées.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23"/>
          <p:cNvSpPr/>
          <p:nvPr/>
        </p:nvSpPr>
        <p:spPr>
          <a:xfrm>
            <a:off x="6446520" y="2331720"/>
            <a:ext cx="4205880" cy="1462680"/>
          </a:xfrm>
          <a:prstGeom prst="roundRect">
            <a:avLst>
              <a:gd name="adj" fmla="val 5000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24"/>
          <p:cNvSpPr/>
          <p:nvPr/>
        </p:nvSpPr>
        <p:spPr>
          <a:xfrm>
            <a:off x="6446520" y="2331720"/>
            <a:ext cx="72720" cy="1462680"/>
          </a:xfrm>
          <a:prstGeom prst="rect">
            <a:avLst/>
          </a:prstGeom>
          <a:solidFill>
            <a:srgbClr val="2E7D61"/>
          </a:solidFill>
          <a:ln w="12600">
            <a:solidFill>
              <a:srgbClr val="2E7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25"/>
          <p:cNvSpPr/>
          <p:nvPr/>
        </p:nvSpPr>
        <p:spPr>
          <a:xfrm>
            <a:off x="6611040" y="2450520"/>
            <a:ext cx="3931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À faire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26"/>
          <p:cNvSpPr/>
          <p:nvPr/>
        </p:nvSpPr>
        <p:spPr>
          <a:xfrm>
            <a:off x="6611040" y="2752200"/>
            <a:ext cx="393156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Repérer les fenêtres utiles pour écrire, lancer, lire une erreur et observer le résultat.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7"/>
          <p:cNvSpPr/>
          <p:nvPr/>
        </p:nvSpPr>
        <p:spPr>
          <a:xfrm>
            <a:off x="1097280" y="4892040"/>
            <a:ext cx="98751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Le niveau J1 : savoir où écrire, où lancer, où lire l’erreur, où voir la sortie.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28"/>
          <p:cNvSpPr/>
          <p:nvPr/>
        </p:nvSpPr>
        <p:spPr>
          <a:xfrm>
            <a:off x="502920" y="653796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Visual Basic .NET • J1 • Live coding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29"/>
          <p:cNvSpPr/>
          <p:nvPr/>
        </p:nvSpPr>
        <p:spPr>
          <a:xfrm>
            <a:off x="11384280" y="649224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09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2"/>
          <p:cNvSpPr/>
          <p:nvPr/>
        </p:nvSpPr>
        <p:spPr>
          <a:xfrm>
            <a:off x="548640" y="25596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F6F9F"/>
                </a:solidFill>
                <a:effectLst/>
                <a:uFillTx/>
                <a:latin typeface="Aptos"/>
              </a:rPr>
              <a:t>COMPRENDRE CE QUE L’ON TAPE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3"/>
          <p:cNvSpPr/>
          <p:nvPr/>
        </p:nvSpPr>
        <p:spPr>
          <a:xfrm>
            <a:off x="530280" y="50292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83B5A"/>
                </a:solidFill>
                <a:effectLst/>
                <a:uFillTx/>
                <a:latin typeface="Aptos"/>
              </a:rPr>
              <a:t>Module, Sub Main, instructions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4"/>
          <p:cNvSpPr/>
          <p:nvPr/>
        </p:nvSpPr>
        <p:spPr>
          <a:xfrm>
            <a:off x="548640" y="987480"/>
            <a:ext cx="1142640" cy="406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5"/>
          <p:cNvSpPr/>
          <p:nvPr/>
        </p:nvSpPr>
        <p:spPr>
          <a:xfrm>
            <a:off x="822960" y="1325880"/>
            <a:ext cx="5028840" cy="2925720"/>
          </a:xfrm>
          <a:prstGeom prst="roundRect">
            <a:avLst>
              <a:gd name="adj" fmla="val 1875"/>
            </a:avLst>
          </a:prstGeom>
          <a:solidFill>
            <a:srgbClr val="17212B"/>
          </a:solidFill>
          <a:ln w="6480">
            <a:solidFill>
              <a:srgbClr val="0F17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6"/>
          <p:cNvSpPr/>
          <p:nvPr/>
        </p:nvSpPr>
        <p:spPr>
          <a:xfrm>
            <a:off x="987480" y="1444680"/>
            <a:ext cx="5577840" cy="272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Module Program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    Sub Main(</a:t>
            </a:r>
            <a:r>
              <a:rPr lang="en-US" sz="1800" b="0" u="none" strike="noStrike" dirty="0" err="1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args</a:t>
            </a:r>
            <a:r>
              <a:rPr lang="en-US" sz="1800" b="0" u="none" strike="noStrike" dirty="0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 As String())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      </a:t>
            </a:r>
            <a:r>
              <a:rPr lang="en-US" dirty="0" err="1">
                <a:solidFill>
                  <a:srgbClr val="E6EDF3"/>
                </a:solidFill>
                <a:latin typeface="Cascadia Mono"/>
                <a:ea typeface="Cascadia Mono"/>
              </a:rPr>
              <a:t>Console.WriteLine</a:t>
            </a:r>
            <a:r>
              <a:rPr lang="en-US" dirty="0">
                <a:solidFill>
                  <a:srgbClr val="E6EDF3"/>
                </a:solidFill>
                <a:latin typeface="Cascadia Mono"/>
                <a:ea typeface="Cascadia Mono"/>
              </a:rPr>
              <a:t>("Bonjour")</a:t>
            </a:r>
            <a:r>
              <a:rPr lang="en-US" sz="1800" b="0" u="none" strike="noStrike" dirty="0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     	    		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    End Sub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End Module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7"/>
          <p:cNvSpPr/>
          <p:nvPr/>
        </p:nvSpPr>
        <p:spPr>
          <a:xfrm>
            <a:off x="6446520" y="1325880"/>
            <a:ext cx="4205880" cy="822600"/>
          </a:xfrm>
          <a:prstGeom prst="roundRect">
            <a:avLst>
              <a:gd name="adj" fmla="val 8889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8"/>
          <p:cNvSpPr/>
          <p:nvPr/>
        </p:nvSpPr>
        <p:spPr>
          <a:xfrm>
            <a:off x="6446520" y="1325880"/>
            <a:ext cx="72720" cy="822600"/>
          </a:xfrm>
          <a:prstGeom prst="rect">
            <a:avLst/>
          </a:prstGeom>
          <a:solidFill>
            <a:srgbClr val="2F6F9F"/>
          </a:solidFill>
          <a:ln w="12600">
            <a:solidFill>
              <a:srgbClr val="2F6F9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9"/>
          <p:cNvSpPr/>
          <p:nvPr/>
        </p:nvSpPr>
        <p:spPr>
          <a:xfrm>
            <a:off x="6611040" y="1444680"/>
            <a:ext cx="3931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Module Program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0"/>
          <p:cNvSpPr/>
          <p:nvPr/>
        </p:nvSpPr>
        <p:spPr>
          <a:xfrm>
            <a:off x="6611040" y="1746360"/>
            <a:ext cx="3931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Un conteneur simple pour organiser le code au début.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11"/>
          <p:cNvSpPr/>
          <p:nvPr/>
        </p:nvSpPr>
        <p:spPr>
          <a:xfrm>
            <a:off x="6446520" y="2423160"/>
            <a:ext cx="4205880" cy="822600"/>
          </a:xfrm>
          <a:prstGeom prst="roundRect">
            <a:avLst>
              <a:gd name="adj" fmla="val 8889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12"/>
          <p:cNvSpPr/>
          <p:nvPr/>
        </p:nvSpPr>
        <p:spPr>
          <a:xfrm>
            <a:off x="6446520" y="2423160"/>
            <a:ext cx="72720" cy="822600"/>
          </a:xfrm>
          <a:prstGeom prst="rect">
            <a:avLst/>
          </a:prstGeom>
          <a:solidFill>
            <a:srgbClr val="2E7D61"/>
          </a:solidFill>
          <a:ln w="12600">
            <a:solidFill>
              <a:srgbClr val="2E7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3"/>
          <p:cNvSpPr/>
          <p:nvPr/>
        </p:nvSpPr>
        <p:spPr>
          <a:xfrm>
            <a:off x="6611040" y="2541960"/>
            <a:ext cx="3931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Sub Main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4"/>
          <p:cNvSpPr/>
          <p:nvPr/>
        </p:nvSpPr>
        <p:spPr>
          <a:xfrm>
            <a:off x="6611040" y="2843640"/>
            <a:ext cx="3931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Le point de départ exécuté quand le programme console démarre.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15"/>
          <p:cNvSpPr/>
          <p:nvPr/>
        </p:nvSpPr>
        <p:spPr>
          <a:xfrm>
            <a:off x="6446520" y="3520440"/>
            <a:ext cx="4205880" cy="822600"/>
          </a:xfrm>
          <a:prstGeom prst="roundRect">
            <a:avLst>
              <a:gd name="adj" fmla="val 8889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16"/>
          <p:cNvSpPr/>
          <p:nvPr/>
        </p:nvSpPr>
        <p:spPr>
          <a:xfrm>
            <a:off x="6446520" y="3520440"/>
            <a:ext cx="72720" cy="82260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7"/>
          <p:cNvSpPr/>
          <p:nvPr/>
        </p:nvSpPr>
        <p:spPr>
          <a:xfrm>
            <a:off x="6611040" y="3639240"/>
            <a:ext cx="3931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Instruction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8"/>
          <p:cNvSpPr/>
          <p:nvPr/>
        </p:nvSpPr>
        <p:spPr>
          <a:xfrm>
            <a:off x="6611040" y="3940920"/>
            <a:ext cx="3931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Une action précise demandée au programme.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9"/>
          <p:cNvSpPr/>
          <p:nvPr/>
        </p:nvSpPr>
        <p:spPr>
          <a:xfrm>
            <a:off x="914400" y="5074920"/>
            <a:ext cx="102409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Ne pas théoriser trop tôt : faire pointer, exécuter, modifier.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20"/>
          <p:cNvSpPr/>
          <p:nvPr/>
        </p:nvSpPr>
        <p:spPr>
          <a:xfrm>
            <a:off x="502920" y="653796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Visual Basic .NET • J1 • Live coding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21"/>
          <p:cNvSpPr/>
          <p:nvPr/>
        </p:nvSpPr>
        <p:spPr>
          <a:xfrm>
            <a:off x="11384280" y="649224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10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2"/>
          <p:cNvSpPr/>
          <p:nvPr/>
        </p:nvSpPr>
        <p:spPr>
          <a:xfrm>
            <a:off x="548640" y="25596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F6F9F"/>
                </a:solidFill>
                <a:effectLst/>
                <a:uFillTx/>
                <a:latin typeface="Aptos"/>
              </a:rPr>
              <a:t>VOCABULAIRE ESSENTIEL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3"/>
          <p:cNvSpPr/>
          <p:nvPr/>
        </p:nvSpPr>
        <p:spPr>
          <a:xfrm>
            <a:off x="530280" y="50292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83B5A"/>
                </a:solidFill>
                <a:effectLst/>
                <a:uFillTx/>
                <a:latin typeface="Aptos"/>
              </a:rPr>
              <a:t>Compiler n’est pas exécuter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4"/>
          <p:cNvSpPr/>
          <p:nvPr/>
        </p:nvSpPr>
        <p:spPr>
          <a:xfrm>
            <a:off x="548640" y="987480"/>
            <a:ext cx="1142640" cy="406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5"/>
          <p:cNvSpPr/>
          <p:nvPr/>
        </p:nvSpPr>
        <p:spPr>
          <a:xfrm>
            <a:off x="914400" y="1508760"/>
            <a:ext cx="1952640" cy="475200"/>
          </a:xfrm>
          <a:prstGeom prst="roundRect">
            <a:avLst>
              <a:gd name="adj" fmla="val 11538"/>
            </a:avLst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6"/>
          <p:cNvSpPr/>
          <p:nvPr/>
        </p:nvSpPr>
        <p:spPr>
          <a:xfrm>
            <a:off x="951120" y="1664280"/>
            <a:ext cx="18795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Code source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7"/>
          <p:cNvSpPr/>
          <p:nvPr/>
        </p:nvSpPr>
        <p:spPr>
          <a:xfrm>
            <a:off x="2885760" y="1728000"/>
            <a:ext cx="82080" cy="360"/>
          </a:xfrm>
          <a:prstGeom prst="line">
            <a:avLst/>
          </a:prstGeom>
          <a:ln w="15120">
            <a:solidFill>
              <a:srgbClr val="9FB6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8"/>
          <p:cNvSpPr/>
          <p:nvPr/>
        </p:nvSpPr>
        <p:spPr>
          <a:xfrm>
            <a:off x="2986560" y="1508760"/>
            <a:ext cx="1952640" cy="475200"/>
          </a:xfrm>
          <a:prstGeom prst="roundRect">
            <a:avLst>
              <a:gd name="adj" fmla="val 11538"/>
            </a:avLst>
          </a:prstGeom>
          <a:solidFill>
            <a:srgbClr val="F5F8FA"/>
          </a:solidFill>
          <a:ln w="12600">
            <a:solidFill>
              <a:srgbClr val="D5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9"/>
          <p:cNvSpPr/>
          <p:nvPr/>
        </p:nvSpPr>
        <p:spPr>
          <a:xfrm>
            <a:off x="3022920" y="1664280"/>
            <a:ext cx="18795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Compilation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10"/>
          <p:cNvSpPr/>
          <p:nvPr/>
        </p:nvSpPr>
        <p:spPr>
          <a:xfrm>
            <a:off x="4957560" y="1728000"/>
            <a:ext cx="82440" cy="360"/>
          </a:xfrm>
          <a:prstGeom prst="line">
            <a:avLst/>
          </a:prstGeom>
          <a:ln w="15120">
            <a:solidFill>
              <a:srgbClr val="9FB6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11"/>
          <p:cNvSpPr/>
          <p:nvPr/>
        </p:nvSpPr>
        <p:spPr>
          <a:xfrm>
            <a:off x="5058360" y="1508760"/>
            <a:ext cx="1952640" cy="475200"/>
          </a:xfrm>
          <a:prstGeom prst="roundRect">
            <a:avLst>
              <a:gd name="adj" fmla="val 11538"/>
            </a:avLst>
          </a:prstGeom>
          <a:solidFill>
            <a:srgbClr val="F5F8FA"/>
          </a:solidFill>
          <a:ln w="12600">
            <a:solidFill>
              <a:srgbClr val="D5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2"/>
          <p:cNvSpPr/>
          <p:nvPr/>
        </p:nvSpPr>
        <p:spPr>
          <a:xfrm>
            <a:off x="5095080" y="1664280"/>
            <a:ext cx="18795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Exécutable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13"/>
          <p:cNvSpPr/>
          <p:nvPr/>
        </p:nvSpPr>
        <p:spPr>
          <a:xfrm>
            <a:off x="7029720" y="1728000"/>
            <a:ext cx="82440" cy="360"/>
          </a:xfrm>
          <a:prstGeom prst="line">
            <a:avLst/>
          </a:prstGeom>
          <a:ln w="15120">
            <a:solidFill>
              <a:srgbClr val="9FB6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14"/>
          <p:cNvSpPr/>
          <p:nvPr/>
        </p:nvSpPr>
        <p:spPr>
          <a:xfrm>
            <a:off x="7130520" y="1508760"/>
            <a:ext cx="1952640" cy="475200"/>
          </a:xfrm>
          <a:prstGeom prst="roundRect">
            <a:avLst>
              <a:gd name="adj" fmla="val 11538"/>
            </a:avLst>
          </a:prstGeom>
          <a:solidFill>
            <a:srgbClr val="F5F8FA"/>
          </a:solidFill>
          <a:ln w="12600">
            <a:solidFill>
              <a:srgbClr val="D5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5"/>
          <p:cNvSpPr/>
          <p:nvPr/>
        </p:nvSpPr>
        <p:spPr>
          <a:xfrm>
            <a:off x="7167240" y="1664280"/>
            <a:ext cx="18795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Exécution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16"/>
          <p:cNvSpPr/>
          <p:nvPr/>
        </p:nvSpPr>
        <p:spPr>
          <a:xfrm>
            <a:off x="9101880" y="1728000"/>
            <a:ext cx="82080" cy="360"/>
          </a:xfrm>
          <a:prstGeom prst="line">
            <a:avLst/>
          </a:prstGeom>
          <a:ln w="15120">
            <a:solidFill>
              <a:srgbClr val="9FB6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7"/>
          <p:cNvSpPr/>
          <p:nvPr/>
        </p:nvSpPr>
        <p:spPr>
          <a:xfrm>
            <a:off x="9202680" y="1508760"/>
            <a:ext cx="1952640" cy="475200"/>
          </a:xfrm>
          <a:prstGeom prst="roundRect">
            <a:avLst>
              <a:gd name="adj" fmla="val 11538"/>
            </a:avLst>
          </a:prstGeom>
          <a:solidFill>
            <a:srgbClr val="2E7D61"/>
          </a:solidFill>
          <a:ln w="12600">
            <a:solidFill>
              <a:srgbClr val="2E7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8"/>
          <p:cNvSpPr/>
          <p:nvPr/>
        </p:nvSpPr>
        <p:spPr>
          <a:xfrm>
            <a:off x="9239040" y="1664280"/>
            <a:ext cx="18795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Résultat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19"/>
          <p:cNvSpPr/>
          <p:nvPr/>
        </p:nvSpPr>
        <p:spPr>
          <a:xfrm>
            <a:off x="1005840" y="2697480"/>
            <a:ext cx="4663080" cy="1371240"/>
          </a:xfrm>
          <a:prstGeom prst="roundRect">
            <a:avLst>
              <a:gd name="adj" fmla="val 5333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20"/>
          <p:cNvSpPr/>
          <p:nvPr/>
        </p:nvSpPr>
        <p:spPr>
          <a:xfrm>
            <a:off x="1005840" y="2697480"/>
            <a:ext cx="72720" cy="1371240"/>
          </a:xfrm>
          <a:prstGeom prst="rect">
            <a:avLst/>
          </a:prstGeom>
          <a:solidFill>
            <a:srgbClr val="2F6F9F"/>
          </a:solidFill>
          <a:ln w="12600">
            <a:solidFill>
              <a:srgbClr val="2F6F9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21"/>
          <p:cNvSpPr/>
          <p:nvPr/>
        </p:nvSpPr>
        <p:spPr>
          <a:xfrm>
            <a:off x="1170360" y="2816280"/>
            <a:ext cx="4388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Compilation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22"/>
          <p:cNvSpPr/>
          <p:nvPr/>
        </p:nvSpPr>
        <p:spPr>
          <a:xfrm>
            <a:off x="1170360" y="3117960"/>
            <a:ext cx="438876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Vérifie la syntaxe et transforme le code. Une faute de syntaxe peut bloquer avant le lancement.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23"/>
          <p:cNvSpPr/>
          <p:nvPr/>
        </p:nvSpPr>
        <p:spPr>
          <a:xfrm>
            <a:off x="6400800" y="2697480"/>
            <a:ext cx="4663080" cy="1371240"/>
          </a:xfrm>
          <a:prstGeom prst="roundRect">
            <a:avLst>
              <a:gd name="adj" fmla="val 5333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24"/>
          <p:cNvSpPr/>
          <p:nvPr/>
        </p:nvSpPr>
        <p:spPr>
          <a:xfrm>
            <a:off x="6400800" y="2697480"/>
            <a:ext cx="72720" cy="1371240"/>
          </a:xfrm>
          <a:prstGeom prst="rect">
            <a:avLst/>
          </a:prstGeom>
          <a:solidFill>
            <a:srgbClr val="2E7D61"/>
          </a:solidFill>
          <a:ln w="12600">
            <a:solidFill>
              <a:srgbClr val="2E7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25"/>
          <p:cNvSpPr/>
          <p:nvPr/>
        </p:nvSpPr>
        <p:spPr>
          <a:xfrm>
            <a:off x="6565320" y="2816280"/>
            <a:ext cx="4388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Exécution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26"/>
          <p:cNvSpPr/>
          <p:nvPr/>
        </p:nvSpPr>
        <p:spPr>
          <a:xfrm>
            <a:off x="6565320" y="3117960"/>
            <a:ext cx="438876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Lance le programme obtenu. Certaines erreurs n’apparaissent qu’à ce moment-là.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27"/>
          <p:cNvSpPr/>
          <p:nvPr/>
        </p:nvSpPr>
        <p:spPr>
          <a:xfrm>
            <a:off x="1097280" y="4892040"/>
            <a:ext cx="9875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C9732F"/>
                </a:solidFill>
                <a:effectLst/>
                <a:uFillTx/>
                <a:latin typeface="Aptos"/>
                <a:ea typeface="Aptos"/>
              </a:rPr>
              <a:t>Question : si j’oublie une parenthèse, le programme démarre-t-il quand même 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28"/>
          <p:cNvSpPr/>
          <p:nvPr/>
        </p:nvSpPr>
        <p:spPr>
          <a:xfrm>
            <a:off x="502920" y="653796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Visual Basic .NET • J1 • Live coding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29"/>
          <p:cNvSpPr/>
          <p:nvPr/>
        </p:nvSpPr>
        <p:spPr>
          <a:xfrm>
            <a:off x="11384280" y="649224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11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2"/>
          <p:cNvSpPr/>
          <p:nvPr/>
        </p:nvSpPr>
        <p:spPr>
          <a:xfrm>
            <a:off x="548640" y="25596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F6F9F"/>
                </a:solidFill>
                <a:effectLst/>
                <a:uFillTx/>
                <a:latin typeface="Aptos"/>
              </a:rPr>
              <a:t>DIAGNOSTIC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3"/>
          <p:cNvSpPr/>
          <p:nvPr/>
        </p:nvSpPr>
        <p:spPr>
          <a:xfrm>
            <a:off x="530280" y="50292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83B5A"/>
                </a:solidFill>
                <a:effectLst/>
                <a:uFillTx/>
                <a:latin typeface="Aptos"/>
              </a:rPr>
              <a:t>Erreur volontaire : apprendre à lire le compilateur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4"/>
          <p:cNvSpPr/>
          <p:nvPr/>
        </p:nvSpPr>
        <p:spPr>
          <a:xfrm>
            <a:off x="548640" y="987480"/>
            <a:ext cx="1142640" cy="406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5"/>
          <p:cNvSpPr/>
          <p:nvPr/>
        </p:nvSpPr>
        <p:spPr>
          <a:xfrm>
            <a:off x="822960" y="1371600"/>
            <a:ext cx="4891680" cy="2971440"/>
          </a:xfrm>
          <a:prstGeom prst="roundRect">
            <a:avLst>
              <a:gd name="adj" fmla="val 1846"/>
            </a:avLst>
          </a:prstGeom>
          <a:solidFill>
            <a:srgbClr val="17212B"/>
          </a:solidFill>
          <a:ln w="6480">
            <a:solidFill>
              <a:srgbClr val="0F17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6"/>
          <p:cNvSpPr/>
          <p:nvPr/>
        </p:nvSpPr>
        <p:spPr>
          <a:xfrm>
            <a:off x="987480" y="1490400"/>
            <a:ext cx="4599000" cy="277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Console.WriteLine("Bonjour"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Console.WritLine("Bonjour")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Console.WriteLine("Bonjour)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7"/>
          <p:cNvSpPr/>
          <p:nvPr/>
        </p:nvSpPr>
        <p:spPr>
          <a:xfrm>
            <a:off x="6400800" y="1371600"/>
            <a:ext cx="4205880" cy="2971440"/>
          </a:xfrm>
          <a:prstGeom prst="roundRect">
            <a:avLst>
              <a:gd name="adj" fmla="val 2462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8"/>
          <p:cNvSpPr/>
          <p:nvPr/>
        </p:nvSpPr>
        <p:spPr>
          <a:xfrm>
            <a:off x="6400800" y="1371600"/>
            <a:ext cx="72720" cy="2971440"/>
          </a:xfrm>
          <a:prstGeom prst="rect">
            <a:avLst/>
          </a:prstGeom>
          <a:solidFill>
            <a:srgbClr val="B84A4A"/>
          </a:solidFill>
          <a:ln w="12600">
            <a:solidFill>
              <a:srgbClr val="B84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9"/>
          <p:cNvSpPr/>
          <p:nvPr/>
        </p:nvSpPr>
        <p:spPr>
          <a:xfrm>
            <a:off x="6565320" y="1490400"/>
            <a:ext cx="3931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Méthode en 5 temps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0"/>
          <p:cNvSpPr/>
          <p:nvPr/>
        </p:nvSpPr>
        <p:spPr>
          <a:xfrm>
            <a:off x="6565320" y="1792080"/>
            <a:ext cx="3931560" cy="244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1. Lire le message exact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2. Repérer la ligne signalée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3. Identifier ce qui était attendu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4. Modifier une seule chose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5. Relancer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11"/>
          <p:cNvSpPr/>
          <p:nvPr/>
        </p:nvSpPr>
        <p:spPr>
          <a:xfrm>
            <a:off x="1005840" y="5074920"/>
            <a:ext cx="9875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Le message d’erreur n’est pas une punition : c’est un indice.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2"/>
          <p:cNvSpPr/>
          <p:nvPr/>
        </p:nvSpPr>
        <p:spPr>
          <a:xfrm>
            <a:off x="502920" y="653796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Visual Basic .NET • J1 • Live coding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3"/>
          <p:cNvSpPr/>
          <p:nvPr/>
        </p:nvSpPr>
        <p:spPr>
          <a:xfrm>
            <a:off x="11384280" y="649224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12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2"/>
          <p:cNvSpPr/>
          <p:nvPr/>
        </p:nvSpPr>
        <p:spPr>
          <a:xfrm>
            <a:off x="548640" y="25596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F6F9F"/>
                </a:solidFill>
                <a:effectLst/>
                <a:uFillTx/>
                <a:latin typeface="Aptos"/>
              </a:rPr>
              <a:t>SIMPLEMENT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3"/>
          <p:cNvSpPr/>
          <p:nvPr/>
        </p:nvSpPr>
        <p:spPr>
          <a:xfrm>
            <a:off x="530280" y="50292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83B5A"/>
                </a:solidFill>
                <a:effectLst/>
                <a:uFillTx/>
                <a:latin typeface="Aptos"/>
              </a:rPr>
              <a:t>Imports et bibliothèques : niveau J1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4"/>
          <p:cNvSpPr/>
          <p:nvPr/>
        </p:nvSpPr>
        <p:spPr>
          <a:xfrm>
            <a:off x="548640" y="987480"/>
            <a:ext cx="1142640" cy="406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5"/>
          <p:cNvSpPr/>
          <p:nvPr/>
        </p:nvSpPr>
        <p:spPr>
          <a:xfrm>
            <a:off x="868680" y="1417320"/>
            <a:ext cx="2742840" cy="1005480"/>
          </a:xfrm>
          <a:prstGeom prst="roundRect">
            <a:avLst>
              <a:gd name="adj" fmla="val 7273"/>
            </a:avLst>
          </a:prstGeom>
          <a:solidFill>
            <a:srgbClr val="D9ECF7"/>
          </a:solidFill>
          <a:ln w="12600">
            <a:solidFill>
              <a:srgbClr val="2F6F9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6"/>
          <p:cNvSpPr/>
          <p:nvPr/>
        </p:nvSpPr>
        <p:spPr>
          <a:xfrm>
            <a:off x="1188720" y="1810440"/>
            <a:ext cx="2102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Votre code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7"/>
          <p:cNvSpPr/>
          <p:nvPr/>
        </p:nvSpPr>
        <p:spPr>
          <a:xfrm>
            <a:off x="3794760" y="1920240"/>
            <a:ext cx="1188720" cy="360"/>
          </a:xfrm>
          <a:prstGeom prst="line">
            <a:avLst/>
          </a:prstGeom>
          <a:ln w="17640">
            <a:solidFill>
              <a:srgbClr val="8AA8B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8"/>
          <p:cNvSpPr/>
          <p:nvPr/>
        </p:nvSpPr>
        <p:spPr>
          <a:xfrm>
            <a:off x="5212080" y="1417320"/>
            <a:ext cx="2742840" cy="1005480"/>
          </a:xfrm>
          <a:prstGeom prst="roundRect">
            <a:avLst>
              <a:gd name="adj" fmla="val 7273"/>
            </a:avLst>
          </a:prstGeom>
          <a:solidFill>
            <a:srgbClr val="EAF4EC"/>
          </a:solidFill>
          <a:ln w="12600">
            <a:solidFill>
              <a:srgbClr val="2E7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9"/>
          <p:cNvSpPr/>
          <p:nvPr/>
        </p:nvSpPr>
        <p:spPr>
          <a:xfrm>
            <a:off x="5806440" y="181044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.NET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10"/>
          <p:cNvSpPr/>
          <p:nvPr/>
        </p:nvSpPr>
        <p:spPr>
          <a:xfrm>
            <a:off x="8156160" y="1920240"/>
            <a:ext cx="1188720" cy="360"/>
          </a:xfrm>
          <a:prstGeom prst="line">
            <a:avLst/>
          </a:prstGeom>
          <a:ln w="17640">
            <a:solidFill>
              <a:srgbClr val="8AA8BD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11"/>
          <p:cNvSpPr/>
          <p:nvPr/>
        </p:nvSpPr>
        <p:spPr>
          <a:xfrm>
            <a:off x="9601200" y="1417320"/>
            <a:ext cx="1828440" cy="1005480"/>
          </a:xfrm>
          <a:prstGeom prst="roundRect">
            <a:avLst>
              <a:gd name="adj" fmla="val 7273"/>
            </a:avLst>
          </a:prstGeom>
          <a:solidFill>
            <a:srgbClr val="FFF5E6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12"/>
          <p:cNvSpPr/>
          <p:nvPr/>
        </p:nvSpPr>
        <p:spPr>
          <a:xfrm>
            <a:off x="9921240" y="1810440"/>
            <a:ext cx="12340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Console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13"/>
          <p:cNvSpPr/>
          <p:nvPr/>
        </p:nvSpPr>
        <p:spPr>
          <a:xfrm>
            <a:off x="1143000" y="3474720"/>
            <a:ext cx="987516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r>
              <a:rPr lang="en-US" sz="1800" b="0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• Une bibliothèque fournit du code déjà écrit.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• Imports aide à référencer des espaces de noms.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• Ne pas entrer dans les détails avancés au J1.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4"/>
          <p:cNvSpPr/>
          <p:nvPr/>
        </p:nvSpPr>
        <p:spPr>
          <a:xfrm>
            <a:off x="502920" y="653796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Visual Basic .NET • J1 • Live coding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15"/>
          <p:cNvSpPr/>
          <p:nvPr/>
        </p:nvSpPr>
        <p:spPr>
          <a:xfrm>
            <a:off x="11384280" y="649224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13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2"/>
          <p:cNvSpPr/>
          <p:nvPr/>
        </p:nvSpPr>
        <p:spPr>
          <a:xfrm>
            <a:off x="548640" y="25596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F6F9F"/>
                </a:solidFill>
                <a:effectLst/>
                <a:uFillTx/>
                <a:latin typeface="Aptos"/>
              </a:rPr>
              <a:t>MODÈLE MENTAL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3"/>
          <p:cNvSpPr/>
          <p:nvPr/>
        </p:nvSpPr>
        <p:spPr>
          <a:xfrm>
            <a:off x="530280" y="50292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83B5A"/>
                </a:solidFill>
                <a:effectLst/>
                <a:uFillTx/>
                <a:latin typeface="Aptos"/>
              </a:rPr>
              <a:t>Variable : donner un nom à une donnée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4"/>
          <p:cNvSpPr/>
          <p:nvPr/>
        </p:nvSpPr>
        <p:spPr>
          <a:xfrm>
            <a:off x="548640" y="987480"/>
            <a:ext cx="1142640" cy="406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5"/>
          <p:cNvSpPr/>
          <p:nvPr/>
        </p:nvSpPr>
        <p:spPr>
          <a:xfrm>
            <a:off x="1005840" y="1417320"/>
            <a:ext cx="4023000" cy="2559960"/>
          </a:xfrm>
          <a:prstGeom prst="roundRect">
            <a:avLst>
              <a:gd name="adj" fmla="val 3571"/>
            </a:avLst>
          </a:prstGeom>
          <a:solidFill>
            <a:srgbClr val="D9ECF7"/>
          </a:solidFill>
          <a:ln w="15120">
            <a:solidFill>
              <a:srgbClr val="2F6F9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6"/>
          <p:cNvSpPr/>
          <p:nvPr/>
        </p:nvSpPr>
        <p:spPr>
          <a:xfrm>
            <a:off x="2011680" y="178308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Boîte étiquetée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7"/>
          <p:cNvSpPr/>
          <p:nvPr/>
        </p:nvSpPr>
        <p:spPr>
          <a:xfrm>
            <a:off x="1874520" y="235908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6F9F"/>
                </a:solidFill>
                <a:effectLst/>
                <a:uFillTx/>
                <a:latin typeface="Aptos"/>
                <a:ea typeface="Aptos"/>
              </a:rPr>
              <a:t>age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8"/>
          <p:cNvSpPr/>
          <p:nvPr/>
        </p:nvSpPr>
        <p:spPr>
          <a:xfrm>
            <a:off x="3337560" y="2331720"/>
            <a:ext cx="685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2E7D61"/>
                </a:solidFill>
                <a:effectLst/>
                <a:uFillTx/>
                <a:latin typeface="Aptos"/>
                <a:ea typeface="Aptos"/>
              </a:rPr>
              <a:t>25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9"/>
          <p:cNvSpPr/>
          <p:nvPr/>
        </p:nvSpPr>
        <p:spPr>
          <a:xfrm>
            <a:off x="1874520" y="297180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F6F9F"/>
                </a:solidFill>
                <a:effectLst/>
                <a:uFillTx/>
                <a:latin typeface="Aptos"/>
                <a:ea typeface="Aptos"/>
              </a:rPr>
              <a:t>nom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10"/>
          <p:cNvSpPr/>
          <p:nvPr/>
        </p:nvSpPr>
        <p:spPr>
          <a:xfrm>
            <a:off x="3200400" y="2971800"/>
            <a:ext cx="10512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2E7D61"/>
                </a:solidFill>
                <a:effectLst/>
                <a:uFillTx/>
                <a:latin typeface="Aptos"/>
                <a:ea typeface="Aptos"/>
              </a:rPr>
              <a:t>Nora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11"/>
          <p:cNvSpPr/>
          <p:nvPr/>
        </p:nvSpPr>
        <p:spPr>
          <a:xfrm>
            <a:off x="6400800" y="1737360"/>
            <a:ext cx="4297320" cy="1828440"/>
          </a:xfrm>
          <a:prstGeom prst="roundRect">
            <a:avLst>
              <a:gd name="adj" fmla="val 4000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12"/>
          <p:cNvSpPr/>
          <p:nvPr/>
        </p:nvSpPr>
        <p:spPr>
          <a:xfrm>
            <a:off x="6400800" y="1737360"/>
            <a:ext cx="72720" cy="1828440"/>
          </a:xfrm>
          <a:prstGeom prst="rect">
            <a:avLst/>
          </a:prstGeom>
          <a:solidFill>
            <a:srgbClr val="2E7D61"/>
          </a:solidFill>
          <a:ln w="12600">
            <a:solidFill>
              <a:srgbClr val="2E7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3"/>
          <p:cNvSpPr/>
          <p:nvPr/>
        </p:nvSpPr>
        <p:spPr>
          <a:xfrm>
            <a:off x="6565320" y="1856160"/>
            <a:ext cx="4023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À dire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4"/>
          <p:cNvSpPr/>
          <p:nvPr/>
        </p:nvSpPr>
        <p:spPr>
          <a:xfrm>
            <a:off x="6565320" y="2157840"/>
            <a:ext cx="4023000" cy="129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Le nom permet de retrouver la donnée. Le type indique le genre de valeur attendu. La valeur peut changer pendant l’exécution.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15"/>
          <p:cNvSpPr/>
          <p:nvPr/>
        </p:nvSpPr>
        <p:spPr>
          <a:xfrm>
            <a:off x="1554480" y="4572000"/>
            <a:ext cx="8960760" cy="1188360"/>
          </a:xfrm>
          <a:prstGeom prst="roundRect">
            <a:avLst>
              <a:gd name="adj" fmla="val 4615"/>
            </a:avLst>
          </a:prstGeom>
          <a:solidFill>
            <a:srgbClr val="17212B"/>
          </a:solidFill>
          <a:ln w="6480">
            <a:solidFill>
              <a:srgbClr val="0F17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16"/>
          <p:cNvSpPr/>
          <p:nvPr/>
        </p:nvSpPr>
        <p:spPr>
          <a:xfrm>
            <a:off x="1719000" y="4690800"/>
            <a:ext cx="8668080" cy="98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age As Integer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age = 25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prenom As String = "Nora"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17"/>
          <p:cNvSpPr/>
          <p:nvPr/>
        </p:nvSpPr>
        <p:spPr>
          <a:xfrm>
            <a:off x="502920" y="653796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Visual Basic .NET • J1 • Live coding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18"/>
          <p:cNvSpPr/>
          <p:nvPr/>
        </p:nvSpPr>
        <p:spPr>
          <a:xfrm>
            <a:off x="11384280" y="649224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14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2"/>
          <p:cNvSpPr/>
          <p:nvPr/>
        </p:nvSpPr>
        <p:spPr>
          <a:xfrm>
            <a:off x="548640" y="25596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F6F9F"/>
                </a:solidFill>
                <a:effectLst/>
                <a:uFillTx/>
                <a:latin typeface="Aptos"/>
              </a:rPr>
              <a:t>LES TROIS GESTES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3"/>
          <p:cNvSpPr/>
          <p:nvPr/>
        </p:nvSpPr>
        <p:spPr>
          <a:xfrm>
            <a:off x="530280" y="50292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83B5A"/>
                </a:solidFill>
                <a:effectLst/>
                <a:uFillTx/>
                <a:latin typeface="Aptos"/>
              </a:rPr>
              <a:t>Déclaration, initialisation, affectation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4"/>
          <p:cNvSpPr/>
          <p:nvPr/>
        </p:nvSpPr>
        <p:spPr>
          <a:xfrm>
            <a:off x="548640" y="987480"/>
            <a:ext cx="1142640" cy="406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5"/>
          <p:cNvSpPr/>
          <p:nvPr/>
        </p:nvSpPr>
        <p:spPr>
          <a:xfrm>
            <a:off x="777240" y="1417320"/>
            <a:ext cx="3200040" cy="1051200"/>
          </a:xfrm>
          <a:prstGeom prst="roundRect">
            <a:avLst>
              <a:gd name="adj" fmla="val 6957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6"/>
          <p:cNvSpPr/>
          <p:nvPr/>
        </p:nvSpPr>
        <p:spPr>
          <a:xfrm>
            <a:off x="777240" y="1417320"/>
            <a:ext cx="72720" cy="1051200"/>
          </a:xfrm>
          <a:prstGeom prst="rect">
            <a:avLst/>
          </a:prstGeom>
          <a:solidFill>
            <a:srgbClr val="2F6F9F"/>
          </a:solidFill>
          <a:ln w="12600">
            <a:solidFill>
              <a:srgbClr val="2F6F9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7"/>
          <p:cNvSpPr/>
          <p:nvPr/>
        </p:nvSpPr>
        <p:spPr>
          <a:xfrm>
            <a:off x="941760" y="15361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Déclarer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8"/>
          <p:cNvSpPr/>
          <p:nvPr/>
        </p:nvSpPr>
        <p:spPr>
          <a:xfrm>
            <a:off x="941760" y="1837800"/>
            <a:ext cx="292572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Créer la variable et annoncer son type.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9"/>
          <p:cNvSpPr/>
          <p:nvPr/>
        </p:nvSpPr>
        <p:spPr>
          <a:xfrm>
            <a:off x="4434840" y="1417320"/>
            <a:ext cx="3200040" cy="1051200"/>
          </a:xfrm>
          <a:prstGeom prst="roundRect">
            <a:avLst>
              <a:gd name="adj" fmla="val 6957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10"/>
          <p:cNvSpPr/>
          <p:nvPr/>
        </p:nvSpPr>
        <p:spPr>
          <a:xfrm>
            <a:off x="4434840" y="1417320"/>
            <a:ext cx="72720" cy="1051200"/>
          </a:xfrm>
          <a:prstGeom prst="rect">
            <a:avLst/>
          </a:prstGeom>
          <a:solidFill>
            <a:srgbClr val="2E7D61"/>
          </a:solidFill>
          <a:ln w="12600">
            <a:solidFill>
              <a:srgbClr val="2E7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11"/>
          <p:cNvSpPr/>
          <p:nvPr/>
        </p:nvSpPr>
        <p:spPr>
          <a:xfrm>
            <a:off x="4599360" y="15361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Initialiser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12"/>
          <p:cNvSpPr/>
          <p:nvPr/>
        </p:nvSpPr>
        <p:spPr>
          <a:xfrm>
            <a:off x="4599360" y="1837800"/>
            <a:ext cx="292572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Donner une première valeur au moment de la création.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13"/>
          <p:cNvSpPr/>
          <p:nvPr/>
        </p:nvSpPr>
        <p:spPr>
          <a:xfrm>
            <a:off x="8092440" y="1417320"/>
            <a:ext cx="3200040" cy="1051200"/>
          </a:xfrm>
          <a:prstGeom prst="roundRect">
            <a:avLst>
              <a:gd name="adj" fmla="val 6957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14"/>
          <p:cNvSpPr/>
          <p:nvPr/>
        </p:nvSpPr>
        <p:spPr>
          <a:xfrm>
            <a:off x="8092440" y="1417320"/>
            <a:ext cx="72720" cy="105120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15"/>
          <p:cNvSpPr/>
          <p:nvPr/>
        </p:nvSpPr>
        <p:spPr>
          <a:xfrm>
            <a:off x="8256960" y="15361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Affecter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16"/>
          <p:cNvSpPr/>
          <p:nvPr/>
        </p:nvSpPr>
        <p:spPr>
          <a:xfrm>
            <a:off x="8256960" y="1837800"/>
            <a:ext cx="292572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Changer ou placer une valeur dans une variable existante.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17"/>
          <p:cNvSpPr/>
          <p:nvPr/>
        </p:nvSpPr>
        <p:spPr>
          <a:xfrm>
            <a:off x="1097280" y="3063240"/>
            <a:ext cx="9829440" cy="1828440"/>
          </a:xfrm>
          <a:prstGeom prst="roundRect">
            <a:avLst>
              <a:gd name="adj" fmla="val 3000"/>
            </a:avLst>
          </a:prstGeom>
          <a:solidFill>
            <a:srgbClr val="17212B"/>
          </a:solidFill>
          <a:ln w="6480">
            <a:solidFill>
              <a:srgbClr val="0F17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8"/>
          <p:cNvSpPr/>
          <p:nvPr/>
        </p:nvSpPr>
        <p:spPr>
          <a:xfrm>
            <a:off x="1261800" y="3182040"/>
            <a:ext cx="9536760" cy="162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age As Integer      ' déclaration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age = 25                ' affectation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prenom As String = "Nora"  ' déclaration + initialisation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19"/>
          <p:cNvSpPr/>
          <p:nvPr/>
        </p:nvSpPr>
        <p:spPr>
          <a:xfrm>
            <a:off x="1005840" y="5394960"/>
            <a:ext cx="10149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Question : quelle ligne réserve la boîte ? Quelle ligne place la valeur 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20"/>
          <p:cNvSpPr/>
          <p:nvPr/>
        </p:nvSpPr>
        <p:spPr>
          <a:xfrm>
            <a:off x="502920" y="653796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Visual Basic .NET • J1 • Live coding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21"/>
          <p:cNvSpPr/>
          <p:nvPr/>
        </p:nvSpPr>
        <p:spPr>
          <a:xfrm>
            <a:off x="11384280" y="649224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15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2"/>
          <p:cNvSpPr/>
          <p:nvPr/>
        </p:nvSpPr>
        <p:spPr>
          <a:xfrm>
            <a:off x="548640" y="25596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F6F9F"/>
                </a:solidFill>
                <a:effectLst/>
                <a:uFillTx/>
                <a:latin typeface="Aptos"/>
              </a:rPr>
              <a:t>CHOISIR LE BON CONTENANT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3"/>
          <p:cNvSpPr/>
          <p:nvPr/>
        </p:nvSpPr>
        <p:spPr>
          <a:xfrm>
            <a:off x="530280" y="50292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83B5A"/>
                </a:solidFill>
                <a:effectLst/>
                <a:uFillTx/>
                <a:latin typeface="Aptos"/>
              </a:rPr>
              <a:t>Types simples utiles aujourd’hui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4"/>
          <p:cNvSpPr/>
          <p:nvPr/>
        </p:nvSpPr>
        <p:spPr>
          <a:xfrm>
            <a:off x="548640" y="987480"/>
            <a:ext cx="1142640" cy="406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5"/>
          <p:cNvSpPr/>
          <p:nvPr/>
        </p:nvSpPr>
        <p:spPr>
          <a:xfrm>
            <a:off x="822960" y="1298520"/>
            <a:ext cx="4617360" cy="785880"/>
          </a:xfrm>
          <a:prstGeom prst="roundRect">
            <a:avLst>
              <a:gd name="adj" fmla="val 9302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6"/>
          <p:cNvSpPr/>
          <p:nvPr/>
        </p:nvSpPr>
        <p:spPr>
          <a:xfrm>
            <a:off x="822960" y="1298520"/>
            <a:ext cx="72720" cy="785880"/>
          </a:xfrm>
          <a:prstGeom prst="rect">
            <a:avLst/>
          </a:prstGeom>
          <a:solidFill>
            <a:srgbClr val="2F6F9F"/>
          </a:solidFill>
          <a:ln w="12600">
            <a:solidFill>
              <a:srgbClr val="2F6F9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7"/>
          <p:cNvSpPr/>
          <p:nvPr/>
        </p:nvSpPr>
        <p:spPr>
          <a:xfrm>
            <a:off x="987480" y="1417320"/>
            <a:ext cx="4343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Integer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8"/>
          <p:cNvSpPr/>
          <p:nvPr/>
        </p:nvSpPr>
        <p:spPr>
          <a:xfrm>
            <a:off x="987480" y="1719000"/>
            <a:ext cx="4343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entier : âge, quantité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9"/>
          <p:cNvSpPr/>
          <p:nvPr/>
        </p:nvSpPr>
        <p:spPr>
          <a:xfrm>
            <a:off x="822960" y="2441520"/>
            <a:ext cx="4617360" cy="785880"/>
          </a:xfrm>
          <a:prstGeom prst="roundRect">
            <a:avLst>
              <a:gd name="adj" fmla="val 9302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10"/>
          <p:cNvSpPr/>
          <p:nvPr/>
        </p:nvSpPr>
        <p:spPr>
          <a:xfrm>
            <a:off x="822960" y="2441520"/>
            <a:ext cx="72720" cy="785880"/>
          </a:xfrm>
          <a:prstGeom prst="rect">
            <a:avLst/>
          </a:prstGeom>
          <a:solidFill>
            <a:srgbClr val="2E7D61"/>
          </a:solidFill>
          <a:ln w="12600">
            <a:solidFill>
              <a:srgbClr val="2E7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11"/>
          <p:cNvSpPr/>
          <p:nvPr/>
        </p:nvSpPr>
        <p:spPr>
          <a:xfrm>
            <a:off x="987480" y="2560320"/>
            <a:ext cx="4343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Double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12"/>
          <p:cNvSpPr/>
          <p:nvPr/>
        </p:nvSpPr>
        <p:spPr>
          <a:xfrm>
            <a:off x="987480" y="2862000"/>
            <a:ext cx="4343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nombre décimal général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13"/>
          <p:cNvSpPr/>
          <p:nvPr/>
        </p:nvSpPr>
        <p:spPr>
          <a:xfrm>
            <a:off x="822960" y="3584520"/>
            <a:ext cx="4617360" cy="785880"/>
          </a:xfrm>
          <a:prstGeom prst="roundRect">
            <a:avLst>
              <a:gd name="adj" fmla="val 9302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14"/>
          <p:cNvSpPr/>
          <p:nvPr/>
        </p:nvSpPr>
        <p:spPr>
          <a:xfrm>
            <a:off x="822960" y="3584520"/>
            <a:ext cx="72720" cy="7858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15"/>
          <p:cNvSpPr/>
          <p:nvPr/>
        </p:nvSpPr>
        <p:spPr>
          <a:xfrm>
            <a:off x="987480" y="3703320"/>
            <a:ext cx="4343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Decimal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16"/>
          <p:cNvSpPr/>
          <p:nvPr/>
        </p:nvSpPr>
        <p:spPr>
          <a:xfrm>
            <a:off x="987480" y="4005000"/>
            <a:ext cx="4343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montants, prix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17"/>
          <p:cNvSpPr/>
          <p:nvPr/>
        </p:nvSpPr>
        <p:spPr>
          <a:xfrm>
            <a:off x="6400800" y="1298520"/>
            <a:ext cx="4617360" cy="785880"/>
          </a:xfrm>
          <a:prstGeom prst="roundRect">
            <a:avLst>
              <a:gd name="adj" fmla="val 9302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18"/>
          <p:cNvSpPr/>
          <p:nvPr/>
        </p:nvSpPr>
        <p:spPr>
          <a:xfrm>
            <a:off x="6400800" y="1298520"/>
            <a:ext cx="72720" cy="785880"/>
          </a:xfrm>
          <a:prstGeom prst="rect">
            <a:avLst/>
          </a:prstGeom>
          <a:solidFill>
            <a:srgbClr val="2F6F9F"/>
          </a:solidFill>
          <a:ln w="12600">
            <a:solidFill>
              <a:srgbClr val="2F6F9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19"/>
          <p:cNvSpPr/>
          <p:nvPr/>
        </p:nvSpPr>
        <p:spPr>
          <a:xfrm>
            <a:off x="6565320" y="1417320"/>
            <a:ext cx="4343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String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20"/>
          <p:cNvSpPr/>
          <p:nvPr/>
        </p:nvSpPr>
        <p:spPr>
          <a:xfrm>
            <a:off x="6565320" y="1719000"/>
            <a:ext cx="4343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texte : nom, email, téléphone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21"/>
          <p:cNvSpPr/>
          <p:nvPr/>
        </p:nvSpPr>
        <p:spPr>
          <a:xfrm>
            <a:off x="6400800" y="2441520"/>
            <a:ext cx="4617360" cy="785880"/>
          </a:xfrm>
          <a:prstGeom prst="roundRect">
            <a:avLst>
              <a:gd name="adj" fmla="val 9302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22"/>
          <p:cNvSpPr/>
          <p:nvPr/>
        </p:nvSpPr>
        <p:spPr>
          <a:xfrm>
            <a:off x="6400800" y="2441520"/>
            <a:ext cx="72720" cy="785880"/>
          </a:xfrm>
          <a:prstGeom prst="rect">
            <a:avLst/>
          </a:prstGeom>
          <a:solidFill>
            <a:srgbClr val="2E7D61"/>
          </a:solidFill>
          <a:ln w="12600">
            <a:solidFill>
              <a:srgbClr val="2E7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23"/>
          <p:cNvSpPr/>
          <p:nvPr/>
        </p:nvSpPr>
        <p:spPr>
          <a:xfrm>
            <a:off x="6565320" y="2560320"/>
            <a:ext cx="4343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Boolean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24"/>
          <p:cNvSpPr/>
          <p:nvPr/>
        </p:nvSpPr>
        <p:spPr>
          <a:xfrm>
            <a:off x="6565320" y="2862000"/>
            <a:ext cx="4343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True / False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25"/>
          <p:cNvSpPr/>
          <p:nvPr/>
        </p:nvSpPr>
        <p:spPr>
          <a:xfrm>
            <a:off x="6400800" y="3584520"/>
            <a:ext cx="4617360" cy="785880"/>
          </a:xfrm>
          <a:prstGeom prst="roundRect">
            <a:avLst>
              <a:gd name="adj" fmla="val 9302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26"/>
          <p:cNvSpPr/>
          <p:nvPr/>
        </p:nvSpPr>
        <p:spPr>
          <a:xfrm>
            <a:off x="6400800" y="3584520"/>
            <a:ext cx="72720" cy="7858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27"/>
          <p:cNvSpPr/>
          <p:nvPr/>
        </p:nvSpPr>
        <p:spPr>
          <a:xfrm>
            <a:off x="6565320" y="3703320"/>
            <a:ext cx="4343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Date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28"/>
          <p:cNvSpPr/>
          <p:nvPr/>
        </p:nvSpPr>
        <p:spPr>
          <a:xfrm>
            <a:off x="6565320" y="4005000"/>
            <a:ext cx="4343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date ou moment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29"/>
          <p:cNvSpPr/>
          <p:nvPr/>
        </p:nvSpPr>
        <p:spPr>
          <a:xfrm>
            <a:off x="1828800" y="4983480"/>
            <a:ext cx="8595000" cy="1051200"/>
          </a:xfrm>
          <a:prstGeom prst="roundRect">
            <a:avLst>
              <a:gd name="adj" fmla="val 5217"/>
            </a:avLst>
          </a:prstGeom>
          <a:solidFill>
            <a:srgbClr val="17212B"/>
          </a:solidFill>
          <a:ln w="6480">
            <a:solidFill>
              <a:srgbClr val="0F17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30"/>
          <p:cNvSpPr/>
          <p:nvPr/>
        </p:nvSpPr>
        <p:spPr>
          <a:xfrm>
            <a:off x="1993320" y="5102280"/>
            <a:ext cx="8302320" cy="84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age As Integer = 20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prix As Decimal = 19.9D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estMajeur As Boolean = True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31"/>
          <p:cNvSpPr/>
          <p:nvPr/>
        </p:nvSpPr>
        <p:spPr>
          <a:xfrm>
            <a:off x="502920" y="653796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Visual Basic .NET • J1 • Live coding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32"/>
          <p:cNvSpPr/>
          <p:nvPr/>
        </p:nvSpPr>
        <p:spPr>
          <a:xfrm>
            <a:off x="11384280" y="649224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16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2"/>
          <p:cNvSpPr/>
          <p:nvPr/>
        </p:nvSpPr>
        <p:spPr>
          <a:xfrm>
            <a:off x="548640" y="25596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F6F9F"/>
                </a:solidFill>
                <a:effectLst/>
                <a:uFillTx/>
                <a:latin typeface="Aptos"/>
              </a:rPr>
              <a:t>LISIBILITÉ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3"/>
          <p:cNvSpPr/>
          <p:nvPr/>
        </p:nvSpPr>
        <p:spPr>
          <a:xfrm>
            <a:off x="530280" y="50292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83B5A"/>
                </a:solidFill>
                <a:effectLst/>
                <a:uFillTx/>
                <a:latin typeface="Aptos"/>
              </a:rPr>
              <a:t>Constante : nommer une valeur fixe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4"/>
          <p:cNvSpPr/>
          <p:nvPr/>
        </p:nvSpPr>
        <p:spPr>
          <a:xfrm>
            <a:off x="548640" y="987480"/>
            <a:ext cx="1142640" cy="406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5"/>
          <p:cNvSpPr/>
          <p:nvPr/>
        </p:nvSpPr>
        <p:spPr>
          <a:xfrm>
            <a:off x="914400" y="1417320"/>
            <a:ext cx="7772040" cy="2102760"/>
          </a:xfrm>
          <a:prstGeom prst="roundRect">
            <a:avLst>
              <a:gd name="adj" fmla="val 2609"/>
            </a:avLst>
          </a:prstGeom>
          <a:solidFill>
            <a:srgbClr val="17212B"/>
          </a:solidFill>
          <a:ln w="6480">
            <a:solidFill>
              <a:srgbClr val="0F17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6"/>
          <p:cNvSpPr/>
          <p:nvPr/>
        </p:nvSpPr>
        <p:spPr>
          <a:xfrm>
            <a:off x="1078920" y="1536120"/>
            <a:ext cx="7479360" cy="190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Const TauxTVA As Decimal = 0.2D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prixHT As Decimal = 100D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prixTTC As Decimal = prixHT * (1D + TauxTVA)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7"/>
          <p:cNvSpPr/>
          <p:nvPr/>
        </p:nvSpPr>
        <p:spPr>
          <a:xfrm>
            <a:off x="9098280" y="1508760"/>
            <a:ext cx="2148480" cy="1874160"/>
          </a:xfrm>
          <a:prstGeom prst="roundRect">
            <a:avLst>
              <a:gd name="adj" fmla="val 3902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8"/>
          <p:cNvSpPr/>
          <p:nvPr/>
        </p:nvSpPr>
        <p:spPr>
          <a:xfrm>
            <a:off x="9098280" y="1508760"/>
            <a:ext cx="72720" cy="1874160"/>
          </a:xfrm>
          <a:prstGeom prst="rect">
            <a:avLst/>
          </a:prstGeom>
          <a:solidFill>
            <a:srgbClr val="2E7D61"/>
          </a:solidFill>
          <a:ln w="12600">
            <a:solidFill>
              <a:srgbClr val="2E7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9"/>
          <p:cNvSpPr/>
          <p:nvPr/>
        </p:nvSpPr>
        <p:spPr>
          <a:xfrm>
            <a:off x="9262800" y="1627560"/>
            <a:ext cx="18741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Pourquoi 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10"/>
          <p:cNvSpPr/>
          <p:nvPr/>
        </p:nvSpPr>
        <p:spPr>
          <a:xfrm>
            <a:off x="9262800" y="1929240"/>
            <a:ext cx="1874160" cy="134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Le nom porte le sens. Si la valeur change, on sait où la trouver. Et on évite les nombres mystérieux dans le code.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11"/>
          <p:cNvSpPr/>
          <p:nvPr/>
        </p:nvSpPr>
        <p:spPr>
          <a:xfrm>
            <a:off x="1097280" y="4572000"/>
            <a:ext cx="98751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C9732F"/>
                </a:solidFill>
                <a:effectLst/>
                <a:uFillTx/>
                <a:latin typeface="Aptos"/>
                <a:ea typeface="Aptos"/>
              </a:rPr>
              <a:t>Question : est-ce une variable ou une constante si la valeur ne doit pas changer 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12"/>
          <p:cNvSpPr/>
          <p:nvPr/>
        </p:nvSpPr>
        <p:spPr>
          <a:xfrm>
            <a:off x="502920" y="653796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Visual Basic .NET • J1 • Live coding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13"/>
          <p:cNvSpPr/>
          <p:nvPr/>
        </p:nvSpPr>
        <p:spPr>
          <a:xfrm>
            <a:off x="11384280" y="649224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17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2"/>
          <p:cNvSpPr/>
          <p:nvPr/>
        </p:nvSpPr>
        <p:spPr>
          <a:xfrm>
            <a:off x="548640" y="25596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F6F9F"/>
                </a:solidFill>
                <a:effectLst/>
                <a:uFillTx/>
                <a:latin typeface="Aptos"/>
              </a:rPr>
              <a:t>SAISIE CONSOLE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3"/>
          <p:cNvSpPr/>
          <p:nvPr/>
        </p:nvSpPr>
        <p:spPr>
          <a:xfrm>
            <a:off x="530280" y="50292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83B5A"/>
                </a:solidFill>
                <a:effectLst/>
                <a:uFillTx/>
                <a:latin typeface="Aptos"/>
              </a:rPr>
              <a:t>ReadLine renvoie toujours du texte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4"/>
          <p:cNvSpPr/>
          <p:nvPr/>
        </p:nvSpPr>
        <p:spPr>
          <a:xfrm>
            <a:off x="548640" y="987480"/>
            <a:ext cx="1142640" cy="406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5"/>
          <p:cNvSpPr/>
          <p:nvPr/>
        </p:nvSpPr>
        <p:spPr>
          <a:xfrm>
            <a:off x="822960" y="1417320"/>
            <a:ext cx="2007720" cy="475200"/>
          </a:xfrm>
          <a:prstGeom prst="roundRect">
            <a:avLst>
              <a:gd name="adj" fmla="val 11538"/>
            </a:avLst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6"/>
          <p:cNvSpPr/>
          <p:nvPr/>
        </p:nvSpPr>
        <p:spPr>
          <a:xfrm>
            <a:off x="859680" y="1572840"/>
            <a:ext cx="19346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Utilisateur tape 25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7"/>
          <p:cNvSpPr/>
          <p:nvPr/>
        </p:nvSpPr>
        <p:spPr>
          <a:xfrm>
            <a:off x="2849040" y="1636560"/>
            <a:ext cx="82440" cy="360"/>
          </a:xfrm>
          <a:prstGeom prst="line">
            <a:avLst/>
          </a:prstGeom>
          <a:ln w="15120">
            <a:solidFill>
              <a:srgbClr val="9FB6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8"/>
          <p:cNvSpPr/>
          <p:nvPr/>
        </p:nvSpPr>
        <p:spPr>
          <a:xfrm>
            <a:off x="2949840" y="1417320"/>
            <a:ext cx="2007720" cy="475200"/>
          </a:xfrm>
          <a:prstGeom prst="roundRect">
            <a:avLst>
              <a:gd name="adj" fmla="val 11538"/>
            </a:avLst>
          </a:prstGeom>
          <a:solidFill>
            <a:srgbClr val="F5F8FA"/>
          </a:solidFill>
          <a:ln w="12600">
            <a:solidFill>
              <a:srgbClr val="D5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9"/>
          <p:cNvSpPr/>
          <p:nvPr/>
        </p:nvSpPr>
        <p:spPr>
          <a:xfrm>
            <a:off x="2986560" y="1572840"/>
            <a:ext cx="19346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Console lit "25"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10"/>
          <p:cNvSpPr/>
          <p:nvPr/>
        </p:nvSpPr>
        <p:spPr>
          <a:xfrm>
            <a:off x="4975920" y="1636560"/>
            <a:ext cx="82440" cy="360"/>
          </a:xfrm>
          <a:prstGeom prst="line">
            <a:avLst/>
          </a:prstGeom>
          <a:ln w="15120">
            <a:solidFill>
              <a:srgbClr val="9FB6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11"/>
          <p:cNvSpPr/>
          <p:nvPr/>
        </p:nvSpPr>
        <p:spPr>
          <a:xfrm>
            <a:off x="5076720" y="1417320"/>
            <a:ext cx="2007720" cy="475200"/>
          </a:xfrm>
          <a:prstGeom prst="roundRect">
            <a:avLst>
              <a:gd name="adj" fmla="val 11538"/>
            </a:avLst>
          </a:prstGeom>
          <a:solidFill>
            <a:srgbClr val="F5F8FA"/>
          </a:solidFill>
          <a:ln w="12600">
            <a:solidFill>
              <a:srgbClr val="D5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12"/>
          <p:cNvSpPr/>
          <p:nvPr/>
        </p:nvSpPr>
        <p:spPr>
          <a:xfrm>
            <a:off x="5113440" y="1572840"/>
            <a:ext cx="19346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String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13"/>
          <p:cNvSpPr/>
          <p:nvPr/>
        </p:nvSpPr>
        <p:spPr>
          <a:xfrm>
            <a:off x="7102800" y="1636560"/>
            <a:ext cx="82440" cy="360"/>
          </a:xfrm>
          <a:prstGeom prst="line">
            <a:avLst/>
          </a:prstGeom>
          <a:ln w="15120">
            <a:solidFill>
              <a:srgbClr val="9FB6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14"/>
          <p:cNvSpPr/>
          <p:nvPr/>
        </p:nvSpPr>
        <p:spPr>
          <a:xfrm>
            <a:off x="7203600" y="1417320"/>
            <a:ext cx="2007720" cy="475200"/>
          </a:xfrm>
          <a:prstGeom prst="roundRect">
            <a:avLst>
              <a:gd name="adj" fmla="val 11538"/>
            </a:avLst>
          </a:prstGeom>
          <a:solidFill>
            <a:srgbClr val="F5F8FA"/>
          </a:solidFill>
          <a:ln w="12600">
            <a:solidFill>
              <a:srgbClr val="D5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15"/>
          <p:cNvSpPr/>
          <p:nvPr/>
        </p:nvSpPr>
        <p:spPr>
          <a:xfrm>
            <a:off x="7240320" y="1572840"/>
            <a:ext cx="19346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Conversion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16"/>
          <p:cNvSpPr/>
          <p:nvPr/>
        </p:nvSpPr>
        <p:spPr>
          <a:xfrm>
            <a:off x="9229680" y="1636560"/>
            <a:ext cx="82440" cy="360"/>
          </a:xfrm>
          <a:prstGeom prst="line">
            <a:avLst/>
          </a:prstGeom>
          <a:ln w="15120">
            <a:solidFill>
              <a:srgbClr val="9FB6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17"/>
          <p:cNvSpPr/>
          <p:nvPr/>
        </p:nvSpPr>
        <p:spPr>
          <a:xfrm>
            <a:off x="9330480" y="1417320"/>
            <a:ext cx="2007720" cy="475200"/>
          </a:xfrm>
          <a:prstGeom prst="roundRect">
            <a:avLst>
              <a:gd name="adj" fmla="val 11538"/>
            </a:avLst>
          </a:prstGeom>
          <a:solidFill>
            <a:srgbClr val="2E7D61"/>
          </a:solidFill>
          <a:ln w="12600">
            <a:solidFill>
              <a:srgbClr val="2E7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18"/>
          <p:cNvSpPr/>
          <p:nvPr/>
        </p:nvSpPr>
        <p:spPr>
          <a:xfrm>
            <a:off x="9367200" y="1572840"/>
            <a:ext cx="19346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Integer 25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19"/>
          <p:cNvSpPr/>
          <p:nvPr/>
        </p:nvSpPr>
        <p:spPr>
          <a:xfrm>
            <a:off x="914400" y="2606040"/>
            <a:ext cx="5851800" cy="1508400"/>
          </a:xfrm>
          <a:prstGeom prst="roundRect">
            <a:avLst>
              <a:gd name="adj" fmla="val 3636"/>
            </a:avLst>
          </a:prstGeom>
          <a:solidFill>
            <a:srgbClr val="17212B"/>
          </a:solidFill>
          <a:ln w="6480">
            <a:solidFill>
              <a:srgbClr val="0F17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20"/>
          <p:cNvSpPr/>
          <p:nvPr/>
        </p:nvSpPr>
        <p:spPr>
          <a:xfrm>
            <a:off x="1078920" y="2724840"/>
            <a:ext cx="5559120" cy="130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Console.Write("Votre âge : ")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saisie As String = Console.ReadLine()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Console.WriteLine(saisie)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21"/>
          <p:cNvSpPr/>
          <p:nvPr/>
        </p:nvSpPr>
        <p:spPr>
          <a:xfrm>
            <a:off x="7315200" y="2606040"/>
            <a:ext cx="3474360" cy="1508400"/>
          </a:xfrm>
          <a:prstGeom prst="roundRect">
            <a:avLst>
              <a:gd name="adj" fmla="val 4848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22"/>
          <p:cNvSpPr/>
          <p:nvPr/>
        </p:nvSpPr>
        <p:spPr>
          <a:xfrm>
            <a:off x="7315200" y="2606040"/>
            <a:ext cx="72720" cy="150840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23"/>
          <p:cNvSpPr/>
          <p:nvPr/>
        </p:nvSpPr>
        <p:spPr>
          <a:xfrm>
            <a:off x="7479720" y="2724840"/>
            <a:ext cx="3200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Question clé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24"/>
          <p:cNvSpPr/>
          <p:nvPr/>
        </p:nvSpPr>
        <p:spPr>
          <a:xfrm>
            <a:off x="7479720" y="3026520"/>
            <a:ext cx="3200040" cy="97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Si je tape 25, est-ce déjà un Integer ?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Réponse : non, ReadLine renvoie du texte.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25"/>
          <p:cNvSpPr/>
          <p:nvPr/>
        </p:nvSpPr>
        <p:spPr>
          <a:xfrm>
            <a:off x="914400" y="4983480"/>
            <a:ext cx="102409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Le passage du texte au nombre doit être explicite.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26"/>
          <p:cNvSpPr/>
          <p:nvPr/>
        </p:nvSpPr>
        <p:spPr>
          <a:xfrm>
            <a:off x="502920" y="653796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Visual Basic .NET • J1 • Live coding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27"/>
          <p:cNvSpPr/>
          <p:nvPr/>
        </p:nvSpPr>
        <p:spPr>
          <a:xfrm>
            <a:off x="11384280" y="649224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18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2"/>
          <p:cNvSpPr/>
          <p:nvPr/>
        </p:nvSpPr>
        <p:spPr>
          <a:xfrm>
            <a:off x="548640" y="25596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F6F9F"/>
                </a:solidFill>
                <a:effectLst/>
                <a:uFillTx/>
                <a:latin typeface="Aptos"/>
              </a:rPr>
              <a:t>UTILE MAIS FRAGILE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3"/>
          <p:cNvSpPr/>
          <p:nvPr/>
        </p:nvSpPr>
        <p:spPr>
          <a:xfrm>
            <a:off x="530280" y="50292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83B5A"/>
                </a:solidFill>
                <a:effectLst/>
                <a:uFillTx/>
                <a:latin typeface="Aptos"/>
              </a:rPr>
              <a:t>Parse : convertir directement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4"/>
          <p:cNvSpPr/>
          <p:nvPr/>
        </p:nvSpPr>
        <p:spPr>
          <a:xfrm>
            <a:off x="548640" y="987480"/>
            <a:ext cx="1142640" cy="406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Shape 5"/>
          <p:cNvSpPr/>
          <p:nvPr/>
        </p:nvSpPr>
        <p:spPr>
          <a:xfrm>
            <a:off x="914400" y="1417320"/>
            <a:ext cx="6400440" cy="868320"/>
          </a:xfrm>
          <a:prstGeom prst="roundRect">
            <a:avLst>
              <a:gd name="adj" fmla="val 6316"/>
            </a:avLst>
          </a:prstGeom>
          <a:solidFill>
            <a:srgbClr val="17212B"/>
          </a:solidFill>
          <a:ln w="6480">
            <a:solidFill>
              <a:srgbClr val="0F17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6"/>
          <p:cNvSpPr/>
          <p:nvPr/>
        </p:nvSpPr>
        <p:spPr>
          <a:xfrm>
            <a:off x="1078920" y="1536120"/>
            <a:ext cx="6107760" cy="66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age As Integer = Integer.Parse(Console.ReadLine())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7"/>
          <p:cNvSpPr/>
          <p:nvPr/>
        </p:nvSpPr>
        <p:spPr>
          <a:xfrm>
            <a:off x="1143000" y="2788920"/>
            <a:ext cx="4205880" cy="1005480"/>
          </a:xfrm>
          <a:prstGeom prst="roundRect">
            <a:avLst>
              <a:gd name="adj" fmla="val 7273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8"/>
          <p:cNvSpPr/>
          <p:nvPr/>
        </p:nvSpPr>
        <p:spPr>
          <a:xfrm>
            <a:off x="1143000" y="2788920"/>
            <a:ext cx="72720" cy="1005480"/>
          </a:xfrm>
          <a:prstGeom prst="rect">
            <a:avLst/>
          </a:prstGeom>
          <a:solidFill>
            <a:srgbClr val="2E7D61"/>
          </a:solidFill>
          <a:ln w="12600">
            <a:solidFill>
              <a:srgbClr val="2E7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9"/>
          <p:cNvSpPr/>
          <p:nvPr/>
        </p:nvSpPr>
        <p:spPr>
          <a:xfrm>
            <a:off x="1307520" y="2907720"/>
            <a:ext cx="3931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Cas OK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10"/>
          <p:cNvSpPr/>
          <p:nvPr/>
        </p:nvSpPr>
        <p:spPr>
          <a:xfrm>
            <a:off x="1307520" y="3209400"/>
            <a:ext cx="39315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L’utilisateur tape 25 → conversion en Integer possible.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11"/>
          <p:cNvSpPr/>
          <p:nvPr/>
        </p:nvSpPr>
        <p:spPr>
          <a:xfrm>
            <a:off x="6720840" y="2788920"/>
            <a:ext cx="4205880" cy="1005480"/>
          </a:xfrm>
          <a:prstGeom prst="roundRect">
            <a:avLst>
              <a:gd name="adj" fmla="val 7273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12"/>
          <p:cNvSpPr/>
          <p:nvPr/>
        </p:nvSpPr>
        <p:spPr>
          <a:xfrm>
            <a:off x="6720840" y="2788920"/>
            <a:ext cx="72720" cy="1005480"/>
          </a:xfrm>
          <a:prstGeom prst="rect">
            <a:avLst/>
          </a:prstGeom>
          <a:solidFill>
            <a:srgbClr val="B84A4A"/>
          </a:solidFill>
          <a:ln w="12600">
            <a:solidFill>
              <a:srgbClr val="B84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13"/>
          <p:cNvSpPr/>
          <p:nvPr/>
        </p:nvSpPr>
        <p:spPr>
          <a:xfrm>
            <a:off x="6885360" y="2907720"/>
            <a:ext cx="3931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Cas KO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14"/>
          <p:cNvSpPr/>
          <p:nvPr/>
        </p:nvSpPr>
        <p:spPr>
          <a:xfrm>
            <a:off x="6885360" y="3209400"/>
            <a:ext cx="39315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L’utilisateur tape abc → erreur d’exécution.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15"/>
          <p:cNvSpPr/>
          <p:nvPr/>
        </p:nvSpPr>
        <p:spPr>
          <a:xfrm>
            <a:off x="1005840" y="4892040"/>
            <a:ext cx="101494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C9732F"/>
                </a:solidFill>
                <a:effectLst/>
                <a:uFillTx/>
                <a:latin typeface="Aptos"/>
                <a:ea typeface="Aptos"/>
              </a:rPr>
              <a:t>Erreur volontaire : saisir abc et lire l’exception sans la cacher.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16"/>
          <p:cNvSpPr/>
          <p:nvPr/>
        </p:nvSpPr>
        <p:spPr>
          <a:xfrm>
            <a:off x="502920" y="653796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Visual Basic .NET • J1 • Live coding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17"/>
          <p:cNvSpPr/>
          <p:nvPr/>
        </p:nvSpPr>
        <p:spPr>
          <a:xfrm>
            <a:off x="11384280" y="649224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19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2"/>
          <p:cNvSpPr/>
          <p:nvPr/>
        </p:nvSpPr>
        <p:spPr>
          <a:xfrm>
            <a:off x="548640" y="25596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F6F9F"/>
                </a:solidFill>
                <a:effectLst/>
                <a:uFillTx/>
                <a:latin typeface="Aptos"/>
              </a:rPr>
              <a:t>CONVERSION OBSERVABLE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3"/>
          <p:cNvSpPr/>
          <p:nvPr/>
        </p:nvSpPr>
        <p:spPr>
          <a:xfrm>
            <a:off x="530280" y="50292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83B5A"/>
                </a:solidFill>
                <a:effectLst/>
                <a:uFillTx/>
                <a:latin typeface="Aptos"/>
              </a:rPr>
              <a:t>TryParse : tenter sans casser le programme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4"/>
          <p:cNvSpPr/>
          <p:nvPr/>
        </p:nvSpPr>
        <p:spPr>
          <a:xfrm>
            <a:off x="548640" y="987480"/>
            <a:ext cx="1142640" cy="406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5"/>
          <p:cNvSpPr/>
          <p:nvPr/>
        </p:nvSpPr>
        <p:spPr>
          <a:xfrm>
            <a:off x="731520" y="1234440"/>
            <a:ext cx="6857640" cy="3657240"/>
          </a:xfrm>
          <a:prstGeom prst="roundRect">
            <a:avLst>
              <a:gd name="adj" fmla="val 1500"/>
            </a:avLst>
          </a:prstGeom>
          <a:solidFill>
            <a:srgbClr val="17212B"/>
          </a:solidFill>
          <a:ln w="6480">
            <a:solidFill>
              <a:srgbClr val="0F17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6"/>
          <p:cNvSpPr/>
          <p:nvPr/>
        </p:nvSpPr>
        <p:spPr>
          <a:xfrm>
            <a:off x="896040" y="1353240"/>
            <a:ext cx="6564960" cy="3456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8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Console.Write("Votre âge : ")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8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saisie As String = Console.ReadLine()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8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age As Integer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8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conversionOk As Boolean = Integer.TryParse(saisie, age)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8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Console.WriteLine("Conversion réussie ? " &amp; conversionOk)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8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Console.WriteLine("Âge : " &amp; age)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7"/>
          <p:cNvSpPr/>
          <p:nvPr/>
        </p:nvSpPr>
        <p:spPr>
          <a:xfrm>
            <a:off x="7955280" y="1554480"/>
            <a:ext cx="3200040" cy="1279800"/>
          </a:xfrm>
          <a:prstGeom prst="roundRect">
            <a:avLst>
              <a:gd name="adj" fmla="val 5714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8"/>
          <p:cNvSpPr/>
          <p:nvPr/>
        </p:nvSpPr>
        <p:spPr>
          <a:xfrm>
            <a:off x="7955280" y="1554480"/>
            <a:ext cx="72720" cy="1279800"/>
          </a:xfrm>
          <a:prstGeom prst="rect">
            <a:avLst/>
          </a:prstGeom>
          <a:solidFill>
            <a:srgbClr val="2E7D61"/>
          </a:solidFill>
          <a:ln w="12600">
            <a:solidFill>
              <a:srgbClr val="2E7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9"/>
          <p:cNvSpPr/>
          <p:nvPr/>
        </p:nvSpPr>
        <p:spPr>
          <a:xfrm>
            <a:off x="8119800" y="167328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À comprendre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10"/>
          <p:cNvSpPr/>
          <p:nvPr/>
        </p:nvSpPr>
        <p:spPr>
          <a:xfrm>
            <a:off x="8119800" y="1974960"/>
            <a:ext cx="292572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TryParse produit un Boolean et remplit la variable si la conversion réussit.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11"/>
          <p:cNvSpPr/>
          <p:nvPr/>
        </p:nvSpPr>
        <p:spPr>
          <a:xfrm>
            <a:off x="7955280" y="3154680"/>
            <a:ext cx="3200040" cy="1096920"/>
          </a:xfrm>
          <a:prstGeom prst="roundRect">
            <a:avLst>
              <a:gd name="adj" fmla="val 6667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12"/>
          <p:cNvSpPr/>
          <p:nvPr/>
        </p:nvSpPr>
        <p:spPr>
          <a:xfrm>
            <a:off x="7955280" y="3154680"/>
            <a:ext cx="72720" cy="109692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13"/>
          <p:cNvSpPr/>
          <p:nvPr/>
        </p:nvSpPr>
        <p:spPr>
          <a:xfrm>
            <a:off x="8119800" y="327348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Mini-défi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14"/>
          <p:cNvSpPr/>
          <p:nvPr/>
        </p:nvSpPr>
        <p:spPr>
          <a:xfrm>
            <a:off x="8119800" y="3575160"/>
            <a:ext cx="29257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Faire la même chose avec un prix en Decimal.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15"/>
          <p:cNvSpPr/>
          <p:nvPr/>
        </p:nvSpPr>
        <p:spPr>
          <a:xfrm>
            <a:off x="914400" y="5532120"/>
            <a:ext cx="10332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La gestion complète des cas invalides arrivera avec les conditions en J2.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16"/>
          <p:cNvSpPr/>
          <p:nvPr/>
        </p:nvSpPr>
        <p:spPr>
          <a:xfrm>
            <a:off x="502920" y="653796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Visual Basic .NET • J1 • Live coding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17"/>
          <p:cNvSpPr/>
          <p:nvPr/>
        </p:nvSpPr>
        <p:spPr>
          <a:xfrm>
            <a:off x="11384280" y="649224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20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2"/>
          <p:cNvSpPr/>
          <p:nvPr/>
        </p:nvSpPr>
        <p:spPr>
          <a:xfrm>
            <a:off x="548640" y="25596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F6F9F"/>
                </a:solidFill>
                <a:effectLst/>
                <a:uFillTx/>
                <a:latin typeface="Aptos"/>
              </a:rPr>
              <a:t>OPÉRATEURS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3"/>
          <p:cNvSpPr/>
          <p:nvPr/>
        </p:nvSpPr>
        <p:spPr>
          <a:xfrm>
            <a:off x="530280" y="50292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83B5A"/>
                </a:solidFill>
                <a:effectLst/>
                <a:uFillTx/>
                <a:latin typeface="Aptos"/>
              </a:rPr>
              <a:t>Une expression produit une valeur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Shape 4"/>
          <p:cNvSpPr/>
          <p:nvPr/>
        </p:nvSpPr>
        <p:spPr>
          <a:xfrm>
            <a:off x="548640" y="987480"/>
            <a:ext cx="1142640" cy="406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Shape 5"/>
          <p:cNvSpPr/>
          <p:nvPr/>
        </p:nvSpPr>
        <p:spPr>
          <a:xfrm>
            <a:off x="868680" y="1417320"/>
            <a:ext cx="2925720" cy="914040"/>
          </a:xfrm>
          <a:prstGeom prst="roundRect">
            <a:avLst>
              <a:gd name="adj" fmla="val 8000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6"/>
          <p:cNvSpPr/>
          <p:nvPr/>
        </p:nvSpPr>
        <p:spPr>
          <a:xfrm>
            <a:off x="868680" y="1417320"/>
            <a:ext cx="72720" cy="914040"/>
          </a:xfrm>
          <a:prstGeom prst="rect">
            <a:avLst/>
          </a:prstGeom>
          <a:solidFill>
            <a:srgbClr val="2F6F9F"/>
          </a:solidFill>
          <a:ln w="12600">
            <a:solidFill>
              <a:srgbClr val="2F6F9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7"/>
          <p:cNvSpPr/>
          <p:nvPr/>
        </p:nvSpPr>
        <p:spPr>
          <a:xfrm>
            <a:off x="1033200" y="1536120"/>
            <a:ext cx="2651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Valeurs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8"/>
          <p:cNvSpPr/>
          <p:nvPr/>
        </p:nvSpPr>
        <p:spPr>
          <a:xfrm>
            <a:off x="1033200" y="1837800"/>
            <a:ext cx="2651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2, 3, 4, prixHT, age...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9"/>
          <p:cNvSpPr/>
          <p:nvPr/>
        </p:nvSpPr>
        <p:spPr>
          <a:xfrm>
            <a:off x="4617720" y="1417320"/>
            <a:ext cx="2925720" cy="914040"/>
          </a:xfrm>
          <a:prstGeom prst="roundRect">
            <a:avLst>
              <a:gd name="adj" fmla="val 8000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Shape 10"/>
          <p:cNvSpPr/>
          <p:nvPr/>
        </p:nvSpPr>
        <p:spPr>
          <a:xfrm>
            <a:off x="4617720" y="1417320"/>
            <a:ext cx="72720" cy="914040"/>
          </a:xfrm>
          <a:prstGeom prst="rect">
            <a:avLst/>
          </a:prstGeom>
          <a:solidFill>
            <a:srgbClr val="2E7D61"/>
          </a:solidFill>
          <a:ln w="12600">
            <a:solidFill>
              <a:srgbClr val="2E7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11"/>
          <p:cNvSpPr/>
          <p:nvPr/>
        </p:nvSpPr>
        <p:spPr>
          <a:xfrm>
            <a:off x="4782240" y="1536120"/>
            <a:ext cx="2651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Opérateurs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12"/>
          <p:cNvSpPr/>
          <p:nvPr/>
        </p:nvSpPr>
        <p:spPr>
          <a:xfrm>
            <a:off x="4782240" y="1837800"/>
            <a:ext cx="2651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+, -, *, /, \, Mod, =, &lt;&gt;, And...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Shape 13"/>
          <p:cNvSpPr/>
          <p:nvPr/>
        </p:nvSpPr>
        <p:spPr>
          <a:xfrm>
            <a:off x="8366760" y="1417320"/>
            <a:ext cx="2925720" cy="914040"/>
          </a:xfrm>
          <a:prstGeom prst="roundRect">
            <a:avLst>
              <a:gd name="adj" fmla="val 8000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14"/>
          <p:cNvSpPr/>
          <p:nvPr/>
        </p:nvSpPr>
        <p:spPr>
          <a:xfrm>
            <a:off x="8366760" y="1417320"/>
            <a:ext cx="72720" cy="91404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15"/>
          <p:cNvSpPr/>
          <p:nvPr/>
        </p:nvSpPr>
        <p:spPr>
          <a:xfrm>
            <a:off x="8531280" y="1536120"/>
            <a:ext cx="2651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Résultat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16"/>
          <p:cNvSpPr/>
          <p:nvPr/>
        </p:nvSpPr>
        <p:spPr>
          <a:xfrm>
            <a:off x="8531280" y="1837800"/>
            <a:ext cx="2651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nombre, texte, True ou False...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Shape 17"/>
          <p:cNvSpPr/>
          <p:nvPr/>
        </p:nvSpPr>
        <p:spPr>
          <a:xfrm>
            <a:off x="1828800" y="3063240"/>
            <a:ext cx="8595000" cy="1828440"/>
          </a:xfrm>
          <a:prstGeom prst="roundRect">
            <a:avLst>
              <a:gd name="adj" fmla="val 3000"/>
            </a:avLst>
          </a:prstGeom>
          <a:solidFill>
            <a:srgbClr val="17212B"/>
          </a:solidFill>
          <a:ln w="6480">
            <a:solidFill>
              <a:srgbClr val="0F17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18"/>
          <p:cNvSpPr/>
          <p:nvPr/>
        </p:nvSpPr>
        <p:spPr>
          <a:xfrm>
            <a:off x="1993320" y="3182040"/>
            <a:ext cx="8302320" cy="162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Console.WriteLine(2 + 3 * 4)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Console.WriteLine((2 + 3) * 4)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Console.WriteLine(10 / 4)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Console.WriteLine(10 \ 4)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Console.WriteLine(10 Mod 4)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19"/>
          <p:cNvSpPr/>
          <p:nvPr/>
        </p:nvSpPr>
        <p:spPr>
          <a:xfrm>
            <a:off x="502920" y="653796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Visual Basic .NET • J1 • Live coding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20"/>
          <p:cNvSpPr/>
          <p:nvPr/>
        </p:nvSpPr>
        <p:spPr>
          <a:xfrm>
            <a:off x="11384280" y="649224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21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2"/>
          <p:cNvSpPr/>
          <p:nvPr/>
        </p:nvSpPr>
        <p:spPr>
          <a:xfrm>
            <a:off x="548640" y="25596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F6F9F"/>
                </a:solidFill>
                <a:effectLst/>
                <a:uFillTx/>
                <a:latin typeface="Aptos"/>
              </a:rPr>
              <a:t>FAIRE VOTER AVANT DE LANCER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3"/>
          <p:cNvSpPr/>
          <p:nvPr/>
        </p:nvSpPr>
        <p:spPr>
          <a:xfrm>
            <a:off x="530280" y="50292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83B5A"/>
                </a:solidFill>
                <a:effectLst/>
                <a:uFillTx/>
                <a:latin typeface="Aptos"/>
              </a:rPr>
              <a:t>Prédictions arithmétiques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Shape 4"/>
          <p:cNvSpPr/>
          <p:nvPr/>
        </p:nvSpPr>
        <p:spPr>
          <a:xfrm>
            <a:off x="548640" y="987480"/>
            <a:ext cx="1142640" cy="406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Shape 5"/>
          <p:cNvSpPr/>
          <p:nvPr/>
        </p:nvSpPr>
        <p:spPr>
          <a:xfrm>
            <a:off x="868680" y="1325880"/>
            <a:ext cx="4297320" cy="475200"/>
          </a:xfrm>
          <a:prstGeom prst="roundRect">
            <a:avLst>
              <a:gd name="adj" fmla="val 11538"/>
            </a:avLst>
          </a:prstGeom>
          <a:solidFill>
            <a:srgbClr val="17212B"/>
          </a:solidFill>
          <a:ln w="6480">
            <a:solidFill>
              <a:srgbClr val="0F17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6"/>
          <p:cNvSpPr/>
          <p:nvPr/>
        </p:nvSpPr>
        <p:spPr>
          <a:xfrm>
            <a:off x="1033200" y="1444680"/>
            <a:ext cx="4004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2 + 3 * 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7"/>
          <p:cNvSpPr/>
          <p:nvPr/>
        </p:nvSpPr>
        <p:spPr>
          <a:xfrm>
            <a:off x="5394960" y="1563480"/>
            <a:ext cx="914400" cy="360"/>
          </a:xfrm>
          <a:prstGeom prst="line">
            <a:avLst/>
          </a:prstGeom>
          <a:ln w="15120">
            <a:solidFill>
              <a:srgbClr val="9FB6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8"/>
          <p:cNvSpPr/>
          <p:nvPr/>
        </p:nvSpPr>
        <p:spPr>
          <a:xfrm>
            <a:off x="6583680" y="1307520"/>
            <a:ext cx="3108600" cy="529920"/>
          </a:xfrm>
          <a:prstGeom prst="roundRect">
            <a:avLst>
              <a:gd name="adj" fmla="val 13793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Shape 9"/>
          <p:cNvSpPr/>
          <p:nvPr/>
        </p:nvSpPr>
        <p:spPr>
          <a:xfrm>
            <a:off x="6583680" y="1307520"/>
            <a:ext cx="72720" cy="529920"/>
          </a:xfrm>
          <a:prstGeom prst="rect">
            <a:avLst/>
          </a:prstGeom>
          <a:solidFill>
            <a:srgbClr val="2F6F9F"/>
          </a:solidFill>
          <a:ln w="12600">
            <a:solidFill>
              <a:srgbClr val="2F6F9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10"/>
          <p:cNvSpPr/>
          <p:nvPr/>
        </p:nvSpPr>
        <p:spPr>
          <a:xfrm>
            <a:off x="6748200" y="1426320"/>
            <a:ext cx="2834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Résultat attendu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11"/>
          <p:cNvSpPr/>
          <p:nvPr/>
        </p:nvSpPr>
        <p:spPr>
          <a:xfrm>
            <a:off x="6748200" y="1728360"/>
            <a:ext cx="283428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2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14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Shape 12"/>
          <p:cNvSpPr/>
          <p:nvPr/>
        </p:nvSpPr>
        <p:spPr>
          <a:xfrm>
            <a:off x="868680" y="2039040"/>
            <a:ext cx="4297320" cy="475200"/>
          </a:xfrm>
          <a:prstGeom prst="roundRect">
            <a:avLst>
              <a:gd name="adj" fmla="val 11538"/>
            </a:avLst>
          </a:prstGeom>
          <a:solidFill>
            <a:srgbClr val="17212B"/>
          </a:solidFill>
          <a:ln w="6480">
            <a:solidFill>
              <a:srgbClr val="0F17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13"/>
          <p:cNvSpPr/>
          <p:nvPr/>
        </p:nvSpPr>
        <p:spPr>
          <a:xfrm>
            <a:off x="1033200" y="2157840"/>
            <a:ext cx="4004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(2 + 3) * 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Shape 14"/>
          <p:cNvSpPr/>
          <p:nvPr/>
        </p:nvSpPr>
        <p:spPr>
          <a:xfrm>
            <a:off x="5394960" y="2276640"/>
            <a:ext cx="914400" cy="360"/>
          </a:xfrm>
          <a:prstGeom prst="line">
            <a:avLst/>
          </a:prstGeom>
          <a:ln w="15120">
            <a:solidFill>
              <a:srgbClr val="9FB6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15"/>
          <p:cNvSpPr/>
          <p:nvPr/>
        </p:nvSpPr>
        <p:spPr>
          <a:xfrm>
            <a:off x="6583680" y="2020680"/>
            <a:ext cx="3108600" cy="529920"/>
          </a:xfrm>
          <a:prstGeom prst="roundRect">
            <a:avLst>
              <a:gd name="adj" fmla="val 13793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16"/>
          <p:cNvSpPr/>
          <p:nvPr/>
        </p:nvSpPr>
        <p:spPr>
          <a:xfrm>
            <a:off x="6583680" y="2020680"/>
            <a:ext cx="72720" cy="529920"/>
          </a:xfrm>
          <a:prstGeom prst="rect">
            <a:avLst/>
          </a:prstGeom>
          <a:solidFill>
            <a:srgbClr val="2E7D61"/>
          </a:solidFill>
          <a:ln w="12600">
            <a:solidFill>
              <a:srgbClr val="2E7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17"/>
          <p:cNvSpPr/>
          <p:nvPr/>
        </p:nvSpPr>
        <p:spPr>
          <a:xfrm>
            <a:off x="6748200" y="2139840"/>
            <a:ext cx="2834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Résultat attendu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18"/>
          <p:cNvSpPr/>
          <p:nvPr/>
        </p:nvSpPr>
        <p:spPr>
          <a:xfrm>
            <a:off x="6748200" y="2441520"/>
            <a:ext cx="283428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2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20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Shape 19"/>
          <p:cNvSpPr/>
          <p:nvPr/>
        </p:nvSpPr>
        <p:spPr>
          <a:xfrm>
            <a:off x="868680" y="2752200"/>
            <a:ext cx="4297320" cy="475200"/>
          </a:xfrm>
          <a:prstGeom prst="roundRect">
            <a:avLst>
              <a:gd name="adj" fmla="val 11538"/>
            </a:avLst>
          </a:prstGeom>
          <a:solidFill>
            <a:srgbClr val="17212B"/>
          </a:solidFill>
          <a:ln w="6480">
            <a:solidFill>
              <a:srgbClr val="0F17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20"/>
          <p:cNvSpPr/>
          <p:nvPr/>
        </p:nvSpPr>
        <p:spPr>
          <a:xfrm>
            <a:off x="1033200" y="2871360"/>
            <a:ext cx="4004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10 / 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Shape 21"/>
          <p:cNvSpPr/>
          <p:nvPr/>
        </p:nvSpPr>
        <p:spPr>
          <a:xfrm>
            <a:off x="5394960" y="2989800"/>
            <a:ext cx="914400" cy="360"/>
          </a:xfrm>
          <a:prstGeom prst="line">
            <a:avLst/>
          </a:prstGeom>
          <a:ln w="15120">
            <a:solidFill>
              <a:srgbClr val="9FB6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Shape 22"/>
          <p:cNvSpPr/>
          <p:nvPr/>
        </p:nvSpPr>
        <p:spPr>
          <a:xfrm>
            <a:off x="6583680" y="2734200"/>
            <a:ext cx="3108600" cy="529920"/>
          </a:xfrm>
          <a:prstGeom prst="roundRect">
            <a:avLst>
              <a:gd name="adj" fmla="val 13793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Shape 23"/>
          <p:cNvSpPr/>
          <p:nvPr/>
        </p:nvSpPr>
        <p:spPr>
          <a:xfrm>
            <a:off x="6583680" y="2734200"/>
            <a:ext cx="72720" cy="529920"/>
          </a:xfrm>
          <a:prstGeom prst="rect">
            <a:avLst/>
          </a:prstGeom>
          <a:solidFill>
            <a:srgbClr val="2F6F9F"/>
          </a:solidFill>
          <a:ln w="12600">
            <a:solidFill>
              <a:srgbClr val="2F6F9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24"/>
          <p:cNvSpPr/>
          <p:nvPr/>
        </p:nvSpPr>
        <p:spPr>
          <a:xfrm>
            <a:off x="6748200" y="2853000"/>
            <a:ext cx="2834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Résultat attendu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25"/>
          <p:cNvSpPr/>
          <p:nvPr/>
        </p:nvSpPr>
        <p:spPr>
          <a:xfrm>
            <a:off x="6748200" y="3154680"/>
            <a:ext cx="283428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2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2,5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26"/>
          <p:cNvSpPr/>
          <p:nvPr/>
        </p:nvSpPr>
        <p:spPr>
          <a:xfrm>
            <a:off x="868680" y="3465720"/>
            <a:ext cx="4297320" cy="475200"/>
          </a:xfrm>
          <a:prstGeom prst="roundRect">
            <a:avLst>
              <a:gd name="adj" fmla="val 11538"/>
            </a:avLst>
          </a:prstGeom>
          <a:solidFill>
            <a:srgbClr val="17212B"/>
          </a:solidFill>
          <a:ln w="6480">
            <a:solidFill>
              <a:srgbClr val="0F17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27"/>
          <p:cNvSpPr/>
          <p:nvPr/>
        </p:nvSpPr>
        <p:spPr>
          <a:xfrm>
            <a:off x="1033200" y="3584520"/>
            <a:ext cx="4004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10 \ 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Shape 28"/>
          <p:cNvSpPr/>
          <p:nvPr/>
        </p:nvSpPr>
        <p:spPr>
          <a:xfrm>
            <a:off x="5394960" y="3703320"/>
            <a:ext cx="914400" cy="360"/>
          </a:xfrm>
          <a:prstGeom prst="line">
            <a:avLst/>
          </a:prstGeom>
          <a:ln w="15120">
            <a:solidFill>
              <a:srgbClr val="9FB6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Shape 29"/>
          <p:cNvSpPr/>
          <p:nvPr/>
        </p:nvSpPr>
        <p:spPr>
          <a:xfrm>
            <a:off x="6583680" y="3447360"/>
            <a:ext cx="3108600" cy="529920"/>
          </a:xfrm>
          <a:prstGeom prst="roundRect">
            <a:avLst>
              <a:gd name="adj" fmla="val 13793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Shape 30"/>
          <p:cNvSpPr/>
          <p:nvPr/>
        </p:nvSpPr>
        <p:spPr>
          <a:xfrm>
            <a:off x="6583680" y="3447360"/>
            <a:ext cx="72720" cy="529920"/>
          </a:xfrm>
          <a:prstGeom prst="rect">
            <a:avLst/>
          </a:prstGeom>
          <a:solidFill>
            <a:srgbClr val="2E7D61"/>
          </a:solidFill>
          <a:ln w="12600">
            <a:solidFill>
              <a:srgbClr val="2E7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31"/>
          <p:cNvSpPr/>
          <p:nvPr/>
        </p:nvSpPr>
        <p:spPr>
          <a:xfrm>
            <a:off x="6748200" y="3566160"/>
            <a:ext cx="2834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Résultat attendu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32"/>
          <p:cNvSpPr/>
          <p:nvPr/>
        </p:nvSpPr>
        <p:spPr>
          <a:xfrm>
            <a:off x="6748200" y="3867840"/>
            <a:ext cx="283428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2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33"/>
          <p:cNvSpPr/>
          <p:nvPr/>
        </p:nvSpPr>
        <p:spPr>
          <a:xfrm>
            <a:off x="868680" y="4178880"/>
            <a:ext cx="4297320" cy="475200"/>
          </a:xfrm>
          <a:prstGeom prst="roundRect">
            <a:avLst>
              <a:gd name="adj" fmla="val 11538"/>
            </a:avLst>
          </a:prstGeom>
          <a:solidFill>
            <a:srgbClr val="17212B"/>
          </a:solidFill>
          <a:ln w="6480">
            <a:solidFill>
              <a:srgbClr val="0F17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34"/>
          <p:cNvSpPr/>
          <p:nvPr/>
        </p:nvSpPr>
        <p:spPr>
          <a:xfrm>
            <a:off x="1033200" y="4297680"/>
            <a:ext cx="4004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10 Mod 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Shape 35"/>
          <p:cNvSpPr/>
          <p:nvPr/>
        </p:nvSpPr>
        <p:spPr>
          <a:xfrm>
            <a:off x="5394960" y="4416480"/>
            <a:ext cx="914400" cy="360"/>
          </a:xfrm>
          <a:prstGeom prst="line">
            <a:avLst/>
          </a:prstGeom>
          <a:ln w="15120">
            <a:solidFill>
              <a:srgbClr val="9FB6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Shape 36"/>
          <p:cNvSpPr/>
          <p:nvPr/>
        </p:nvSpPr>
        <p:spPr>
          <a:xfrm>
            <a:off x="6583680" y="4160520"/>
            <a:ext cx="3108600" cy="529920"/>
          </a:xfrm>
          <a:prstGeom prst="roundRect">
            <a:avLst>
              <a:gd name="adj" fmla="val 13793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Shape 37"/>
          <p:cNvSpPr/>
          <p:nvPr/>
        </p:nvSpPr>
        <p:spPr>
          <a:xfrm>
            <a:off x="6583680" y="4160520"/>
            <a:ext cx="72720" cy="529920"/>
          </a:xfrm>
          <a:prstGeom prst="rect">
            <a:avLst/>
          </a:prstGeom>
          <a:solidFill>
            <a:srgbClr val="2F6F9F"/>
          </a:solidFill>
          <a:ln w="12600">
            <a:solidFill>
              <a:srgbClr val="2F6F9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 38"/>
          <p:cNvSpPr/>
          <p:nvPr/>
        </p:nvSpPr>
        <p:spPr>
          <a:xfrm>
            <a:off x="6748200" y="4279320"/>
            <a:ext cx="2834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Résultat attendu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39"/>
          <p:cNvSpPr/>
          <p:nvPr/>
        </p:nvSpPr>
        <p:spPr>
          <a:xfrm>
            <a:off x="6748200" y="4581000"/>
            <a:ext cx="283428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2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 40"/>
          <p:cNvSpPr/>
          <p:nvPr/>
        </p:nvSpPr>
        <p:spPr>
          <a:xfrm>
            <a:off x="868680" y="539496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La priorité et les parenthèses expliquent la plupart des écarts de prédiction.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 41"/>
          <p:cNvSpPr/>
          <p:nvPr/>
        </p:nvSpPr>
        <p:spPr>
          <a:xfrm>
            <a:off x="502920" y="653796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Visual Basic .NET • J1 • Live coding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42"/>
          <p:cNvSpPr/>
          <p:nvPr/>
        </p:nvSpPr>
        <p:spPr>
          <a:xfrm>
            <a:off x="11384280" y="649224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22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 2"/>
          <p:cNvSpPr/>
          <p:nvPr/>
        </p:nvSpPr>
        <p:spPr>
          <a:xfrm>
            <a:off x="548640" y="25596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F6F9F"/>
                </a:solidFill>
                <a:effectLst/>
                <a:uFillTx/>
                <a:latin typeface="Aptos"/>
              </a:rPr>
              <a:t>CHOIX DE TYPE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 3"/>
          <p:cNvSpPr/>
          <p:nvPr/>
        </p:nvSpPr>
        <p:spPr>
          <a:xfrm>
            <a:off x="530280" y="50292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83B5A"/>
                </a:solidFill>
                <a:effectLst/>
                <a:uFillTx/>
                <a:latin typeface="Aptos"/>
              </a:rPr>
              <a:t>Cas monétaire : Decimal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Shape 4"/>
          <p:cNvSpPr/>
          <p:nvPr/>
        </p:nvSpPr>
        <p:spPr>
          <a:xfrm>
            <a:off x="548640" y="987480"/>
            <a:ext cx="1142640" cy="406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8" name="Shape 5"/>
          <p:cNvSpPr/>
          <p:nvPr/>
        </p:nvSpPr>
        <p:spPr>
          <a:xfrm>
            <a:off x="914400" y="1463040"/>
            <a:ext cx="6766200" cy="1828440"/>
          </a:xfrm>
          <a:prstGeom prst="roundRect">
            <a:avLst>
              <a:gd name="adj" fmla="val 3000"/>
            </a:avLst>
          </a:prstGeom>
          <a:solidFill>
            <a:srgbClr val="17212B"/>
          </a:solidFill>
          <a:ln w="6480">
            <a:solidFill>
              <a:srgbClr val="0F17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6"/>
          <p:cNvSpPr/>
          <p:nvPr/>
        </p:nvSpPr>
        <p:spPr>
          <a:xfrm>
            <a:off x="1078920" y="1581840"/>
            <a:ext cx="6473520" cy="162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prixHT As Decimal = 100D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Const tauxTVA As Decimal = 0.2D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prixTTC As Decimal = prixHT * (1D + tauxTVA)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Console.WriteLine(prixTTC)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Shape 7"/>
          <p:cNvSpPr/>
          <p:nvPr/>
        </p:nvSpPr>
        <p:spPr>
          <a:xfrm>
            <a:off x="8138160" y="1508760"/>
            <a:ext cx="2925720" cy="1554120"/>
          </a:xfrm>
          <a:prstGeom prst="roundRect">
            <a:avLst>
              <a:gd name="adj" fmla="val 4706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Shape 8"/>
          <p:cNvSpPr/>
          <p:nvPr/>
        </p:nvSpPr>
        <p:spPr>
          <a:xfrm>
            <a:off x="8138160" y="1508760"/>
            <a:ext cx="72720" cy="1554120"/>
          </a:xfrm>
          <a:prstGeom prst="rect">
            <a:avLst/>
          </a:prstGeom>
          <a:solidFill>
            <a:srgbClr val="2E7D61"/>
          </a:solidFill>
          <a:ln w="12600">
            <a:solidFill>
              <a:srgbClr val="2E7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9"/>
          <p:cNvSpPr/>
          <p:nvPr/>
        </p:nvSpPr>
        <p:spPr>
          <a:xfrm>
            <a:off x="8302680" y="1627560"/>
            <a:ext cx="2651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Pourquoi Decimal 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 10"/>
          <p:cNvSpPr/>
          <p:nvPr/>
        </p:nvSpPr>
        <p:spPr>
          <a:xfrm>
            <a:off x="8302680" y="1929240"/>
            <a:ext cx="2651400" cy="102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Pour représenter des montants avec plus de stabilité adaptée aux calculs financiers simples.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Shape 11"/>
          <p:cNvSpPr/>
          <p:nvPr/>
        </p:nvSpPr>
        <p:spPr>
          <a:xfrm>
            <a:off x="8138160" y="3337560"/>
            <a:ext cx="2925720" cy="1371240"/>
          </a:xfrm>
          <a:prstGeom prst="roundRect">
            <a:avLst>
              <a:gd name="adj" fmla="val 5333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Shape 12"/>
          <p:cNvSpPr/>
          <p:nvPr/>
        </p:nvSpPr>
        <p:spPr>
          <a:xfrm>
            <a:off x="8138160" y="3337560"/>
            <a:ext cx="72720" cy="137124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 13"/>
          <p:cNvSpPr/>
          <p:nvPr/>
        </p:nvSpPr>
        <p:spPr>
          <a:xfrm>
            <a:off x="8302680" y="3456360"/>
            <a:ext cx="2651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Variation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14"/>
          <p:cNvSpPr/>
          <p:nvPr/>
        </p:nvSpPr>
        <p:spPr>
          <a:xfrm>
            <a:off x="8302680" y="3758040"/>
            <a:ext cx="265140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Changer prixHT et tauxTVA, puis demander si TauxTVA doit rester une constante.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15"/>
          <p:cNvSpPr/>
          <p:nvPr/>
        </p:nvSpPr>
        <p:spPr>
          <a:xfrm>
            <a:off x="502920" y="653796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Visual Basic .NET • J1 • Live coding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 16"/>
          <p:cNvSpPr/>
          <p:nvPr/>
        </p:nvSpPr>
        <p:spPr>
          <a:xfrm>
            <a:off x="11384280" y="649224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23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 2"/>
          <p:cNvSpPr/>
          <p:nvPr/>
        </p:nvSpPr>
        <p:spPr>
          <a:xfrm>
            <a:off x="548640" y="25596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F6F9F"/>
                </a:solidFill>
                <a:effectLst/>
                <a:uFillTx/>
                <a:latin typeface="Aptos"/>
              </a:rPr>
              <a:t>TRUE / FALSE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 3"/>
          <p:cNvSpPr/>
          <p:nvPr/>
        </p:nvSpPr>
        <p:spPr>
          <a:xfrm>
            <a:off x="530280" y="50292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83B5A"/>
                </a:solidFill>
                <a:effectLst/>
                <a:uFillTx/>
                <a:latin typeface="Aptos"/>
              </a:rPr>
              <a:t>Comparer produit un Boolean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Shape 4"/>
          <p:cNvSpPr/>
          <p:nvPr/>
        </p:nvSpPr>
        <p:spPr>
          <a:xfrm>
            <a:off x="548640" y="987480"/>
            <a:ext cx="1142640" cy="406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Shape 5"/>
          <p:cNvSpPr/>
          <p:nvPr/>
        </p:nvSpPr>
        <p:spPr>
          <a:xfrm>
            <a:off x="914400" y="1508760"/>
            <a:ext cx="5943240" cy="2285640"/>
          </a:xfrm>
          <a:prstGeom prst="roundRect">
            <a:avLst>
              <a:gd name="adj" fmla="val 2400"/>
            </a:avLst>
          </a:prstGeom>
          <a:solidFill>
            <a:srgbClr val="17212B"/>
          </a:solidFill>
          <a:ln w="6480">
            <a:solidFill>
              <a:srgbClr val="0F17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 6"/>
          <p:cNvSpPr/>
          <p:nvPr/>
        </p:nvSpPr>
        <p:spPr>
          <a:xfrm>
            <a:off x="1078920" y="1627560"/>
            <a:ext cx="5650560" cy="208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age As Integer = 20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Console.WriteLine(age &gt;= 18)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Console.WriteLine(age = 20)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Console.WriteLine(age &lt;&gt; 20)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Shape 7"/>
          <p:cNvSpPr/>
          <p:nvPr/>
        </p:nvSpPr>
        <p:spPr>
          <a:xfrm>
            <a:off x="7315200" y="1783080"/>
            <a:ext cx="3565800" cy="1508400"/>
          </a:xfrm>
          <a:prstGeom prst="roundRect">
            <a:avLst>
              <a:gd name="adj" fmla="val 4848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Shape 8"/>
          <p:cNvSpPr/>
          <p:nvPr/>
        </p:nvSpPr>
        <p:spPr>
          <a:xfrm>
            <a:off x="7315200" y="1783080"/>
            <a:ext cx="72720" cy="1508400"/>
          </a:xfrm>
          <a:prstGeom prst="rect">
            <a:avLst/>
          </a:prstGeom>
          <a:solidFill>
            <a:srgbClr val="2F6F9F"/>
          </a:solidFill>
          <a:ln w="12600">
            <a:solidFill>
              <a:srgbClr val="2F6F9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 9"/>
          <p:cNvSpPr/>
          <p:nvPr/>
        </p:nvSpPr>
        <p:spPr>
          <a:xfrm>
            <a:off x="7479720" y="1901880"/>
            <a:ext cx="3291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À faire dire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 10"/>
          <p:cNvSpPr/>
          <p:nvPr/>
        </p:nvSpPr>
        <p:spPr>
          <a:xfrm>
            <a:off x="7479720" y="2203560"/>
            <a:ext cx="3291480" cy="97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Une comparaison ne produit pas “oui/non” en français, mais une valeur booléenne : True ou False.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 11"/>
          <p:cNvSpPr/>
          <p:nvPr/>
        </p:nvSpPr>
        <p:spPr>
          <a:xfrm>
            <a:off x="7498080" y="3749040"/>
            <a:ext cx="301716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r>
              <a:rPr lang="en-US" sz="1500" b="0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• &gt;= : supérieur ou égal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• = : égalité dans une expression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• &lt;&gt; : différent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 12"/>
          <p:cNvSpPr/>
          <p:nvPr/>
        </p:nvSpPr>
        <p:spPr>
          <a:xfrm>
            <a:off x="502920" y="653796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Visual Basic .NET • J1 • Live coding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 13"/>
          <p:cNvSpPr/>
          <p:nvPr/>
        </p:nvSpPr>
        <p:spPr>
          <a:xfrm>
            <a:off x="11384280" y="649224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24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 2"/>
          <p:cNvSpPr/>
          <p:nvPr/>
        </p:nvSpPr>
        <p:spPr>
          <a:xfrm>
            <a:off x="548640" y="25596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F6F9F"/>
                </a:solidFill>
                <a:effectLst/>
                <a:uFillTx/>
                <a:latin typeface="Aptos"/>
              </a:rPr>
              <a:t>LOGIQUE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 3"/>
          <p:cNvSpPr/>
          <p:nvPr/>
        </p:nvSpPr>
        <p:spPr>
          <a:xfrm>
            <a:off x="530280" y="50292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83B5A"/>
                </a:solidFill>
                <a:effectLst/>
                <a:uFillTx/>
                <a:latin typeface="Aptos"/>
              </a:rPr>
              <a:t>And, Or, Not : combiner des booléens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Shape 4"/>
          <p:cNvSpPr/>
          <p:nvPr/>
        </p:nvSpPr>
        <p:spPr>
          <a:xfrm>
            <a:off x="548640" y="987480"/>
            <a:ext cx="1142640" cy="406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9" name="Shape 5"/>
          <p:cNvSpPr/>
          <p:nvPr/>
        </p:nvSpPr>
        <p:spPr>
          <a:xfrm>
            <a:off x="731520" y="1325880"/>
            <a:ext cx="6400440" cy="2834280"/>
          </a:xfrm>
          <a:prstGeom prst="roundRect">
            <a:avLst>
              <a:gd name="adj" fmla="val 1935"/>
            </a:avLst>
          </a:prstGeom>
          <a:solidFill>
            <a:srgbClr val="17212B"/>
          </a:solidFill>
          <a:ln w="6480">
            <a:solidFill>
              <a:srgbClr val="0F17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 6"/>
          <p:cNvSpPr/>
          <p:nvPr/>
        </p:nvSpPr>
        <p:spPr>
          <a:xfrm>
            <a:off x="896040" y="1444680"/>
            <a:ext cx="6107760" cy="2633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age As Integer = 20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aPermis As Boolean = True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Console.WriteLine(age &gt;= 18 And aPermis)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Console.WriteLine(age &lt; 18 Or Not aPermis)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Console.WriteLine(Not (age &gt;= 18))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Shape 7"/>
          <p:cNvSpPr/>
          <p:nvPr/>
        </p:nvSpPr>
        <p:spPr>
          <a:xfrm>
            <a:off x="7589520" y="1417320"/>
            <a:ext cx="3200040" cy="776880"/>
          </a:xfrm>
          <a:prstGeom prst="roundRect">
            <a:avLst>
              <a:gd name="adj" fmla="val 9412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Shape 8"/>
          <p:cNvSpPr/>
          <p:nvPr/>
        </p:nvSpPr>
        <p:spPr>
          <a:xfrm>
            <a:off x="7589520" y="1417320"/>
            <a:ext cx="72720" cy="776880"/>
          </a:xfrm>
          <a:prstGeom prst="rect">
            <a:avLst/>
          </a:prstGeom>
          <a:solidFill>
            <a:srgbClr val="2E7D61"/>
          </a:solidFill>
          <a:ln w="12600">
            <a:solidFill>
              <a:srgbClr val="2E7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 9"/>
          <p:cNvSpPr/>
          <p:nvPr/>
        </p:nvSpPr>
        <p:spPr>
          <a:xfrm>
            <a:off x="7754040" y="15361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AND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10"/>
          <p:cNvSpPr/>
          <p:nvPr/>
        </p:nvSpPr>
        <p:spPr>
          <a:xfrm>
            <a:off x="7754040" y="1837800"/>
            <a:ext cx="29257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Vrai si les deux conditions sont vraies.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Shape 11"/>
          <p:cNvSpPr/>
          <p:nvPr/>
        </p:nvSpPr>
        <p:spPr>
          <a:xfrm>
            <a:off x="7589520" y="2468880"/>
            <a:ext cx="3200040" cy="776880"/>
          </a:xfrm>
          <a:prstGeom prst="roundRect">
            <a:avLst>
              <a:gd name="adj" fmla="val 9412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Shape 12"/>
          <p:cNvSpPr/>
          <p:nvPr/>
        </p:nvSpPr>
        <p:spPr>
          <a:xfrm>
            <a:off x="7589520" y="2468880"/>
            <a:ext cx="72720" cy="776880"/>
          </a:xfrm>
          <a:prstGeom prst="rect">
            <a:avLst/>
          </a:prstGeom>
          <a:solidFill>
            <a:srgbClr val="2F6F9F"/>
          </a:solidFill>
          <a:ln w="12600">
            <a:solidFill>
              <a:srgbClr val="2F6F9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 13"/>
          <p:cNvSpPr/>
          <p:nvPr/>
        </p:nvSpPr>
        <p:spPr>
          <a:xfrm>
            <a:off x="7754040" y="258768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OR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 14"/>
          <p:cNvSpPr/>
          <p:nvPr/>
        </p:nvSpPr>
        <p:spPr>
          <a:xfrm>
            <a:off x="7754040" y="2889360"/>
            <a:ext cx="29257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Vrai si au moins une condition est vraie.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Shape 15"/>
          <p:cNvSpPr/>
          <p:nvPr/>
        </p:nvSpPr>
        <p:spPr>
          <a:xfrm>
            <a:off x="7589520" y="3520440"/>
            <a:ext cx="3200040" cy="776880"/>
          </a:xfrm>
          <a:prstGeom prst="roundRect">
            <a:avLst>
              <a:gd name="adj" fmla="val 9412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Shape 16"/>
          <p:cNvSpPr/>
          <p:nvPr/>
        </p:nvSpPr>
        <p:spPr>
          <a:xfrm>
            <a:off x="7589520" y="3520440"/>
            <a:ext cx="72720" cy="7768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1" name="Text 17"/>
          <p:cNvSpPr/>
          <p:nvPr/>
        </p:nvSpPr>
        <p:spPr>
          <a:xfrm>
            <a:off x="7754040" y="363924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NOT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Text 18"/>
          <p:cNvSpPr/>
          <p:nvPr/>
        </p:nvSpPr>
        <p:spPr>
          <a:xfrm>
            <a:off x="7754040" y="3940920"/>
            <a:ext cx="29257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Inverse True et False.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 19"/>
          <p:cNvSpPr/>
          <p:nvPr/>
        </p:nvSpPr>
        <p:spPr>
          <a:xfrm>
            <a:off x="1097280" y="5349240"/>
            <a:ext cx="9875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Transition : demain, ces booléens piloteront If et Select Case.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Text 20"/>
          <p:cNvSpPr/>
          <p:nvPr/>
        </p:nvSpPr>
        <p:spPr>
          <a:xfrm>
            <a:off x="502920" y="653796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Visual Basic .NET • J1 • Live coding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Text 21"/>
          <p:cNvSpPr/>
          <p:nvPr/>
        </p:nvSpPr>
        <p:spPr>
          <a:xfrm>
            <a:off x="11384280" y="649224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25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8" name="Text 2"/>
          <p:cNvSpPr/>
          <p:nvPr/>
        </p:nvSpPr>
        <p:spPr>
          <a:xfrm>
            <a:off x="548640" y="25596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F6F9F"/>
                </a:solidFill>
                <a:effectLst/>
                <a:uFillTx/>
                <a:latin typeface="Aptos"/>
              </a:rPr>
              <a:t>CONFUSION CLASSIQUE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Text 3"/>
          <p:cNvSpPr/>
          <p:nvPr/>
        </p:nvSpPr>
        <p:spPr>
          <a:xfrm>
            <a:off x="530280" y="50292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83B5A"/>
                </a:solidFill>
                <a:effectLst/>
                <a:uFillTx/>
                <a:latin typeface="Aptos"/>
              </a:rPr>
              <a:t>Affectation versus égalité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Shape 4"/>
          <p:cNvSpPr/>
          <p:nvPr/>
        </p:nvSpPr>
        <p:spPr>
          <a:xfrm>
            <a:off x="548640" y="987480"/>
            <a:ext cx="1142640" cy="406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1" name="Shape 5"/>
          <p:cNvSpPr/>
          <p:nvPr/>
        </p:nvSpPr>
        <p:spPr>
          <a:xfrm>
            <a:off x="914400" y="1554480"/>
            <a:ext cx="7497720" cy="1508400"/>
          </a:xfrm>
          <a:prstGeom prst="roundRect">
            <a:avLst>
              <a:gd name="adj" fmla="val 3636"/>
            </a:avLst>
          </a:prstGeom>
          <a:solidFill>
            <a:srgbClr val="17212B"/>
          </a:solidFill>
          <a:ln w="6480">
            <a:solidFill>
              <a:srgbClr val="0F17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 6"/>
          <p:cNvSpPr/>
          <p:nvPr/>
        </p:nvSpPr>
        <p:spPr>
          <a:xfrm>
            <a:off x="1078920" y="1673280"/>
            <a:ext cx="7205040" cy="130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age As Integer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age = 25                    ' affectation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Console.WriteLine(age = 25)  ' comparaison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Shape 7"/>
          <p:cNvSpPr/>
          <p:nvPr/>
        </p:nvSpPr>
        <p:spPr>
          <a:xfrm>
            <a:off x="8823960" y="1600200"/>
            <a:ext cx="2239920" cy="1919880"/>
          </a:xfrm>
          <a:prstGeom prst="roundRect">
            <a:avLst>
              <a:gd name="adj" fmla="val 3810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Shape 8"/>
          <p:cNvSpPr/>
          <p:nvPr/>
        </p:nvSpPr>
        <p:spPr>
          <a:xfrm>
            <a:off x="8823960" y="1600200"/>
            <a:ext cx="72720" cy="19198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 9"/>
          <p:cNvSpPr/>
          <p:nvPr/>
        </p:nvSpPr>
        <p:spPr>
          <a:xfrm>
            <a:off x="8988480" y="1719000"/>
            <a:ext cx="1965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Règle simple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 10"/>
          <p:cNvSpPr/>
          <p:nvPr/>
        </p:nvSpPr>
        <p:spPr>
          <a:xfrm>
            <a:off x="8988480" y="2020680"/>
            <a:ext cx="1965600" cy="138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À gauche d’une affectation : l’endroit où ranger la valeur.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Dans une expression : une question qui produit True/False.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Shape 11"/>
          <p:cNvSpPr/>
          <p:nvPr/>
        </p:nvSpPr>
        <p:spPr>
          <a:xfrm>
            <a:off x="1005840" y="4023360"/>
            <a:ext cx="2424960" cy="475200"/>
          </a:xfrm>
          <a:prstGeom prst="roundRect">
            <a:avLst>
              <a:gd name="adj" fmla="val 11538"/>
            </a:avLst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8" name="Text 12"/>
          <p:cNvSpPr/>
          <p:nvPr/>
        </p:nvSpPr>
        <p:spPr>
          <a:xfrm>
            <a:off x="1042560" y="4178880"/>
            <a:ext cx="23518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age = 25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Shape 13"/>
          <p:cNvSpPr/>
          <p:nvPr/>
        </p:nvSpPr>
        <p:spPr>
          <a:xfrm>
            <a:off x="3449520" y="4242600"/>
            <a:ext cx="82080" cy="360"/>
          </a:xfrm>
          <a:prstGeom prst="line">
            <a:avLst/>
          </a:prstGeom>
          <a:ln w="15120">
            <a:solidFill>
              <a:srgbClr val="9FB6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Shape 14"/>
          <p:cNvSpPr/>
          <p:nvPr/>
        </p:nvSpPr>
        <p:spPr>
          <a:xfrm>
            <a:off x="3550320" y="4023360"/>
            <a:ext cx="2424960" cy="475200"/>
          </a:xfrm>
          <a:prstGeom prst="roundRect">
            <a:avLst>
              <a:gd name="adj" fmla="val 11538"/>
            </a:avLst>
          </a:prstGeom>
          <a:solidFill>
            <a:srgbClr val="F5F8FA"/>
          </a:solidFill>
          <a:ln w="12600">
            <a:solidFill>
              <a:srgbClr val="D5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Text 15"/>
          <p:cNvSpPr/>
          <p:nvPr/>
        </p:nvSpPr>
        <p:spPr>
          <a:xfrm>
            <a:off x="3586680" y="4178880"/>
            <a:ext cx="23518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modifie la variable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Shape 16"/>
          <p:cNvSpPr/>
          <p:nvPr/>
        </p:nvSpPr>
        <p:spPr>
          <a:xfrm>
            <a:off x="5993640" y="4242600"/>
            <a:ext cx="82440" cy="360"/>
          </a:xfrm>
          <a:prstGeom prst="line">
            <a:avLst/>
          </a:prstGeom>
          <a:ln w="15120">
            <a:solidFill>
              <a:srgbClr val="9FB6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Shape 17"/>
          <p:cNvSpPr/>
          <p:nvPr/>
        </p:nvSpPr>
        <p:spPr>
          <a:xfrm>
            <a:off x="6094440" y="4023360"/>
            <a:ext cx="2424960" cy="475200"/>
          </a:xfrm>
          <a:prstGeom prst="roundRect">
            <a:avLst>
              <a:gd name="adj" fmla="val 11538"/>
            </a:avLst>
          </a:prstGeom>
          <a:solidFill>
            <a:srgbClr val="F5F8FA"/>
          </a:solidFill>
          <a:ln w="12600">
            <a:solidFill>
              <a:srgbClr val="D5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Text 18"/>
          <p:cNvSpPr/>
          <p:nvPr/>
        </p:nvSpPr>
        <p:spPr>
          <a:xfrm>
            <a:off x="6131160" y="4178880"/>
            <a:ext cx="23518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age = 25 dans WriteLine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Shape 19"/>
          <p:cNvSpPr/>
          <p:nvPr/>
        </p:nvSpPr>
        <p:spPr>
          <a:xfrm>
            <a:off x="8538120" y="4242600"/>
            <a:ext cx="82080" cy="360"/>
          </a:xfrm>
          <a:prstGeom prst="line">
            <a:avLst/>
          </a:prstGeom>
          <a:ln w="15120">
            <a:solidFill>
              <a:srgbClr val="9FB6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Shape 20"/>
          <p:cNvSpPr/>
          <p:nvPr/>
        </p:nvSpPr>
        <p:spPr>
          <a:xfrm>
            <a:off x="8638920" y="4023360"/>
            <a:ext cx="2424960" cy="475200"/>
          </a:xfrm>
          <a:prstGeom prst="roundRect">
            <a:avLst>
              <a:gd name="adj" fmla="val 11538"/>
            </a:avLst>
          </a:prstGeom>
          <a:solidFill>
            <a:srgbClr val="2E7D61"/>
          </a:solidFill>
          <a:ln w="12600">
            <a:solidFill>
              <a:srgbClr val="2E7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7" name="Text 21"/>
          <p:cNvSpPr/>
          <p:nvPr/>
        </p:nvSpPr>
        <p:spPr>
          <a:xfrm>
            <a:off x="8675280" y="4178880"/>
            <a:ext cx="23518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produit True/False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 22"/>
          <p:cNvSpPr/>
          <p:nvPr/>
        </p:nvSpPr>
        <p:spPr>
          <a:xfrm>
            <a:off x="502920" y="653796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Visual Basic .NET • J1 • Live coding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 23"/>
          <p:cNvSpPr/>
          <p:nvPr/>
        </p:nvSpPr>
        <p:spPr>
          <a:xfrm>
            <a:off x="11384280" y="649224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26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2" name="Text 2"/>
          <p:cNvSpPr/>
          <p:nvPr/>
        </p:nvSpPr>
        <p:spPr>
          <a:xfrm>
            <a:off x="548640" y="25596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F6F9F"/>
                </a:solidFill>
                <a:effectLst/>
                <a:uFillTx/>
                <a:latin typeface="Aptos"/>
              </a:rPr>
              <a:t>LISIBILITÉ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 3"/>
          <p:cNvSpPr/>
          <p:nvPr/>
        </p:nvSpPr>
        <p:spPr>
          <a:xfrm>
            <a:off x="530280" y="50292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83B5A"/>
                </a:solidFill>
                <a:effectLst/>
                <a:uFillTx/>
                <a:latin typeface="Aptos"/>
              </a:rPr>
              <a:t>Un code peut fonctionner et rester difficile à lire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Shape 4"/>
          <p:cNvSpPr/>
          <p:nvPr/>
        </p:nvSpPr>
        <p:spPr>
          <a:xfrm>
            <a:off x="548640" y="987480"/>
            <a:ext cx="1142640" cy="406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5" name="Shape 5"/>
          <p:cNvSpPr/>
          <p:nvPr/>
        </p:nvSpPr>
        <p:spPr>
          <a:xfrm>
            <a:off x="777240" y="1417320"/>
            <a:ext cx="4663080" cy="2011320"/>
          </a:xfrm>
          <a:prstGeom prst="roundRect">
            <a:avLst>
              <a:gd name="adj" fmla="val 2727"/>
            </a:avLst>
          </a:prstGeom>
          <a:solidFill>
            <a:srgbClr val="17212B"/>
          </a:solidFill>
          <a:ln w="6480">
            <a:solidFill>
              <a:srgbClr val="0F17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 6"/>
          <p:cNvSpPr/>
          <p:nvPr/>
        </p:nvSpPr>
        <p:spPr>
          <a:xfrm>
            <a:off x="941760" y="1536120"/>
            <a:ext cx="4370400" cy="181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x As Decimal=100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y As Decimal=0.2D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z=x*(1+y)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Console.WriteLine("r=" &amp; z)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Shape 7"/>
          <p:cNvSpPr/>
          <p:nvPr/>
        </p:nvSpPr>
        <p:spPr>
          <a:xfrm>
            <a:off x="5715000" y="2423160"/>
            <a:ext cx="822960" cy="360"/>
          </a:xfrm>
          <a:prstGeom prst="line">
            <a:avLst/>
          </a:prstGeom>
          <a:ln w="17640">
            <a:solidFill>
              <a:srgbClr val="9FB6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Shape 8"/>
          <p:cNvSpPr/>
          <p:nvPr/>
        </p:nvSpPr>
        <p:spPr>
          <a:xfrm>
            <a:off x="6720840" y="1280160"/>
            <a:ext cx="4754520" cy="2285640"/>
          </a:xfrm>
          <a:prstGeom prst="roundRect">
            <a:avLst>
              <a:gd name="adj" fmla="val 2400"/>
            </a:avLst>
          </a:prstGeom>
          <a:solidFill>
            <a:srgbClr val="17212B"/>
          </a:solidFill>
          <a:ln w="6480">
            <a:solidFill>
              <a:srgbClr val="0F17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9" name="Text 9"/>
          <p:cNvSpPr/>
          <p:nvPr/>
        </p:nvSpPr>
        <p:spPr>
          <a:xfrm>
            <a:off x="6885360" y="1398960"/>
            <a:ext cx="4461840" cy="208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8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prixHT As Decimal = 100D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8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Const tauxTVA As Decimal = 0.2D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8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prixTTC As Decimal = prixHT * (1D + tauxTVA)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8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Console.WriteLine("Prix TTC : " &amp; prixTTC &amp; " €")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Shape 10"/>
          <p:cNvSpPr/>
          <p:nvPr/>
        </p:nvSpPr>
        <p:spPr>
          <a:xfrm>
            <a:off x="1828800" y="4526280"/>
            <a:ext cx="8503560" cy="914040"/>
          </a:xfrm>
          <a:prstGeom prst="roundRect">
            <a:avLst>
              <a:gd name="adj" fmla="val 8000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Shape 11"/>
          <p:cNvSpPr/>
          <p:nvPr/>
        </p:nvSpPr>
        <p:spPr>
          <a:xfrm>
            <a:off x="1828800" y="4526280"/>
            <a:ext cx="72720" cy="914040"/>
          </a:xfrm>
          <a:prstGeom prst="rect">
            <a:avLst/>
          </a:prstGeom>
          <a:solidFill>
            <a:srgbClr val="2E7D61"/>
          </a:solidFill>
          <a:ln w="12600">
            <a:solidFill>
              <a:srgbClr val="2E7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 12"/>
          <p:cNvSpPr/>
          <p:nvPr/>
        </p:nvSpPr>
        <p:spPr>
          <a:xfrm>
            <a:off x="1993320" y="464508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Question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 13"/>
          <p:cNvSpPr/>
          <p:nvPr/>
        </p:nvSpPr>
        <p:spPr>
          <a:xfrm>
            <a:off x="1993320" y="4946760"/>
            <a:ext cx="82292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Le comportement change-t-il ?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Pourquoi la seconde version est-elle plus facile à relire ?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Text 14"/>
          <p:cNvSpPr/>
          <p:nvPr/>
        </p:nvSpPr>
        <p:spPr>
          <a:xfrm>
            <a:off x="502920" y="653796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Visual Basic .NET • J1 • Live coding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 15"/>
          <p:cNvSpPr/>
          <p:nvPr/>
        </p:nvSpPr>
        <p:spPr>
          <a:xfrm>
            <a:off x="11384280" y="649224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27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8" name="Text 2"/>
          <p:cNvSpPr/>
          <p:nvPr/>
        </p:nvSpPr>
        <p:spPr>
          <a:xfrm>
            <a:off x="548640" y="25596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F6F9F"/>
                </a:solidFill>
                <a:effectLst/>
                <a:uFillTx/>
                <a:latin typeface="Aptos"/>
              </a:rPr>
              <a:t>HABITUDES À INSTALLER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Text 3"/>
          <p:cNvSpPr/>
          <p:nvPr/>
        </p:nvSpPr>
        <p:spPr>
          <a:xfrm>
            <a:off x="530280" y="50292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83B5A"/>
                </a:solidFill>
                <a:effectLst/>
                <a:uFillTx/>
                <a:latin typeface="Aptos"/>
              </a:rPr>
              <a:t>Checklist de lisibilité J1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Shape 4"/>
          <p:cNvSpPr/>
          <p:nvPr/>
        </p:nvSpPr>
        <p:spPr>
          <a:xfrm>
            <a:off x="548640" y="987480"/>
            <a:ext cx="1142640" cy="406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1" name="Text 5"/>
          <p:cNvSpPr/>
          <p:nvPr/>
        </p:nvSpPr>
        <p:spPr>
          <a:xfrm>
            <a:off x="822960" y="1325880"/>
            <a:ext cx="566892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r>
              <a:rPr lang="en-US" sz="1700" b="0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• Nommer les variables d’après leur rôle.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• Mettre des espaces autour des opérateurs.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• Indenter automatiquement les blocs.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• Éviter les abréviations opaques.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• Utiliser Const pour une valeur fixe significative.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• Commenter le pourquoi plutôt que le quoi.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• Exécuter après une refactorisation.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Shape 6"/>
          <p:cNvSpPr/>
          <p:nvPr/>
        </p:nvSpPr>
        <p:spPr>
          <a:xfrm>
            <a:off x="7086600" y="1508760"/>
            <a:ext cx="3748680" cy="1188360"/>
          </a:xfrm>
          <a:prstGeom prst="roundRect">
            <a:avLst>
              <a:gd name="adj" fmla="val 6154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Shape 7"/>
          <p:cNvSpPr/>
          <p:nvPr/>
        </p:nvSpPr>
        <p:spPr>
          <a:xfrm>
            <a:off x="7086600" y="1508760"/>
            <a:ext cx="72720" cy="1188360"/>
          </a:xfrm>
          <a:prstGeom prst="rect">
            <a:avLst/>
          </a:prstGeom>
          <a:solidFill>
            <a:srgbClr val="2E7D61"/>
          </a:solidFill>
          <a:ln w="12600">
            <a:solidFill>
              <a:srgbClr val="2E7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4" name="Text 8"/>
          <p:cNvSpPr/>
          <p:nvPr/>
        </p:nvSpPr>
        <p:spPr>
          <a:xfrm>
            <a:off x="7251120" y="1627560"/>
            <a:ext cx="3474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Commentaire utile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Text 9"/>
          <p:cNvSpPr/>
          <p:nvPr/>
        </p:nvSpPr>
        <p:spPr>
          <a:xfrm>
            <a:off x="7251120" y="1929240"/>
            <a:ext cx="347436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Explique une intention, une règle métier ou une raison non évidente.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Shape 10"/>
          <p:cNvSpPr/>
          <p:nvPr/>
        </p:nvSpPr>
        <p:spPr>
          <a:xfrm>
            <a:off x="6949440" y="3154680"/>
            <a:ext cx="4023000" cy="685440"/>
          </a:xfrm>
          <a:prstGeom prst="roundRect">
            <a:avLst>
              <a:gd name="adj" fmla="val 8000"/>
            </a:avLst>
          </a:prstGeom>
          <a:solidFill>
            <a:srgbClr val="17212B"/>
          </a:solidFill>
          <a:ln w="6480">
            <a:solidFill>
              <a:srgbClr val="0F17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7" name="Text 11"/>
          <p:cNvSpPr/>
          <p:nvPr/>
        </p:nvSpPr>
        <p:spPr>
          <a:xfrm>
            <a:off x="7113960" y="3273480"/>
            <a:ext cx="3730320" cy="48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Const TauxTVA As Decimal = 0.2D  ' Taux utilisé pour l'exercice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Text 12"/>
          <p:cNvSpPr/>
          <p:nvPr/>
        </p:nvSpPr>
        <p:spPr>
          <a:xfrm>
            <a:off x="914400" y="5532120"/>
            <a:ext cx="10149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Refactoriser = améliorer la structure sans changer le comportement.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Text 13"/>
          <p:cNvSpPr/>
          <p:nvPr/>
        </p:nvSpPr>
        <p:spPr>
          <a:xfrm>
            <a:off x="502920" y="653796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Visual Basic .NET • J1 • Live coding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Text 14"/>
          <p:cNvSpPr/>
          <p:nvPr/>
        </p:nvSpPr>
        <p:spPr>
          <a:xfrm>
            <a:off x="11384280" y="649224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28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3" name="Text 2"/>
          <p:cNvSpPr/>
          <p:nvPr/>
        </p:nvSpPr>
        <p:spPr>
          <a:xfrm>
            <a:off x="548640" y="25596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F6F9F"/>
                </a:solidFill>
                <a:effectLst/>
                <a:uFillTx/>
                <a:latin typeface="Aptos"/>
              </a:rPr>
              <a:t>MINI-DÉFI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Text 3"/>
          <p:cNvSpPr/>
          <p:nvPr/>
        </p:nvSpPr>
        <p:spPr>
          <a:xfrm>
            <a:off x="530280" y="50292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83B5A"/>
                </a:solidFill>
                <a:effectLst/>
                <a:uFillTx/>
                <a:latin typeface="Aptos"/>
              </a:rPr>
              <a:t>Nommage : atelier de renommage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Shape 4"/>
          <p:cNvSpPr/>
          <p:nvPr/>
        </p:nvSpPr>
        <p:spPr>
          <a:xfrm>
            <a:off x="548640" y="987480"/>
            <a:ext cx="1142640" cy="406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6" name="Shape 5"/>
          <p:cNvSpPr/>
          <p:nvPr/>
        </p:nvSpPr>
        <p:spPr>
          <a:xfrm>
            <a:off x="868680" y="1417320"/>
            <a:ext cx="4845960" cy="1416960"/>
          </a:xfrm>
          <a:prstGeom prst="roundRect">
            <a:avLst>
              <a:gd name="adj" fmla="val 3871"/>
            </a:avLst>
          </a:prstGeom>
          <a:solidFill>
            <a:srgbClr val="17212B"/>
          </a:solidFill>
          <a:ln w="6480">
            <a:solidFill>
              <a:srgbClr val="0F17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7" name="Text 6"/>
          <p:cNvSpPr/>
          <p:nvPr/>
        </p:nvSpPr>
        <p:spPr>
          <a:xfrm>
            <a:off x="1033200" y="1536120"/>
            <a:ext cx="4553280" cy="121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a As String = "Nora"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b As String = "0612345678"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c As Boolean = True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Shape 7"/>
          <p:cNvSpPr/>
          <p:nvPr/>
        </p:nvSpPr>
        <p:spPr>
          <a:xfrm>
            <a:off x="5943600" y="2011680"/>
            <a:ext cx="822960" cy="360"/>
          </a:xfrm>
          <a:prstGeom prst="line">
            <a:avLst/>
          </a:prstGeom>
          <a:ln w="17640">
            <a:solidFill>
              <a:srgbClr val="9FB6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Shape 8"/>
          <p:cNvSpPr/>
          <p:nvPr/>
        </p:nvSpPr>
        <p:spPr>
          <a:xfrm>
            <a:off x="6949440" y="1417320"/>
            <a:ext cx="4663080" cy="1416960"/>
          </a:xfrm>
          <a:prstGeom prst="roundRect">
            <a:avLst>
              <a:gd name="adj" fmla="val 3871"/>
            </a:avLst>
          </a:prstGeom>
          <a:solidFill>
            <a:srgbClr val="17212B"/>
          </a:solidFill>
          <a:ln w="6480">
            <a:solidFill>
              <a:srgbClr val="0F17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0" name="Text 9"/>
          <p:cNvSpPr/>
          <p:nvPr/>
        </p:nvSpPr>
        <p:spPr>
          <a:xfrm>
            <a:off x="7113960" y="1536120"/>
            <a:ext cx="4370400" cy="121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nom As String = "Nora"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telephone As String = "0612345678"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estActif As Boolean = True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Shape 10"/>
          <p:cNvSpPr/>
          <p:nvPr/>
        </p:nvSpPr>
        <p:spPr>
          <a:xfrm>
            <a:off x="2011680" y="3657600"/>
            <a:ext cx="8046360" cy="1096920"/>
          </a:xfrm>
          <a:prstGeom prst="roundRect">
            <a:avLst>
              <a:gd name="adj" fmla="val 6667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Shape 11"/>
          <p:cNvSpPr/>
          <p:nvPr/>
        </p:nvSpPr>
        <p:spPr>
          <a:xfrm>
            <a:off x="2011680" y="3657600"/>
            <a:ext cx="72720" cy="1096920"/>
          </a:xfrm>
          <a:prstGeom prst="rect">
            <a:avLst/>
          </a:prstGeom>
          <a:solidFill>
            <a:srgbClr val="2F6F9F"/>
          </a:solidFill>
          <a:ln w="12600">
            <a:solidFill>
              <a:srgbClr val="2F6F9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3" name="Text 12"/>
          <p:cNvSpPr/>
          <p:nvPr/>
        </p:nvSpPr>
        <p:spPr>
          <a:xfrm>
            <a:off x="2176200" y="3776400"/>
            <a:ext cx="7772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Règle de décision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Text 13"/>
          <p:cNvSpPr/>
          <p:nvPr/>
        </p:nvSpPr>
        <p:spPr>
          <a:xfrm>
            <a:off x="2176200" y="4078080"/>
            <a:ext cx="777204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Un bon nom permet de comprendre la donnée sans relire tout le programme.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Text 14"/>
          <p:cNvSpPr/>
          <p:nvPr/>
        </p:nvSpPr>
        <p:spPr>
          <a:xfrm>
            <a:off x="502920" y="653796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Visual Basic .NET • J1 • Live coding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Text 15"/>
          <p:cNvSpPr/>
          <p:nvPr/>
        </p:nvSpPr>
        <p:spPr>
          <a:xfrm>
            <a:off x="11384280" y="649224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29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9" name="Text 2"/>
          <p:cNvSpPr/>
          <p:nvPr/>
        </p:nvSpPr>
        <p:spPr>
          <a:xfrm>
            <a:off x="548640" y="25596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F6F9F"/>
                </a:solidFill>
                <a:effectLst/>
                <a:uFillTx/>
                <a:latin typeface="Aptos"/>
              </a:rPr>
              <a:t>BESOIN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Text 3"/>
          <p:cNvSpPr/>
          <p:nvPr/>
        </p:nvSpPr>
        <p:spPr>
          <a:xfrm>
            <a:off x="530280" y="50292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83B5A"/>
                </a:solidFill>
                <a:effectLst/>
                <a:uFillTx/>
                <a:latin typeface="Aptos"/>
              </a:rPr>
              <a:t>Fil rouge : première fiche Contact en console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Shape 4"/>
          <p:cNvSpPr/>
          <p:nvPr/>
        </p:nvSpPr>
        <p:spPr>
          <a:xfrm>
            <a:off x="548640" y="987480"/>
            <a:ext cx="1142640" cy="406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2" name="Shape 5"/>
          <p:cNvSpPr/>
          <p:nvPr/>
        </p:nvSpPr>
        <p:spPr>
          <a:xfrm>
            <a:off x="868680" y="1417320"/>
            <a:ext cx="2925720" cy="914040"/>
          </a:xfrm>
          <a:prstGeom prst="roundRect">
            <a:avLst>
              <a:gd name="adj" fmla="val 8000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Shape 6"/>
          <p:cNvSpPr/>
          <p:nvPr/>
        </p:nvSpPr>
        <p:spPr>
          <a:xfrm>
            <a:off x="868680" y="1417320"/>
            <a:ext cx="72720" cy="914040"/>
          </a:xfrm>
          <a:prstGeom prst="rect">
            <a:avLst/>
          </a:prstGeom>
          <a:solidFill>
            <a:srgbClr val="2F6F9F"/>
          </a:solidFill>
          <a:ln w="12600">
            <a:solidFill>
              <a:srgbClr val="2F6F9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4" name="Text 7"/>
          <p:cNvSpPr/>
          <p:nvPr/>
        </p:nvSpPr>
        <p:spPr>
          <a:xfrm>
            <a:off x="1033200" y="1536120"/>
            <a:ext cx="2651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Données minimales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Text 8"/>
          <p:cNvSpPr/>
          <p:nvPr/>
        </p:nvSpPr>
        <p:spPr>
          <a:xfrm>
            <a:off x="1033200" y="1837800"/>
            <a:ext cx="2651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Nom, téléphone, email.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Shape 9"/>
          <p:cNvSpPr/>
          <p:nvPr/>
        </p:nvSpPr>
        <p:spPr>
          <a:xfrm>
            <a:off x="4617720" y="1417320"/>
            <a:ext cx="2925720" cy="914040"/>
          </a:xfrm>
          <a:prstGeom prst="roundRect">
            <a:avLst>
              <a:gd name="adj" fmla="val 8000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Shape 10"/>
          <p:cNvSpPr/>
          <p:nvPr/>
        </p:nvSpPr>
        <p:spPr>
          <a:xfrm>
            <a:off x="4617720" y="1417320"/>
            <a:ext cx="72720" cy="914040"/>
          </a:xfrm>
          <a:prstGeom prst="rect">
            <a:avLst/>
          </a:prstGeom>
          <a:solidFill>
            <a:srgbClr val="2E7D61"/>
          </a:solidFill>
          <a:ln w="12600">
            <a:solidFill>
              <a:srgbClr val="2E7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8" name="Text 11"/>
          <p:cNvSpPr/>
          <p:nvPr/>
        </p:nvSpPr>
        <p:spPr>
          <a:xfrm>
            <a:off x="4782240" y="1536120"/>
            <a:ext cx="2651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Important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Text 12"/>
          <p:cNvSpPr/>
          <p:nvPr/>
        </p:nvSpPr>
        <p:spPr>
          <a:xfrm>
            <a:off x="4782240" y="1837800"/>
            <a:ext cx="2651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Téléphone en String : on ne calcule pas avec un numéro ; il peut commencer par zéro.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Shape 13"/>
          <p:cNvSpPr/>
          <p:nvPr/>
        </p:nvSpPr>
        <p:spPr>
          <a:xfrm>
            <a:off x="8366760" y="1417320"/>
            <a:ext cx="2925720" cy="914040"/>
          </a:xfrm>
          <a:prstGeom prst="roundRect">
            <a:avLst>
              <a:gd name="adj" fmla="val 8000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Shape 14"/>
          <p:cNvSpPr/>
          <p:nvPr/>
        </p:nvSpPr>
        <p:spPr>
          <a:xfrm>
            <a:off x="8366760" y="1417320"/>
            <a:ext cx="72720" cy="91404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2" name="Text 15"/>
          <p:cNvSpPr/>
          <p:nvPr/>
        </p:nvSpPr>
        <p:spPr>
          <a:xfrm>
            <a:off x="8531280" y="1536120"/>
            <a:ext cx="2651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Limite J1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Text 16"/>
          <p:cNvSpPr/>
          <p:nvPr/>
        </p:nvSpPr>
        <p:spPr>
          <a:xfrm>
            <a:off x="8531280" y="1837800"/>
            <a:ext cx="2651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Pas encore de classe Contact, pas encore de boucle ni de If complet.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Shape 17"/>
          <p:cNvSpPr/>
          <p:nvPr/>
        </p:nvSpPr>
        <p:spPr>
          <a:xfrm>
            <a:off x="2011680" y="2926080"/>
            <a:ext cx="8046360" cy="2377080"/>
          </a:xfrm>
          <a:prstGeom prst="roundRect">
            <a:avLst>
              <a:gd name="adj" fmla="val 2308"/>
            </a:avLst>
          </a:prstGeom>
          <a:solidFill>
            <a:srgbClr val="17212B"/>
          </a:solidFill>
          <a:ln w="6480">
            <a:solidFill>
              <a:srgbClr val="0F17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5" name="Text 18"/>
          <p:cNvSpPr/>
          <p:nvPr/>
        </p:nvSpPr>
        <p:spPr>
          <a:xfrm>
            <a:off x="2176200" y="3044880"/>
            <a:ext cx="7753680" cy="217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DÉBUT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Demander le nom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Lire le nom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Demander le téléphone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Lire le téléphone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Demander l'email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Lire l'email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Afficher une fiche propre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FIN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Text 19"/>
          <p:cNvSpPr/>
          <p:nvPr/>
        </p:nvSpPr>
        <p:spPr>
          <a:xfrm>
            <a:off x="502920" y="653796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Visual Basic .NET • J1 • Live coding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Text 20"/>
          <p:cNvSpPr/>
          <p:nvPr/>
        </p:nvSpPr>
        <p:spPr>
          <a:xfrm>
            <a:off x="11384280" y="649224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30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0" name="Text 2"/>
          <p:cNvSpPr/>
          <p:nvPr/>
        </p:nvSpPr>
        <p:spPr>
          <a:xfrm>
            <a:off x="548640" y="25596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F6F9F"/>
                </a:solidFill>
                <a:effectLst/>
                <a:uFillTx/>
                <a:latin typeface="Aptos"/>
              </a:rPr>
              <a:t>LIVE CODING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Text 3"/>
          <p:cNvSpPr/>
          <p:nvPr/>
        </p:nvSpPr>
        <p:spPr>
          <a:xfrm>
            <a:off x="530280" y="50292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83B5A"/>
                </a:solidFill>
                <a:effectLst/>
                <a:uFillTx/>
                <a:latin typeface="Aptos"/>
              </a:rPr>
              <a:t>Contact Console : construction progressive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Shape 4"/>
          <p:cNvSpPr/>
          <p:nvPr/>
        </p:nvSpPr>
        <p:spPr>
          <a:xfrm>
            <a:off x="548640" y="987480"/>
            <a:ext cx="1142640" cy="406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3" name="Shape 5"/>
          <p:cNvSpPr/>
          <p:nvPr/>
        </p:nvSpPr>
        <p:spPr>
          <a:xfrm>
            <a:off x="777240" y="1325880"/>
            <a:ext cx="5028840" cy="1234080"/>
          </a:xfrm>
          <a:prstGeom prst="roundRect">
            <a:avLst>
              <a:gd name="adj" fmla="val 4444"/>
            </a:avLst>
          </a:prstGeom>
          <a:solidFill>
            <a:srgbClr val="17212B"/>
          </a:solidFill>
          <a:ln w="6480">
            <a:solidFill>
              <a:srgbClr val="0F17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4" name="Text 6"/>
          <p:cNvSpPr/>
          <p:nvPr/>
        </p:nvSpPr>
        <p:spPr>
          <a:xfrm>
            <a:off x="941760" y="1444680"/>
            <a:ext cx="4736160" cy="103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Console.Write("Nom : ")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nom As String = Console.ReadLine()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Console.WriteLine("Contact : " &amp; nom)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Shape 7"/>
          <p:cNvSpPr/>
          <p:nvPr/>
        </p:nvSpPr>
        <p:spPr>
          <a:xfrm>
            <a:off x="777240" y="2834640"/>
            <a:ext cx="5028840" cy="868320"/>
          </a:xfrm>
          <a:prstGeom prst="roundRect">
            <a:avLst>
              <a:gd name="adj" fmla="val 6316"/>
            </a:avLst>
          </a:prstGeom>
          <a:solidFill>
            <a:srgbClr val="17212B"/>
          </a:solidFill>
          <a:ln w="6480">
            <a:solidFill>
              <a:srgbClr val="0F17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6" name="Text 8"/>
          <p:cNvSpPr/>
          <p:nvPr/>
        </p:nvSpPr>
        <p:spPr>
          <a:xfrm>
            <a:off x="941760" y="2953440"/>
            <a:ext cx="4736160" cy="66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Console.Write("Téléphone : ")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telephone As String = Console.ReadLine()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Shape 9"/>
          <p:cNvSpPr/>
          <p:nvPr/>
        </p:nvSpPr>
        <p:spPr>
          <a:xfrm>
            <a:off x="6263640" y="1325880"/>
            <a:ext cx="5120280" cy="2697120"/>
          </a:xfrm>
          <a:prstGeom prst="roundRect">
            <a:avLst>
              <a:gd name="adj" fmla="val 2034"/>
            </a:avLst>
          </a:prstGeom>
          <a:solidFill>
            <a:srgbClr val="17212B"/>
          </a:solidFill>
          <a:ln w="6480">
            <a:solidFill>
              <a:srgbClr val="0F17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8" name="Text 10"/>
          <p:cNvSpPr/>
          <p:nvPr/>
        </p:nvSpPr>
        <p:spPr>
          <a:xfrm>
            <a:off x="6428160" y="1444680"/>
            <a:ext cx="4827600" cy="249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Console.Write("Email : ")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email As String = Console.ReadLine()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Console.WriteLine("--- FICHE CONTACT ---")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Console.WriteLine("Nom       : " &amp; nom)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Console.WriteLine("Téléphone : " &amp; telephone)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Console.WriteLine("Email     : " &amp; email)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Shape 11"/>
          <p:cNvSpPr/>
          <p:nvPr/>
        </p:nvSpPr>
        <p:spPr>
          <a:xfrm>
            <a:off x="2926080" y="4617720"/>
            <a:ext cx="6309000" cy="959760"/>
          </a:xfrm>
          <a:prstGeom prst="roundRect">
            <a:avLst>
              <a:gd name="adj" fmla="val 7619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Shape 12"/>
          <p:cNvSpPr/>
          <p:nvPr/>
        </p:nvSpPr>
        <p:spPr>
          <a:xfrm>
            <a:off x="2926080" y="4617720"/>
            <a:ext cx="72720" cy="959760"/>
          </a:xfrm>
          <a:prstGeom prst="rect">
            <a:avLst/>
          </a:prstGeom>
          <a:solidFill>
            <a:srgbClr val="2E7D61"/>
          </a:solidFill>
          <a:ln w="12600">
            <a:solidFill>
              <a:srgbClr val="2E7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1" name="Text 13"/>
          <p:cNvSpPr/>
          <p:nvPr/>
        </p:nvSpPr>
        <p:spPr>
          <a:xfrm>
            <a:off x="3090600" y="4736520"/>
            <a:ext cx="60346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Variation autonome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Text 14"/>
          <p:cNvSpPr/>
          <p:nvPr/>
        </p:nvSpPr>
        <p:spPr>
          <a:xfrm>
            <a:off x="3090600" y="5038200"/>
            <a:ext cx="603468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Ajouter la ville ou l’année de naissance. Faire justifier le type choisi.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Text 15"/>
          <p:cNvSpPr/>
          <p:nvPr/>
        </p:nvSpPr>
        <p:spPr>
          <a:xfrm>
            <a:off x="502920" y="653796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Visual Basic .NET • J1 • Live coding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Text 16"/>
          <p:cNvSpPr/>
          <p:nvPr/>
        </p:nvSpPr>
        <p:spPr>
          <a:xfrm>
            <a:off x="11384280" y="649224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31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7" name="Text 2"/>
          <p:cNvSpPr/>
          <p:nvPr/>
        </p:nvSpPr>
        <p:spPr>
          <a:xfrm>
            <a:off x="548640" y="25596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F6F9F"/>
                </a:solidFill>
                <a:effectLst/>
                <a:uFillTx/>
                <a:latin typeface="Aptos"/>
              </a:rPr>
              <a:t>CODE COMPLET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Text 3"/>
          <p:cNvSpPr/>
          <p:nvPr/>
        </p:nvSpPr>
        <p:spPr>
          <a:xfrm>
            <a:off x="530280" y="50292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83B5A"/>
                </a:solidFill>
                <a:effectLst/>
                <a:uFillTx/>
                <a:latin typeface="Aptos"/>
              </a:rPr>
              <a:t>Contact Console J1 : version finale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Shape 4"/>
          <p:cNvSpPr/>
          <p:nvPr/>
        </p:nvSpPr>
        <p:spPr>
          <a:xfrm>
            <a:off x="548640" y="987480"/>
            <a:ext cx="1142640" cy="406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0" name="Shape 5"/>
          <p:cNvSpPr/>
          <p:nvPr/>
        </p:nvSpPr>
        <p:spPr>
          <a:xfrm>
            <a:off x="594360" y="1143000"/>
            <a:ext cx="5577480" cy="4800240"/>
          </a:xfrm>
          <a:prstGeom prst="roundRect">
            <a:avLst>
              <a:gd name="adj" fmla="val 1143"/>
            </a:avLst>
          </a:prstGeom>
          <a:solidFill>
            <a:srgbClr val="17212B"/>
          </a:solidFill>
          <a:ln w="6480">
            <a:solidFill>
              <a:srgbClr val="0F17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1" name="Text 6"/>
          <p:cNvSpPr/>
          <p:nvPr/>
        </p:nvSpPr>
        <p:spPr>
          <a:xfrm>
            <a:off x="758880" y="1261800"/>
            <a:ext cx="5284800" cy="459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Option Strict On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Module Program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    Sub Main(args As String())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        Console.WriteLine("=== GESTION DE CONTACTS - J1 ===")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        Console.Write("Nom : ")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        Dim nom As String = Console.ReadLine()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        Console.Write("Téléphone : ")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        Dim telephone As String = Console.ReadLine()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        Console.Write("Email : ")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39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        Dim email As String = Console.ReadLine()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Shape 7"/>
          <p:cNvSpPr/>
          <p:nvPr/>
        </p:nvSpPr>
        <p:spPr>
          <a:xfrm>
            <a:off x="6355080" y="1143000"/>
            <a:ext cx="5303160" cy="4800240"/>
          </a:xfrm>
          <a:prstGeom prst="roundRect">
            <a:avLst>
              <a:gd name="adj" fmla="val 1143"/>
            </a:avLst>
          </a:prstGeom>
          <a:solidFill>
            <a:srgbClr val="17212B"/>
          </a:solidFill>
          <a:ln w="6480">
            <a:solidFill>
              <a:srgbClr val="0F17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3" name="Text 8"/>
          <p:cNvSpPr/>
          <p:nvPr/>
        </p:nvSpPr>
        <p:spPr>
          <a:xfrm>
            <a:off x="6519600" y="1261800"/>
            <a:ext cx="5010480" cy="459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        Console.Write("Année de naissance : ")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        Dim saisieAnnee As String = Console.ReadLine()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        Dim anneeNaissance As Integer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        Dim anneeValide As Boolean = Integer.TryParse(saisieAnnee, anneeNaissance)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        Console.WriteLine()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        Console.WriteLine("--- FICHE CONTACT ---")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        Console.WriteLine("Nom              : " &amp; nom)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        Console.WriteLine("Téléphone        : " &amp; telephone)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        Console.WriteLine("Email            : " &amp; email)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        Console.WriteLine("Année naissance  : " &amp; anneeNaissance)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        Console.WriteLine("Conversion année : " &amp; anneeValide)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    End Sub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7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End Module</a:t>
            </a:r>
            <a:endParaRPr lang="en-US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Text 9"/>
          <p:cNvSpPr/>
          <p:nvPr/>
        </p:nvSpPr>
        <p:spPr>
          <a:xfrm>
            <a:off x="502920" y="653796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Visual Basic .NET • J1 • Live coding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Text 10"/>
          <p:cNvSpPr/>
          <p:nvPr/>
        </p:nvSpPr>
        <p:spPr>
          <a:xfrm>
            <a:off x="11384280" y="649224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32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8" name="Text 2"/>
          <p:cNvSpPr/>
          <p:nvPr/>
        </p:nvSpPr>
        <p:spPr>
          <a:xfrm>
            <a:off x="548640" y="25596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F6F9F"/>
                </a:solidFill>
                <a:effectLst/>
                <a:uFillTx/>
                <a:latin typeface="Aptos"/>
              </a:rPr>
              <a:t>POINT DE CONTRÔLE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Text 3"/>
          <p:cNvSpPr/>
          <p:nvPr/>
        </p:nvSpPr>
        <p:spPr>
          <a:xfrm>
            <a:off x="530280" y="50292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83B5A"/>
                </a:solidFill>
                <a:effectLst/>
                <a:uFillTx/>
                <a:latin typeface="Aptos"/>
              </a:rPr>
              <a:t>Faire expliquer le code par les étudiants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Shape 4"/>
          <p:cNvSpPr/>
          <p:nvPr/>
        </p:nvSpPr>
        <p:spPr>
          <a:xfrm>
            <a:off x="548640" y="987480"/>
            <a:ext cx="1142640" cy="406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1" name="Text 5"/>
          <p:cNvSpPr/>
          <p:nvPr/>
        </p:nvSpPr>
        <p:spPr>
          <a:xfrm>
            <a:off x="868680" y="1417320"/>
            <a:ext cx="6400440" cy="310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r>
              <a:rPr lang="en-US" sz="1800" b="0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• Pourquoi nom, téléphone et email sont des String 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• Pourquoi l’année nécessite une conversion 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• Que contient anneeValide 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• Que se passe-t-il si l’utilisateur saisit abc 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• Quelle amélioration naturelle sera possible avec une condition 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Shape 6"/>
          <p:cNvSpPr/>
          <p:nvPr/>
        </p:nvSpPr>
        <p:spPr>
          <a:xfrm>
            <a:off x="7680960" y="1920240"/>
            <a:ext cx="3200040" cy="1554120"/>
          </a:xfrm>
          <a:prstGeom prst="roundRect">
            <a:avLst>
              <a:gd name="adj" fmla="val 4706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Shape 7"/>
          <p:cNvSpPr/>
          <p:nvPr/>
        </p:nvSpPr>
        <p:spPr>
          <a:xfrm>
            <a:off x="7680960" y="1920240"/>
            <a:ext cx="72720" cy="1554120"/>
          </a:xfrm>
          <a:prstGeom prst="rect">
            <a:avLst/>
          </a:prstGeom>
          <a:solidFill>
            <a:srgbClr val="B84A4A"/>
          </a:solidFill>
          <a:ln w="12600">
            <a:solidFill>
              <a:srgbClr val="B84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4" name="Text 8"/>
          <p:cNvSpPr/>
          <p:nvPr/>
        </p:nvSpPr>
        <p:spPr>
          <a:xfrm>
            <a:off x="7845480" y="203904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Ne pas anticiper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Text 9"/>
          <p:cNvSpPr/>
          <p:nvPr/>
        </p:nvSpPr>
        <p:spPr>
          <a:xfrm>
            <a:off x="7845480" y="2340720"/>
            <a:ext cx="2925720" cy="102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Ne pas corriger la saisie invalide avec une boucle ou un If complet. Noter le besoin pour J2.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Text 10"/>
          <p:cNvSpPr/>
          <p:nvPr/>
        </p:nvSpPr>
        <p:spPr>
          <a:xfrm>
            <a:off x="914400" y="5166360"/>
            <a:ext cx="10149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Le but n’est pas un contact parfait : c’est un contact compris.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Text 11"/>
          <p:cNvSpPr/>
          <p:nvPr/>
        </p:nvSpPr>
        <p:spPr>
          <a:xfrm>
            <a:off x="502920" y="653796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Visual Basic .NET • J1 • Live coding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Text 12"/>
          <p:cNvSpPr/>
          <p:nvPr/>
        </p:nvSpPr>
        <p:spPr>
          <a:xfrm>
            <a:off x="11384280" y="649224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33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1" name="Text 2"/>
          <p:cNvSpPr/>
          <p:nvPr/>
        </p:nvSpPr>
        <p:spPr>
          <a:xfrm>
            <a:off x="548640" y="25596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F6F9F"/>
                </a:solidFill>
                <a:effectLst/>
                <a:uFillTx/>
                <a:latin typeface="Aptos"/>
              </a:rPr>
              <a:t>CONSIGNE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Text 3"/>
          <p:cNvSpPr/>
          <p:nvPr/>
        </p:nvSpPr>
        <p:spPr>
          <a:xfrm>
            <a:off x="530280" y="50292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83B5A"/>
                </a:solidFill>
                <a:effectLst/>
                <a:uFillTx/>
                <a:latin typeface="Aptos"/>
              </a:rPr>
              <a:t>TP 1 : Calculateur console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Shape 4"/>
          <p:cNvSpPr/>
          <p:nvPr/>
        </p:nvSpPr>
        <p:spPr>
          <a:xfrm>
            <a:off x="548640" y="987480"/>
            <a:ext cx="1142640" cy="406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4" name="Text 5"/>
          <p:cNvSpPr/>
          <p:nvPr/>
        </p:nvSpPr>
        <p:spPr>
          <a:xfrm>
            <a:off x="731520" y="1234440"/>
            <a:ext cx="10789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Créer une application console qui demande deux nombres puis affiche somme, différence, produit et quotient.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Shape 6"/>
          <p:cNvSpPr/>
          <p:nvPr/>
        </p:nvSpPr>
        <p:spPr>
          <a:xfrm>
            <a:off x="914400" y="2194560"/>
            <a:ext cx="4663080" cy="2331360"/>
          </a:xfrm>
          <a:prstGeom prst="roundRect">
            <a:avLst>
              <a:gd name="adj" fmla="val 3137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Shape 7"/>
          <p:cNvSpPr/>
          <p:nvPr/>
        </p:nvSpPr>
        <p:spPr>
          <a:xfrm>
            <a:off x="914400" y="2194560"/>
            <a:ext cx="72720" cy="2331360"/>
          </a:xfrm>
          <a:prstGeom prst="rect">
            <a:avLst/>
          </a:prstGeom>
          <a:solidFill>
            <a:srgbClr val="2F6F9F"/>
          </a:solidFill>
          <a:ln w="12600">
            <a:solidFill>
              <a:srgbClr val="2F6F9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7" name="Text 8"/>
          <p:cNvSpPr/>
          <p:nvPr/>
        </p:nvSpPr>
        <p:spPr>
          <a:xfrm>
            <a:off x="1078920" y="2313360"/>
            <a:ext cx="4388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Contraintes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Text 9"/>
          <p:cNvSpPr/>
          <p:nvPr/>
        </p:nvSpPr>
        <p:spPr>
          <a:xfrm>
            <a:off x="1078920" y="2615040"/>
            <a:ext cx="4388760" cy="180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• Deux saisies utilisateur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• Conversion Double ou Decimal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• Au moins quatre calculs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• Libellés explicites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• Variables nommées correctement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Shape 10"/>
          <p:cNvSpPr/>
          <p:nvPr/>
        </p:nvSpPr>
        <p:spPr>
          <a:xfrm>
            <a:off x="6583680" y="2194560"/>
            <a:ext cx="4663080" cy="2331360"/>
          </a:xfrm>
          <a:prstGeom prst="roundRect">
            <a:avLst>
              <a:gd name="adj" fmla="val 3137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Shape 11"/>
          <p:cNvSpPr/>
          <p:nvPr/>
        </p:nvSpPr>
        <p:spPr>
          <a:xfrm>
            <a:off x="6583680" y="2194560"/>
            <a:ext cx="72720" cy="2331360"/>
          </a:xfrm>
          <a:prstGeom prst="rect">
            <a:avLst/>
          </a:prstGeom>
          <a:solidFill>
            <a:srgbClr val="2E7D61"/>
          </a:solidFill>
          <a:ln w="12600">
            <a:solidFill>
              <a:srgbClr val="2E7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1" name="Text 12"/>
          <p:cNvSpPr/>
          <p:nvPr/>
        </p:nvSpPr>
        <p:spPr>
          <a:xfrm>
            <a:off x="6748200" y="2313360"/>
            <a:ext cx="4388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Bonus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Text 13"/>
          <p:cNvSpPr/>
          <p:nvPr/>
        </p:nvSpPr>
        <p:spPr>
          <a:xfrm>
            <a:off x="6748200" y="2615040"/>
            <a:ext cx="4388760" cy="180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• Moyenne des deux nombres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• Reste avec Mod si pertinent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• TryParse sur une saisie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• Afficher la réussite de conversion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Text 14"/>
          <p:cNvSpPr/>
          <p:nvPr/>
        </p:nvSpPr>
        <p:spPr>
          <a:xfrm>
            <a:off x="502920" y="653796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Visual Basic .NET • J1 • Live coding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Text 15"/>
          <p:cNvSpPr/>
          <p:nvPr/>
        </p:nvSpPr>
        <p:spPr>
          <a:xfrm>
            <a:off x="11384280" y="649224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34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7" name="Text 2"/>
          <p:cNvSpPr/>
          <p:nvPr/>
        </p:nvSpPr>
        <p:spPr>
          <a:xfrm>
            <a:off x="548640" y="25596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F6F9F"/>
                </a:solidFill>
                <a:effectLst/>
                <a:uFillTx/>
                <a:latin typeface="Aptos"/>
              </a:rPr>
              <a:t>ANIMATION FORMATEUR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Text 3"/>
          <p:cNvSpPr/>
          <p:nvPr/>
        </p:nvSpPr>
        <p:spPr>
          <a:xfrm>
            <a:off x="530280" y="50292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83B5A"/>
                </a:solidFill>
                <a:effectLst/>
                <a:uFillTx/>
                <a:latin typeface="Aptos"/>
              </a:rPr>
              <a:t>TP 1 : stratégie d’aide progressive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Shape 4"/>
          <p:cNvSpPr/>
          <p:nvPr/>
        </p:nvSpPr>
        <p:spPr>
          <a:xfrm>
            <a:off x="548640" y="987480"/>
            <a:ext cx="1142640" cy="406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0" name="Shape 5"/>
          <p:cNvSpPr/>
          <p:nvPr/>
        </p:nvSpPr>
        <p:spPr>
          <a:xfrm>
            <a:off x="822960" y="1417320"/>
            <a:ext cx="2007720" cy="475200"/>
          </a:xfrm>
          <a:prstGeom prst="roundRect">
            <a:avLst>
              <a:gd name="adj" fmla="val 11538"/>
            </a:avLst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1" name="Text 6"/>
          <p:cNvSpPr/>
          <p:nvPr/>
        </p:nvSpPr>
        <p:spPr>
          <a:xfrm>
            <a:off x="859680" y="1572840"/>
            <a:ext cx="19346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Énoncé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Shape 7"/>
          <p:cNvSpPr/>
          <p:nvPr/>
        </p:nvSpPr>
        <p:spPr>
          <a:xfrm>
            <a:off x="2849040" y="1636560"/>
            <a:ext cx="82440" cy="360"/>
          </a:xfrm>
          <a:prstGeom prst="line">
            <a:avLst/>
          </a:prstGeom>
          <a:ln w="15120">
            <a:solidFill>
              <a:srgbClr val="9FB6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Shape 8"/>
          <p:cNvSpPr/>
          <p:nvPr/>
        </p:nvSpPr>
        <p:spPr>
          <a:xfrm>
            <a:off x="2949840" y="1417320"/>
            <a:ext cx="2007720" cy="475200"/>
          </a:xfrm>
          <a:prstGeom prst="roundRect">
            <a:avLst>
              <a:gd name="adj" fmla="val 11538"/>
            </a:avLst>
          </a:prstGeom>
          <a:solidFill>
            <a:srgbClr val="F5F8FA"/>
          </a:solidFill>
          <a:ln w="12600">
            <a:solidFill>
              <a:srgbClr val="D5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Text 9"/>
          <p:cNvSpPr/>
          <p:nvPr/>
        </p:nvSpPr>
        <p:spPr>
          <a:xfrm>
            <a:off x="2986560" y="1572840"/>
            <a:ext cx="19346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Indice 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Shape 10"/>
          <p:cNvSpPr/>
          <p:nvPr/>
        </p:nvSpPr>
        <p:spPr>
          <a:xfrm>
            <a:off x="4975920" y="1636560"/>
            <a:ext cx="82440" cy="360"/>
          </a:xfrm>
          <a:prstGeom prst="line">
            <a:avLst/>
          </a:prstGeom>
          <a:ln w="15120">
            <a:solidFill>
              <a:srgbClr val="9FB6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Shape 11"/>
          <p:cNvSpPr/>
          <p:nvPr/>
        </p:nvSpPr>
        <p:spPr>
          <a:xfrm>
            <a:off x="5076720" y="1417320"/>
            <a:ext cx="2007720" cy="475200"/>
          </a:xfrm>
          <a:prstGeom prst="roundRect">
            <a:avLst>
              <a:gd name="adj" fmla="val 11538"/>
            </a:avLst>
          </a:prstGeom>
          <a:solidFill>
            <a:srgbClr val="F5F8FA"/>
          </a:solidFill>
          <a:ln w="12600">
            <a:solidFill>
              <a:srgbClr val="D5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Text 12"/>
          <p:cNvSpPr/>
          <p:nvPr/>
        </p:nvSpPr>
        <p:spPr>
          <a:xfrm>
            <a:off x="5113440" y="1572840"/>
            <a:ext cx="19346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Indice 2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Shape 13"/>
          <p:cNvSpPr/>
          <p:nvPr/>
        </p:nvSpPr>
        <p:spPr>
          <a:xfrm>
            <a:off x="7102800" y="1636560"/>
            <a:ext cx="82440" cy="360"/>
          </a:xfrm>
          <a:prstGeom prst="line">
            <a:avLst/>
          </a:prstGeom>
          <a:ln w="15120">
            <a:solidFill>
              <a:srgbClr val="9FB6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Shape 14"/>
          <p:cNvSpPr/>
          <p:nvPr/>
        </p:nvSpPr>
        <p:spPr>
          <a:xfrm>
            <a:off x="7203600" y="1417320"/>
            <a:ext cx="2007720" cy="475200"/>
          </a:xfrm>
          <a:prstGeom prst="roundRect">
            <a:avLst>
              <a:gd name="adj" fmla="val 11538"/>
            </a:avLst>
          </a:prstGeom>
          <a:solidFill>
            <a:srgbClr val="F5F8FA"/>
          </a:solidFill>
          <a:ln w="12600">
            <a:solidFill>
              <a:srgbClr val="D5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Text 15"/>
          <p:cNvSpPr/>
          <p:nvPr/>
        </p:nvSpPr>
        <p:spPr>
          <a:xfrm>
            <a:off x="7240320" y="1572840"/>
            <a:ext cx="19346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Pseudo-code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Shape 16"/>
          <p:cNvSpPr/>
          <p:nvPr/>
        </p:nvSpPr>
        <p:spPr>
          <a:xfrm>
            <a:off x="9229680" y="1636560"/>
            <a:ext cx="82440" cy="360"/>
          </a:xfrm>
          <a:prstGeom prst="line">
            <a:avLst/>
          </a:prstGeom>
          <a:ln w="15120">
            <a:solidFill>
              <a:srgbClr val="9FB6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Shape 17"/>
          <p:cNvSpPr/>
          <p:nvPr/>
        </p:nvSpPr>
        <p:spPr>
          <a:xfrm>
            <a:off x="9330480" y="1417320"/>
            <a:ext cx="2007720" cy="475200"/>
          </a:xfrm>
          <a:prstGeom prst="roundRect">
            <a:avLst>
              <a:gd name="adj" fmla="val 11538"/>
            </a:avLst>
          </a:prstGeom>
          <a:solidFill>
            <a:srgbClr val="2E7D61"/>
          </a:solidFill>
          <a:ln w="12600">
            <a:solidFill>
              <a:srgbClr val="2E7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3" name="Text 18"/>
          <p:cNvSpPr/>
          <p:nvPr/>
        </p:nvSpPr>
        <p:spPr>
          <a:xfrm>
            <a:off x="9367200" y="1572840"/>
            <a:ext cx="19346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Correction live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Shape 19"/>
          <p:cNvSpPr/>
          <p:nvPr/>
        </p:nvSpPr>
        <p:spPr>
          <a:xfrm>
            <a:off x="1097280" y="2514600"/>
            <a:ext cx="4297320" cy="1325520"/>
          </a:xfrm>
          <a:prstGeom prst="roundRect">
            <a:avLst>
              <a:gd name="adj" fmla="val 5517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Shape 20"/>
          <p:cNvSpPr/>
          <p:nvPr/>
        </p:nvSpPr>
        <p:spPr>
          <a:xfrm>
            <a:off x="1097280" y="2514600"/>
            <a:ext cx="72720" cy="132552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6" name="Text 21"/>
          <p:cNvSpPr/>
          <p:nvPr/>
        </p:nvSpPr>
        <p:spPr>
          <a:xfrm>
            <a:off x="1261800" y="2633400"/>
            <a:ext cx="4023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Ne pas donner trop vite la correction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Text 22"/>
          <p:cNvSpPr/>
          <p:nvPr/>
        </p:nvSpPr>
        <p:spPr>
          <a:xfrm>
            <a:off x="1261800" y="2935080"/>
            <a:ext cx="4023000" cy="79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Demander : “qu’avez-vous déjà vérifié ?” puis donner l’indice le plus faible suffisant.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Shape 23"/>
          <p:cNvSpPr/>
          <p:nvPr/>
        </p:nvSpPr>
        <p:spPr>
          <a:xfrm>
            <a:off x="6720840" y="2514600"/>
            <a:ext cx="4297320" cy="1325520"/>
          </a:xfrm>
          <a:prstGeom prst="roundRect">
            <a:avLst>
              <a:gd name="adj" fmla="val 5517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Shape 24"/>
          <p:cNvSpPr/>
          <p:nvPr/>
        </p:nvSpPr>
        <p:spPr>
          <a:xfrm>
            <a:off x="6720840" y="2514600"/>
            <a:ext cx="72720" cy="1325520"/>
          </a:xfrm>
          <a:prstGeom prst="rect">
            <a:avLst/>
          </a:prstGeom>
          <a:solidFill>
            <a:srgbClr val="2E7D61"/>
          </a:solidFill>
          <a:ln w="12600">
            <a:solidFill>
              <a:srgbClr val="2E7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0" name="Text 25"/>
          <p:cNvSpPr/>
          <p:nvPr/>
        </p:nvSpPr>
        <p:spPr>
          <a:xfrm>
            <a:off x="6885360" y="2633400"/>
            <a:ext cx="4023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Observer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Text 26"/>
          <p:cNvSpPr/>
          <p:nvPr/>
        </p:nvSpPr>
        <p:spPr>
          <a:xfrm>
            <a:off x="6885360" y="2935080"/>
            <a:ext cx="4023000" cy="79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Types choisis, conversions, noms, ordre des calculs, affichage et capacité à expliquer.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Shape 27"/>
          <p:cNvSpPr/>
          <p:nvPr/>
        </p:nvSpPr>
        <p:spPr>
          <a:xfrm>
            <a:off x="2468880" y="4617720"/>
            <a:ext cx="7223400" cy="1005480"/>
          </a:xfrm>
          <a:prstGeom prst="roundRect">
            <a:avLst>
              <a:gd name="adj" fmla="val 5455"/>
            </a:avLst>
          </a:prstGeom>
          <a:solidFill>
            <a:srgbClr val="17212B"/>
          </a:solidFill>
          <a:ln w="6480">
            <a:solidFill>
              <a:srgbClr val="0F17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3" name="Text 28"/>
          <p:cNvSpPr/>
          <p:nvPr/>
        </p:nvSpPr>
        <p:spPr>
          <a:xfrm>
            <a:off x="2633400" y="4736520"/>
            <a:ext cx="6930720" cy="80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70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DÉBUT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Lire nombre1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Lire nombre2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Calculer somme, différence, produit, quotient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Afficher les résultats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FIN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Text 29"/>
          <p:cNvSpPr/>
          <p:nvPr/>
        </p:nvSpPr>
        <p:spPr>
          <a:xfrm>
            <a:off x="502920" y="653796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Visual Basic .NET • J1 • Live coding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Text 30"/>
          <p:cNvSpPr/>
          <p:nvPr/>
        </p:nvSpPr>
        <p:spPr>
          <a:xfrm>
            <a:off x="11384280" y="649224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35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8" name="Text 2"/>
          <p:cNvSpPr/>
          <p:nvPr/>
        </p:nvSpPr>
        <p:spPr>
          <a:xfrm>
            <a:off x="548640" y="25596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F6F9F"/>
                </a:solidFill>
                <a:effectLst/>
                <a:uFillTx/>
                <a:latin typeface="Aptos"/>
              </a:rPr>
              <a:t>RECONSTRUIRE DEPUIS UN PROJET VIDE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Text 3"/>
          <p:cNvSpPr/>
          <p:nvPr/>
        </p:nvSpPr>
        <p:spPr>
          <a:xfrm>
            <a:off x="530280" y="50292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83B5A"/>
                </a:solidFill>
                <a:effectLst/>
                <a:uFillTx/>
                <a:latin typeface="Aptos"/>
              </a:rPr>
              <a:t>Correction live : saisies et calculs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Shape 4"/>
          <p:cNvSpPr/>
          <p:nvPr/>
        </p:nvSpPr>
        <p:spPr>
          <a:xfrm>
            <a:off x="548640" y="987480"/>
            <a:ext cx="1142640" cy="406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1" name="Shape 5"/>
          <p:cNvSpPr/>
          <p:nvPr/>
        </p:nvSpPr>
        <p:spPr>
          <a:xfrm>
            <a:off x="685800" y="1280160"/>
            <a:ext cx="5531760" cy="1874160"/>
          </a:xfrm>
          <a:prstGeom prst="roundRect">
            <a:avLst>
              <a:gd name="adj" fmla="val 2927"/>
            </a:avLst>
          </a:prstGeom>
          <a:solidFill>
            <a:srgbClr val="17212B"/>
          </a:solidFill>
          <a:ln w="6480">
            <a:solidFill>
              <a:srgbClr val="0F17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2" name="Text 6"/>
          <p:cNvSpPr/>
          <p:nvPr/>
        </p:nvSpPr>
        <p:spPr>
          <a:xfrm>
            <a:off x="850320" y="1398960"/>
            <a:ext cx="5239080" cy="167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Console.Write("Premier nombre : ")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nombre1 As Double = Double.Parse(Console.ReadLine())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Console.Write("Deuxième nombre : ")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nombre2 As Double = Double.Parse(Console.ReadLine())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Shape 7"/>
          <p:cNvSpPr/>
          <p:nvPr/>
        </p:nvSpPr>
        <p:spPr>
          <a:xfrm>
            <a:off x="6492240" y="1280160"/>
            <a:ext cx="4983120" cy="1874160"/>
          </a:xfrm>
          <a:prstGeom prst="roundRect">
            <a:avLst>
              <a:gd name="adj" fmla="val 2927"/>
            </a:avLst>
          </a:prstGeom>
          <a:solidFill>
            <a:srgbClr val="17212B"/>
          </a:solidFill>
          <a:ln w="6480">
            <a:solidFill>
              <a:srgbClr val="0F17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4" name="Text 8"/>
          <p:cNvSpPr/>
          <p:nvPr/>
        </p:nvSpPr>
        <p:spPr>
          <a:xfrm>
            <a:off x="6656760" y="1398960"/>
            <a:ext cx="4690440" cy="167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somme As Double = nombre1 + nombre2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difference As Double = nombre1 - nombre2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produit As Double = nombre1 * nombre2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quotient As Double = nombre1 / nombre2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moyenne As Double = (nombre1 + nombre2) / 2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Shape 9"/>
          <p:cNvSpPr/>
          <p:nvPr/>
        </p:nvSpPr>
        <p:spPr>
          <a:xfrm>
            <a:off x="1188720" y="3886200"/>
            <a:ext cx="4297320" cy="914040"/>
          </a:xfrm>
          <a:prstGeom prst="roundRect">
            <a:avLst>
              <a:gd name="adj" fmla="val 8000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Shape 10"/>
          <p:cNvSpPr/>
          <p:nvPr/>
        </p:nvSpPr>
        <p:spPr>
          <a:xfrm>
            <a:off x="1188720" y="3886200"/>
            <a:ext cx="72720" cy="91404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7" name="Text 11"/>
          <p:cNvSpPr/>
          <p:nvPr/>
        </p:nvSpPr>
        <p:spPr>
          <a:xfrm>
            <a:off x="1353240" y="4005000"/>
            <a:ext cx="4023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Question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Text 12"/>
          <p:cNvSpPr/>
          <p:nvPr/>
        </p:nvSpPr>
        <p:spPr>
          <a:xfrm>
            <a:off x="1353240" y="4306680"/>
            <a:ext cx="4023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Quel risque contient cette version ?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9" name="Shape 13"/>
          <p:cNvSpPr/>
          <p:nvPr/>
        </p:nvSpPr>
        <p:spPr>
          <a:xfrm>
            <a:off x="6675120" y="3886200"/>
            <a:ext cx="4297320" cy="914040"/>
          </a:xfrm>
          <a:prstGeom prst="roundRect">
            <a:avLst>
              <a:gd name="adj" fmla="val 8000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Shape 14"/>
          <p:cNvSpPr/>
          <p:nvPr/>
        </p:nvSpPr>
        <p:spPr>
          <a:xfrm>
            <a:off x="6675120" y="3886200"/>
            <a:ext cx="72720" cy="914040"/>
          </a:xfrm>
          <a:prstGeom prst="rect">
            <a:avLst/>
          </a:prstGeom>
          <a:solidFill>
            <a:srgbClr val="B84A4A"/>
          </a:solidFill>
          <a:ln w="12600">
            <a:solidFill>
              <a:srgbClr val="B84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1" name="Text 15"/>
          <p:cNvSpPr/>
          <p:nvPr/>
        </p:nvSpPr>
        <p:spPr>
          <a:xfrm>
            <a:off x="6839640" y="4005000"/>
            <a:ext cx="4023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Réponse attendue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Text 16"/>
          <p:cNvSpPr/>
          <p:nvPr/>
        </p:nvSpPr>
        <p:spPr>
          <a:xfrm>
            <a:off x="6839640" y="4306680"/>
            <a:ext cx="4023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Une saisie non numérique provoque une erreur d’exécution avec Parse.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Text 17"/>
          <p:cNvSpPr/>
          <p:nvPr/>
        </p:nvSpPr>
        <p:spPr>
          <a:xfrm>
            <a:off x="502920" y="653796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Visual Basic .NET • J1 • Live coding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Text 18"/>
          <p:cNvSpPr/>
          <p:nvPr/>
        </p:nvSpPr>
        <p:spPr>
          <a:xfrm>
            <a:off x="11384280" y="649224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36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7" name="Text 2"/>
          <p:cNvSpPr/>
          <p:nvPr/>
        </p:nvSpPr>
        <p:spPr>
          <a:xfrm>
            <a:off x="548640" y="25596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F6F9F"/>
                </a:solidFill>
                <a:effectLst/>
                <a:uFillTx/>
                <a:latin typeface="Aptos"/>
              </a:rPr>
              <a:t>LISIBILITÉ DES SORTIES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Text 3"/>
          <p:cNvSpPr/>
          <p:nvPr/>
        </p:nvSpPr>
        <p:spPr>
          <a:xfrm>
            <a:off x="530280" y="50292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83B5A"/>
                </a:solidFill>
                <a:effectLst/>
                <a:uFillTx/>
                <a:latin typeface="Aptos"/>
              </a:rPr>
              <a:t>Correction live : affichage des résultats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Shape 4"/>
          <p:cNvSpPr/>
          <p:nvPr/>
        </p:nvSpPr>
        <p:spPr>
          <a:xfrm>
            <a:off x="548640" y="987480"/>
            <a:ext cx="1142640" cy="406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0" name="Shape 5"/>
          <p:cNvSpPr/>
          <p:nvPr/>
        </p:nvSpPr>
        <p:spPr>
          <a:xfrm>
            <a:off x="914400" y="1325880"/>
            <a:ext cx="6857640" cy="3245760"/>
          </a:xfrm>
          <a:prstGeom prst="roundRect">
            <a:avLst>
              <a:gd name="adj" fmla="val 1690"/>
            </a:avLst>
          </a:prstGeom>
          <a:solidFill>
            <a:srgbClr val="17212B"/>
          </a:solidFill>
          <a:ln w="6480">
            <a:solidFill>
              <a:srgbClr val="0F17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1" name="Text 6"/>
          <p:cNvSpPr/>
          <p:nvPr/>
        </p:nvSpPr>
        <p:spPr>
          <a:xfrm>
            <a:off x="1078920" y="1444680"/>
            <a:ext cx="6564960" cy="304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Console.WriteLine()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Console.WriteLine("--- RÉSULTATS ---")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Console.WriteLine("Somme       : " &amp; somme)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Console.WriteLine("Différence  : " &amp; difference)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Console.WriteLine("Produit     : " &amp; produit)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Console.WriteLine("Quotient    : " &amp; quotient)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Console.WriteLine("Moyenne     : " &amp; moyenne)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Shape 7"/>
          <p:cNvSpPr/>
          <p:nvPr/>
        </p:nvSpPr>
        <p:spPr>
          <a:xfrm>
            <a:off x="8229600" y="1645920"/>
            <a:ext cx="2925720" cy="2239920"/>
          </a:xfrm>
          <a:prstGeom prst="roundRect">
            <a:avLst>
              <a:gd name="adj" fmla="val 3265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Shape 8"/>
          <p:cNvSpPr/>
          <p:nvPr/>
        </p:nvSpPr>
        <p:spPr>
          <a:xfrm>
            <a:off x="8229600" y="1645920"/>
            <a:ext cx="72720" cy="2239920"/>
          </a:xfrm>
          <a:prstGeom prst="rect">
            <a:avLst/>
          </a:prstGeom>
          <a:solidFill>
            <a:srgbClr val="2E7D61"/>
          </a:solidFill>
          <a:ln w="12600">
            <a:solidFill>
              <a:srgbClr val="2E7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4" name="Text 9"/>
          <p:cNvSpPr/>
          <p:nvPr/>
        </p:nvSpPr>
        <p:spPr>
          <a:xfrm>
            <a:off x="8394120" y="1764720"/>
            <a:ext cx="2651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Variations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Text 10"/>
          <p:cNvSpPr/>
          <p:nvPr/>
        </p:nvSpPr>
        <p:spPr>
          <a:xfrm>
            <a:off x="8394120" y="2066400"/>
            <a:ext cx="2651400" cy="170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1. Tester 10 et 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2. Tester -2 et 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3. Faire prédire avant chaque lancement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4. Noter la question de la division par zéro pour J2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Text 11"/>
          <p:cNvSpPr/>
          <p:nvPr/>
        </p:nvSpPr>
        <p:spPr>
          <a:xfrm>
            <a:off x="502920" y="653796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Visual Basic .NET • J1 • Live coding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Text 12"/>
          <p:cNvSpPr/>
          <p:nvPr/>
        </p:nvSpPr>
        <p:spPr>
          <a:xfrm>
            <a:off x="11384280" y="649224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37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0" name="Text 2"/>
          <p:cNvSpPr/>
          <p:nvPr/>
        </p:nvSpPr>
        <p:spPr>
          <a:xfrm>
            <a:off x="548640" y="25596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F6F9F"/>
                </a:solidFill>
                <a:effectLst/>
                <a:uFillTx/>
                <a:latin typeface="Aptos"/>
              </a:rPr>
              <a:t>TRANSITION VERS J2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Text 3"/>
          <p:cNvSpPr/>
          <p:nvPr/>
        </p:nvSpPr>
        <p:spPr>
          <a:xfrm>
            <a:off x="530280" y="50292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83B5A"/>
                </a:solidFill>
                <a:effectLst/>
                <a:uFillTx/>
                <a:latin typeface="Aptos"/>
              </a:rPr>
              <a:t>Variante pédagogique : TryParse dans le TP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2" name="Shape 4"/>
          <p:cNvSpPr/>
          <p:nvPr/>
        </p:nvSpPr>
        <p:spPr>
          <a:xfrm>
            <a:off x="548640" y="987480"/>
            <a:ext cx="1142640" cy="406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3" name="Shape 5"/>
          <p:cNvSpPr/>
          <p:nvPr/>
        </p:nvSpPr>
        <p:spPr>
          <a:xfrm>
            <a:off x="914400" y="1325880"/>
            <a:ext cx="6766200" cy="3382920"/>
          </a:xfrm>
          <a:prstGeom prst="roundRect">
            <a:avLst>
              <a:gd name="adj" fmla="val 1622"/>
            </a:avLst>
          </a:prstGeom>
          <a:solidFill>
            <a:srgbClr val="17212B"/>
          </a:solidFill>
          <a:ln w="6480">
            <a:solidFill>
              <a:srgbClr val="0F17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4" name="Text 6"/>
          <p:cNvSpPr/>
          <p:nvPr/>
        </p:nvSpPr>
        <p:spPr>
          <a:xfrm>
            <a:off x="1078920" y="1444680"/>
            <a:ext cx="6473520" cy="3181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Console.Write("Premier nombre : ")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saisie1 As String = Console.ReadLine()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nombre1 As Double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ok1 As Boolean = Double.TryParse(saisie1, nombre1)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Console.WriteLine("Conversion réussie : " &amp; ok1)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Console.WriteLine("Valeur obtenue      : " &amp; nombre1)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Shape 7"/>
          <p:cNvSpPr/>
          <p:nvPr/>
        </p:nvSpPr>
        <p:spPr>
          <a:xfrm>
            <a:off x="8183880" y="1691640"/>
            <a:ext cx="2925720" cy="1371240"/>
          </a:xfrm>
          <a:prstGeom prst="roundRect">
            <a:avLst>
              <a:gd name="adj" fmla="val 5333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6" name="Shape 8"/>
          <p:cNvSpPr/>
          <p:nvPr/>
        </p:nvSpPr>
        <p:spPr>
          <a:xfrm>
            <a:off x="8183880" y="1691640"/>
            <a:ext cx="72720" cy="137124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7" name="Text 9"/>
          <p:cNvSpPr/>
          <p:nvPr/>
        </p:nvSpPr>
        <p:spPr>
          <a:xfrm>
            <a:off x="8348400" y="1810440"/>
            <a:ext cx="2651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À préciser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8" name="Text 10"/>
          <p:cNvSpPr/>
          <p:nvPr/>
        </p:nvSpPr>
        <p:spPr>
          <a:xfrm>
            <a:off x="8348400" y="2112120"/>
            <a:ext cx="2651400" cy="84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Cette variante rend visible l’échec. Elle ne traite pas encore complètement le cas invalide.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Shape 11"/>
          <p:cNvSpPr/>
          <p:nvPr/>
        </p:nvSpPr>
        <p:spPr>
          <a:xfrm>
            <a:off x="8183880" y="3429000"/>
            <a:ext cx="2925720" cy="1142640"/>
          </a:xfrm>
          <a:prstGeom prst="roundRect">
            <a:avLst>
              <a:gd name="adj" fmla="val 6400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Shape 12"/>
          <p:cNvSpPr/>
          <p:nvPr/>
        </p:nvSpPr>
        <p:spPr>
          <a:xfrm>
            <a:off x="8183880" y="3429000"/>
            <a:ext cx="72720" cy="1142640"/>
          </a:xfrm>
          <a:prstGeom prst="rect">
            <a:avLst/>
          </a:prstGeom>
          <a:solidFill>
            <a:srgbClr val="2E7D61"/>
          </a:solidFill>
          <a:ln w="12600">
            <a:solidFill>
              <a:srgbClr val="2E7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1" name="Text 13"/>
          <p:cNvSpPr/>
          <p:nvPr/>
        </p:nvSpPr>
        <p:spPr>
          <a:xfrm>
            <a:off x="8348400" y="3547800"/>
            <a:ext cx="2651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Transition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2" name="Text 14"/>
          <p:cNvSpPr/>
          <p:nvPr/>
        </p:nvSpPr>
        <p:spPr>
          <a:xfrm>
            <a:off x="8348400" y="3849480"/>
            <a:ext cx="2651400" cy="612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J2 : If, boucles et menu permettront de réagir aux cas invalides.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Text 15"/>
          <p:cNvSpPr/>
          <p:nvPr/>
        </p:nvSpPr>
        <p:spPr>
          <a:xfrm>
            <a:off x="502920" y="653796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Visual Basic .NET • J1 • Live coding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Text 16"/>
          <p:cNvSpPr/>
          <p:nvPr/>
        </p:nvSpPr>
        <p:spPr>
          <a:xfrm>
            <a:off x="11384280" y="649224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38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6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7" name="Text 2"/>
          <p:cNvSpPr/>
          <p:nvPr/>
        </p:nvSpPr>
        <p:spPr>
          <a:xfrm>
            <a:off x="548640" y="25596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F6F9F"/>
                </a:solidFill>
                <a:effectLst/>
                <a:uFillTx/>
                <a:latin typeface="Aptos"/>
              </a:rPr>
              <a:t>INSTALLER LA MÉTHODE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Text 3"/>
          <p:cNvSpPr/>
          <p:nvPr/>
        </p:nvSpPr>
        <p:spPr>
          <a:xfrm>
            <a:off x="530280" y="50292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83B5A"/>
                </a:solidFill>
                <a:effectLst/>
                <a:uFillTx/>
                <a:latin typeface="Aptos"/>
              </a:rPr>
              <a:t>Banque d’erreurs volontaires J1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Shape 4"/>
          <p:cNvSpPr/>
          <p:nvPr/>
        </p:nvSpPr>
        <p:spPr>
          <a:xfrm>
            <a:off x="548640" y="987480"/>
            <a:ext cx="1142640" cy="406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0" name="Text 5"/>
          <p:cNvSpPr/>
          <p:nvPr/>
        </p:nvSpPr>
        <p:spPr>
          <a:xfrm>
            <a:off x="868680" y="1325880"/>
            <a:ext cx="5760360" cy="33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r>
              <a:rPr lang="en-US" sz="1700" b="0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• Parenthèse manquante.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• Nom de méthode mal orthographié : WritLine.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• Chaîne non terminée.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• Conversion Parse impossible.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• Type incompatible avec Option Strict On.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• Variable mal nommée ou non déclarée.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Shape 6"/>
          <p:cNvSpPr/>
          <p:nvPr/>
        </p:nvSpPr>
        <p:spPr>
          <a:xfrm>
            <a:off x="7223760" y="1828800"/>
            <a:ext cx="3520080" cy="1462680"/>
          </a:xfrm>
          <a:prstGeom prst="roundRect">
            <a:avLst>
              <a:gd name="adj" fmla="val 5000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Shape 7"/>
          <p:cNvSpPr/>
          <p:nvPr/>
        </p:nvSpPr>
        <p:spPr>
          <a:xfrm>
            <a:off x="7223760" y="1828800"/>
            <a:ext cx="72720" cy="1462680"/>
          </a:xfrm>
          <a:prstGeom prst="rect">
            <a:avLst/>
          </a:prstGeom>
          <a:solidFill>
            <a:srgbClr val="B84A4A"/>
          </a:solidFill>
          <a:ln w="12600">
            <a:solidFill>
              <a:srgbClr val="B84A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3" name="Text 8"/>
          <p:cNvSpPr/>
          <p:nvPr/>
        </p:nvSpPr>
        <p:spPr>
          <a:xfrm>
            <a:off x="7388280" y="1947600"/>
            <a:ext cx="3245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Règle d’or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Text 9"/>
          <p:cNvSpPr/>
          <p:nvPr/>
        </p:nvSpPr>
        <p:spPr>
          <a:xfrm>
            <a:off x="7388280" y="2249280"/>
            <a:ext cx="324576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Ne jamais changer plusieurs choses au hasard. Lire, isoler, corriger, relancer.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Text 10"/>
          <p:cNvSpPr/>
          <p:nvPr/>
        </p:nvSpPr>
        <p:spPr>
          <a:xfrm>
            <a:off x="1005840" y="516636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Chaque erreur doit produire une compétence de diagnostic.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6" name="Text 11"/>
          <p:cNvSpPr/>
          <p:nvPr/>
        </p:nvSpPr>
        <p:spPr>
          <a:xfrm>
            <a:off x="502920" y="653796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Visual Basic .NET • J1 • Live coding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7" name="Text 12"/>
          <p:cNvSpPr/>
          <p:nvPr/>
        </p:nvSpPr>
        <p:spPr>
          <a:xfrm>
            <a:off x="11384280" y="649224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39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0" name="Text 2"/>
          <p:cNvSpPr/>
          <p:nvPr/>
        </p:nvSpPr>
        <p:spPr>
          <a:xfrm>
            <a:off x="548640" y="25596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F6F9F"/>
                </a:solidFill>
                <a:effectLst/>
                <a:uFillTx/>
                <a:latin typeface="Aptos"/>
              </a:rPr>
              <a:t>À UTILISER DANS VISUAL STUDIO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1" name="Text 3"/>
          <p:cNvSpPr/>
          <p:nvPr/>
        </p:nvSpPr>
        <p:spPr>
          <a:xfrm>
            <a:off x="530280" y="50292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83B5A"/>
                </a:solidFill>
                <a:effectLst/>
                <a:uFillTx/>
                <a:latin typeface="Aptos"/>
              </a:rPr>
              <a:t>Banque de questions de prédiction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2" name="Shape 4"/>
          <p:cNvSpPr/>
          <p:nvPr/>
        </p:nvSpPr>
        <p:spPr>
          <a:xfrm>
            <a:off x="548640" y="987480"/>
            <a:ext cx="1142640" cy="406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3" name="Text 5"/>
          <p:cNvSpPr/>
          <p:nvPr/>
        </p:nvSpPr>
        <p:spPr>
          <a:xfrm>
            <a:off x="822960" y="1325880"/>
            <a:ext cx="6217560" cy="411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r>
              <a:rPr lang="en-US" sz="1600" b="0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• ReadLine renvoie-t-il directement un Integer ? Pourquoi 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• Une variable peut-elle changer de valeur 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• À quoi sert un type 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• Quelle différence entre compilation et exécution 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• Pourquoi un téléphone est-il souvent un String 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0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• Que produit une comparaison 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• Pourquoi exécuter après une refactorisation 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4" name="Shape 6"/>
          <p:cNvSpPr/>
          <p:nvPr/>
        </p:nvSpPr>
        <p:spPr>
          <a:xfrm>
            <a:off x="8001000" y="2011680"/>
            <a:ext cx="2331360" cy="2331360"/>
          </a:xfrm>
          <a:prstGeom prst="ellipse">
            <a:avLst/>
          </a:prstGeom>
          <a:solidFill>
            <a:srgbClr val="D9ECF7"/>
          </a:solidFill>
          <a:ln w="12600">
            <a:solidFill>
              <a:srgbClr val="2F6F9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Text 7"/>
          <p:cNvSpPr/>
          <p:nvPr/>
        </p:nvSpPr>
        <p:spPr>
          <a:xfrm>
            <a:off x="8321040" y="2541960"/>
            <a:ext cx="169128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Prédire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avant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d’exécuter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6" name="Text 8"/>
          <p:cNvSpPr/>
          <p:nvPr/>
        </p:nvSpPr>
        <p:spPr>
          <a:xfrm>
            <a:off x="502920" y="653796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Visual Basic .NET • J1 • Live coding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7" name="Text 9"/>
          <p:cNvSpPr/>
          <p:nvPr/>
        </p:nvSpPr>
        <p:spPr>
          <a:xfrm>
            <a:off x="11384280" y="649224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40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9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0" name="Text 2"/>
          <p:cNvSpPr/>
          <p:nvPr/>
        </p:nvSpPr>
        <p:spPr>
          <a:xfrm>
            <a:off x="548640" y="25596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F6F9F"/>
                </a:solidFill>
                <a:effectLst/>
                <a:uFillTx/>
                <a:latin typeface="Aptos"/>
              </a:rPr>
              <a:t>SI LE GROUPE AVANCE VITE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1" name="Text 3"/>
          <p:cNvSpPr/>
          <p:nvPr/>
        </p:nvSpPr>
        <p:spPr>
          <a:xfrm>
            <a:off x="530280" y="50292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83B5A"/>
                </a:solidFill>
                <a:effectLst/>
                <a:uFillTx/>
                <a:latin typeface="Aptos"/>
              </a:rPr>
              <a:t>Exercices supplémentaires J1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2" name="Shape 4"/>
          <p:cNvSpPr/>
          <p:nvPr/>
        </p:nvSpPr>
        <p:spPr>
          <a:xfrm>
            <a:off x="548640" y="987480"/>
            <a:ext cx="1142640" cy="406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3" name="Shape 5"/>
          <p:cNvSpPr/>
          <p:nvPr/>
        </p:nvSpPr>
        <p:spPr>
          <a:xfrm>
            <a:off x="731520" y="1325880"/>
            <a:ext cx="5120280" cy="959760"/>
          </a:xfrm>
          <a:prstGeom prst="roundRect">
            <a:avLst>
              <a:gd name="adj" fmla="val 7619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4" name="Shape 6"/>
          <p:cNvSpPr/>
          <p:nvPr/>
        </p:nvSpPr>
        <p:spPr>
          <a:xfrm>
            <a:off x="731520" y="1325880"/>
            <a:ext cx="72720" cy="959760"/>
          </a:xfrm>
          <a:prstGeom prst="rect">
            <a:avLst/>
          </a:prstGeom>
          <a:solidFill>
            <a:srgbClr val="2F6F9F"/>
          </a:solidFill>
          <a:ln w="12600">
            <a:solidFill>
              <a:srgbClr val="2F6F9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5" name="Text 7"/>
          <p:cNvSpPr/>
          <p:nvPr/>
        </p:nvSpPr>
        <p:spPr>
          <a:xfrm>
            <a:off x="896040" y="1444680"/>
            <a:ext cx="4845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A. Celsius → Fahrenheit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6" name="Text 8"/>
          <p:cNvSpPr/>
          <p:nvPr/>
        </p:nvSpPr>
        <p:spPr>
          <a:xfrm>
            <a:off x="896040" y="1746360"/>
            <a:ext cx="484596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Formule : F = C × 9 / 5 + 32. Pseudo-code puis code.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7" name="Shape 9"/>
          <p:cNvSpPr/>
          <p:nvPr/>
        </p:nvSpPr>
        <p:spPr>
          <a:xfrm>
            <a:off x="6355080" y="1325880"/>
            <a:ext cx="5120280" cy="959760"/>
          </a:xfrm>
          <a:prstGeom prst="roundRect">
            <a:avLst>
              <a:gd name="adj" fmla="val 7619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8" name="Shape 10"/>
          <p:cNvSpPr/>
          <p:nvPr/>
        </p:nvSpPr>
        <p:spPr>
          <a:xfrm>
            <a:off x="6355080" y="1325880"/>
            <a:ext cx="72720" cy="959760"/>
          </a:xfrm>
          <a:prstGeom prst="rect">
            <a:avLst/>
          </a:prstGeom>
          <a:solidFill>
            <a:srgbClr val="2E7D61"/>
          </a:solidFill>
          <a:ln w="12600">
            <a:solidFill>
              <a:srgbClr val="2E7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9" name="Text 11"/>
          <p:cNvSpPr/>
          <p:nvPr/>
        </p:nvSpPr>
        <p:spPr>
          <a:xfrm>
            <a:off x="6519600" y="1444680"/>
            <a:ext cx="4845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B. Rectangle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Text 12"/>
          <p:cNvSpPr/>
          <p:nvPr/>
        </p:nvSpPr>
        <p:spPr>
          <a:xfrm>
            <a:off x="6519600" y="1746360"/>
            <a:ext cx="484596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Lire largeur et hauteur, afficher aire et périmètre.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1" name="Shape 13"/>
          <p:cNvSpPr/>
          <p:nvPr/>
        </p:nvSpPr>
        <p:spPr>
          <a:xfrm>
            <a:off x="731520" y="2743200"/>
            <a:ext cx="5120280" cy="959760"/>
          </a:xfrm>
          <a:prstGeom prst="roundRect">
            <a:avLst>
              <a:gd name="adj" fmla="val 7619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2" name="Shape 14"/>
          <p:cNvSpPr/>
          <p:nvPr/>
        </p:nvSpPr>
        <p:spPr>
          <a:xfrm>
            <a:off x="731520" y="2743200"/>
            <a:ext cx="72720" cy="95976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3" name="Text 15"/>
          <p:cNvSpPr/>
          <p:nvPr/>
        </p:nvSpPr>
        <p:spPr>
          <a:xfrm>
            <a:off x="896040" y="2862000"/>
            <a:ext cx="4845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C. Durée en minutes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4" name="Text 16"/>
          <p:cNvSpPr/>
          <p:nvPr/>
        </p:nvSpPr>
        <p:spPr>
          <a:xfrm>
            <a:off x="896040" y="3163680"/>
            <a:ext cx="484596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Calculer heures et minutes restantes avec \ et Mod.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5" name="Shape 17"/>
          <p:cNvSpPr/>
          <p:nvPr/>
        </p:nvSpPr>
        <p:spPr>
          <a:xfrm>
            <a:off x="6355080" y="2743200"/>
            <a:ext cx="5120280" cy="959760"/>
          </a:xfrm>
          <a:prstGeom prst="roundRect">
            <a:avLst>
              <a:gd name="adj" fmla="val 7619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6" name="Shape 18"/>
          <p:cNvSpPr/>
          <p:nvPr/>
        </p:nvSpPr>
        <p:spPr>
          <a:xfrm>
            <a:off x="6355080" y="2743200"/>
            <a:ext cx="72720" cy="959760"/>
          </a:xfrm>
          <a:prstGeom prst="rect">
            <a:avLst/>
          </a:prstGeom>
          <a:solidFill>
            <a:srgbClr val="2F6F9F"/>
          </a:solidFill>
          <a:ln w="12600">
            <a:solidFill>
              <a:srgbClr val="2F6F9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7" name="Text 19"/>
          <p:cNvSpPr/>
          <p:nvPr/>
        </p:nvSpPr>
        <p:spPr>
          <a:xfrm>
            <a:off x="6519600" y="2862000"/>
            <a:ext cx="4845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D. Comparaisons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8" name="Text 20"/>
          <p:cNvSpPr/>
          <p:nvPr/>
        </p:nvSpPr>
        <p:spPr>
          <a:xfrm>
            <a:off x="6519600" y="3163680"/>
            <a:ext cx="484596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Créer deux âges et afficher &gt;, =, &lt;&gt; sans utiliser If.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9" name="Shape 21"/>
          <p:cNvSpPr/>
          <p:nvPr/>
        </p:nvSpPr>
        <p:spPr>
          <a:xfrm>
            <a:off x="2011680" y="4572000"/>
            <a:ext cx="8137800" cy="776880"/>
          </a:xfrm>
          <a:prstGeom prst="roundRect">
            <a:avLst>
              <a:gd name="adj" fmla="val 7059"/>
            </a:avLst>
          </a:prstGeom>
          <a:solidFill>
            <a:srgbClr val="17212B"/>
          </a:solidFill>
          <a:ln w="6480">
            <a:solidFill>
              <a:srgbClr val="0F172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0" name="Text 22"/>
          <p:cNvSpPr/>
          <p:nvPr/>
        </p:nvSpPr>
        <p:spPr>
          <a:xfrm>
            <a:off x="2176200" y="4690800"/>
            <a:ext cx="784512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heures As Integer = totalMinutes \ 60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E6EDF3"/>
                </a:solidFill>
                <a:effectLst/>
                <a:uFillTx/>
                <a:latin typeface="Cascadia Mono"/>
                <a:ea typeface="Cascadia Mono"/>
              </a:rPr>
              <a:t>Dim minutesRestantes As Integer = totalMinutes Mod 60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1" name="Text 23"/>
          <p:cNvSpPr/>
          <p:nvPr/>
        </p:nvSpPr>
        <p:spPr>
          <a:xfrm>
            <a:off x="502920" y="653796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Visual Basic .NET • J1 • Live coding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2" name="Text 24"/>
          <p:cNvSpPr/>
          <p:nvPr/>
        </p:nvSpPr>
        <p:spPr>
          <a:xfrm>
            <a:off x="11384280" y="649224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41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4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5" name="Text 2"/>
          <p:cNvSpPr/>
          <p:nvPr/>
        </p:nvSpPr>
        <p:spPr>
          <a:xfrm>
            <a:off x="548640" y="25596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F6F9F"/>
                </a:solidFill>
                <a:effectLst/>
                <a:uFillTx/>
                <a:latin typeface="Aptos"/>
              </a:rPr>
              <a:t>CE QUI DOIT RESTER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6" name="Text 3"/>
          <p:cNvSpPr/>
          <p:nvPr/>
        </p:nvSpPr>
        <p:spPr>
          <a:xfrm>
            <a:off x="530280" y="50292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83B5A"/>
                </a:solidFill>
                <a:effectLst/>
                <a:uFillTx/>
                <a:latin typeface="Aptos"/>
              </a:rPr>
              <a:t>Synthèse J1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7" name="Shape 4"/>
          <p:cNvSpPr/>
          <p:nvPr/>
        </p:nvSpPr>
        <p:spPr>
          <a:xfrm>
            <a:off x="548640" y="987480"/>
            <a:ext cx="1142640" cy="406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8" name="Shape 5"/>
          <p:cNvSpPr/>
          <p:nvPr/>
        </p:nvSpPr>
        <p:spPr>
          <a:xfrm>
            <a:off x="731520" y="1417320"/>
            <a:ext cx="1683720" cy="475200"/>
          </a:xfrm>
          <a:prstGeom prst="roundRect">
            <a:avLst>
              <a:gd name="adj" fmla="val 11538"/>
            </a:avLst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9" name="Text 6"/>
          <p:cNvSpPr/>
          <p:nvPr/>
        </p:nvSpPr>
        <p:spPr>
          <a:xfrm>
            <a:off x="768240" y="1572840"/>
            <a:ext cx="16106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Besoin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0" name="Shape 7"/>
          <p:cNvSpPr/>
          <p:nvPr/>
        </p:nvSpPr>
        <p:spPr>
          <a:xfrm>
            <a:off x="2433600" y="1636560"/>
            <a:ext cx="82440" cy="360"/>
          </a:xfrm>
          <a:prstGeom prst="line">
            <a:avLst/>
          </a:prstGeom>
          <a:ln w="15120">
            <a:solidFill>
              <a:srgbClr val="9FB6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1" name="Shape 8"/>
          <p:cNvSpPr/>
          <p:nvPr/>
        </p:nvSpPr>
        <p:spPr>
          <a:xfrm>
            <a:off x="2534400" y="1417320"/>
            <a:ext cx="1683720" cy="475200"/>
          </a:xfrm>
          <a:prstGeom prst="roundRect">
            <a:avLst>
              <a:gd name="adj" fmla="val 11538"/>
            </a:avLst>
          </a:prstGeom>
          <a:solidFill>
            <a:srgbClr val="F5F8FA"/>
          </a:solidFill>
          <a:ln w="12600">
            <a:solidFill>
              <a:srgbClr val="D5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2" name="Text 9"/>
          <p:cNvSpPr/>
          <p:nvPr/>
        </p:nvSpPr>
        <p:spPr>
          <a:xfrm>
            <a:off x="2571120" y="1572840"/>
            <a:ext cx="16106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Pseudo-code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3" name="Shape 10"/>
          <p:cNvSpPr/>
          <p:nvPr/>
        </p:nvSpPr>
        <p:spPr>
          <a:xfrm>
            <a:off x="4236480" y="1636560"/>
            <a:ext cx="82440" cy="360"/>
          </a:xfrm>
          <a:prstGeom prst="line">
            <a:avLst/>
          </a:prstGeom>
          <a:ln w="15120">
            <a:solidFill>
              <a:srgbClr val="9FB6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4" name="Shape 11"/>
          <p:cNvSpPr/>
          <p:nvPr/>
        </p:nvSpPr>
        <p:spPr>
          <a:xfrm>
            <a:off x="4337280" y="1417320"/>
            <a:ext cx="1683720" cy="475200"/>
          </a:xfrm>
          <a:prstGeom prst="roundRect">
            <a:avLst>
              <a:gd name="adj" fmla="val 11538"/>
            </a:avLst>
          </a:prstGeom>
          <a:solidFill>
            <a:srgbClr val="F5F8FA"/>
          </a:solidFill>
          <a:ln w="12600">
            <a:solidFill>
              <a:srgbClr val="D5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5" name="Text 12"/>
          <p:cNvSpPr/>
          <p:nvPr/>
        </p:nvSpPr>
        <p:spPr>
          <a:xfrm>
            <a:off x="4374000" y="1572840"/>
            <a:ext cx="16106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VB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6" name="Shape 13"/>
          <p:cNvSpPr/>
          <p:nvPr/>
        </p:nvSpPr>
        <p:spPr>
          <a:xfrm>
            <a:off x="6039360" y="1636560"/>
            <a:ext cx="82440" cy="360"/>
          </a:xfrm>
          <a:prstGeom prst="line">
            <a:avLst/>
          </a:prstGeom>
          <a:ln w="15120">
            <a:solidFill>
              <a:srgbClr val="9FB6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7" name="Shape 14"/>
          <p:cNvSpPr/>
          <p:nvPr/>
        </p:nvSpPr>
        <p:spPr>
          <a:xfrm>
            <a:off x="6140160" y="1417320"/>
            <a:ext cx="1683720" cy="475200"/>
          </a:xfrm>
          <a:prstGeom prst="roundRect">
            <a:avLst>
              <a:gd name="adj" fmla="val 11538"/>
            </a:avLst>
          </a:prstGeom>
          <a:solidFill>
            <a:srgbClr val="F5F8FA"/>
          </a:solidFill>
          <a:ln w="12600">
            <a:solidFill>
              <a:srgbClr val="D5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Text 15"/>
          <p:cNvSpPr/>
          <p:nvPr/>
        </p:nvSpPr>
        <p:spPr>
          <a:xfrm>
            <a:off x="6176880" y="1572840"/>
            <a:ext cx="16106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Compilation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9" name="Shape 16"/>
          <p:cNvSpPr/>
          <p:nvPr/>
        </p:nvSpPr>
        <p:spPr>
          <a:xfrm>
            <a:off x="7842240" y="1636560"/>
            <a:ext cx="82440" cy="360"/>
          </a:xfrm>
          <a:prstGeom prst="line">
            <a:avLst/>
          </a:prstGeom>
          <a:ln w="15120">
            <a:solidFill>
              <a:srgbClr val="9FB6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0" name="Shape 17"/>
          <p:cNvSpPr/>
          <p:nvPr/>
        </p:nvSpPr>
        <p:spPr>
          <a:xfrm>
            <a:off x="7943040" y="1417320"/>
            <a:ext cx="1683720" cy="475200"/>
          </a:xfrm>
          <a:prstGeom prst="roundRect">
            <a:avLst>
              <a:gd name="adj" fmla="val 11538"/>
            </a:avLst>
          </a:prstGeom>
          <a:solidFill>
            <a:srgbClr val="F5F8FA"/>
          </a:solidFill>
          <a:ln w="12600">
            <a:solidFill>
              <a:srgbClr val="D5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1" name="Text 18"/>
          <p:cNvSpPr/>
          <p:nvPr/>
        </p:nvSpPr>
        <p:spPr>
          <a:xfrm>
            <a:off x="7979760" y="1572840"/>
            <a:ext cx="16106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Exécution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Shape 19"/>
          <p:cNvSpPr/>
          <p:nvPr/>
        </p:nvSpPr>
        <p:spPr>
          <a:xfrm>
            <a:off x="9645120" y="1636560"/>
            <a:ext cx="82440" cy="360"/>
          </a:xfrm>
          <a:prstGeom prst="line">
            <a:avLst/>
          </a:prstGeom>
          <a:ln w="15120">
            <a:solidFill>
              <a:srgbClr val="9FB6C9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3" name="Shape 20"/>
          <p:cNvSpPr/>
          <p:nvPr/>
        </p:nvSpPr>
        <p:spPr>
          <a:xfrm>
            <a:off x="9745920" y="1417320"/>
            <a:ext cx="1683720" cy="475200"/>
          </a:xfrm>
          <a:prstGeom prst="roundRect">
            <a:avLst>
              <a:gd name="adj" fmla="val 11538"/>
            </a:avLst>
          </a:prstGeom>
          <a:solidFill>
            <a:srgbClr val="2E7D61"/>
          </a:solidFill>
          <a:ln w="12600">
            <a:solidFill>
              <a:srgbClr val="2E7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4" name="Text 21"/>
          <p:cNvSpPr/>
          <p:nvPr/>
        </p:nvSpPr>
        <p:spPr>
          <a:xfrm>
            <a:off x="9782640" y="1572840"/>
            <a:ext cx="16106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Diagnostic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5" name="Text 22"/>
          <p:cNvSpPr/>
          <p:nvPr/>
        </p:nvSpPr>
        <p:spPr>
          <a:xfrm>
            <a:off x="868680" y="2423160"/>
            <a:ext cx="1005804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r>
              <a:rPr lang="en-US" sz="1700" b="0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• Un programme est une suite d’instructions exécutées pour produire un résultat.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• L’algorithme décrit la solution avant la syntaxe.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• Les variables nomment des données ; les types encadrent les valeurs.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• ReadLine renvoie du texte : convertir est un choix explicite.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700" b="0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• Une expression produit une valeur ; une comparaison produit un Boolean.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F2933"/>
                </a:solidFill>
                <a:effectLst/>
                <a:uFillTx/>
                <a:latin typeface="Aptos"/>
              </a:rPr>
              <a:t>• La lisibilité est une compétence de programmation.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6" name="Text 23"/>
          <p:cNvSpPr/>
          <p:nvPr/>
        </p:nvSpPr>
        <p:spPr>
          <a:xfrm>
            <a:off x="502920" y="653796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Visual Basic .NET • J1 • Live coding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7" name="Text 24"/>
          <p:cNvSpPr/>
          <p:nvPr/>
        </p:nvSpPr>
        <p:spPr>
          <a:xfrm>
            <a:off x="11384280" y="649224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42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126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9" name="Shape 1"/>
          <p:cNvSpPr/>
          <p:nvPr/>
        </p:nvSpPr>
        <p:spPr>
          <a:xfrm>
            <a:off x="0" y="0"/>
            <a:ext cx="109440" cy="6857640"/>
          </a:xfrm>
          <a:prstGeom prst="rect">
            <a:avLst/>
          </a:prstGeom>
          <a:solidFill>
            <a:srgbClr val="183B5A"/>
          </a:solidFill>
          <a:ln w="12600">
            <a:solidFill>
              <a:srgbClr val="183B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0" name="Text 2"/>
          <p:cNvSpPr/>
          <p:nvPr/>
        </p:nvSpPr>
        <p:spPr>
          <a:xfrm>
            <a:off x="548640" y="255960"/>
            <a:ext cx="107895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2F6F9F"/>
                </a:solidFill>
                <a:effectLst/>
                <a:uFillTx/>
                <a:latin typeface="Aptos"/>
              </a:rPr>
              <a:t>CONDITIONS, BOUCLES, TABLEAUX, FONCTIONS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1" name="Text 3"/>
          <p:cNvSpPr/>
          <p:nvPr/>
        </p:nvSpPr>
        <p:spPr>
          <a:xfrm>
            <a:off x="530280" y="502920"/>
            <a:ext cx="108810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83B5A"/>
                </a:solidFill>
                <a:effectLst/>
                <a:uFillTx/>
                <a:latin typeface="Aptos"/>
              </a:rPr>
              <a:t>Transition vers J2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2" name="Shape 4"/>
          <p:cNvSpPr/>
          <p:nvPr/>
        </p:nvSpPr>
        <p:spPr>
          <a:xfrm>
            <a:off x="548640" y="987480"/>
            <a:ext cx="1142640" cy="406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3" name="Shape 5"/>
          <p:cNvSpPr/>
          <p:nvPr/>
        </p:nvSpPr>
        <p:spPr>
          <a:xfrm>
            <a:off x="777240" y="1463040"/>
            <a:ext cx="3657240" cy="1462680"/>
          </a:xfrm>
          <a:prstGeom prst="roundRect">
            <a:avLst>
              <a:gd name="adj" fmla="val 5000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4" name="Shape 6"/>
          <p:cNvSpPr/>
          <p:nvPr/>
        </p:nvSpPr>
        <p:spPr>
          <a:xfrm>
            <a:off x="777240" y="1463040"/>
            <a:ext cx="72720" cy="1462680"/>
          </a:xfrm>
          <a:prstGeom prst="rect">
            <a:avLst/>
          </a:prstGeom>
          <a:solidFill>
            <a:srgbClr val="2E7D61"/>
          </a:solidFill>
          <a:ln w="12600">
            <a:solidFill>
              <a:srgbClr val="2E7D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5" name="Text 7"/>
          <p:cNvSpPr/>
          <p:nvPr/>
        </p:nvSpPr>
        <p:spPr>
          <a:xfrm>
            <a:off x="941760" y="1581840"/>
            <a:ext cx="33829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Ce que l’on sait faire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6" name="Text 8"/>
          <p:cNvSpPr/>
          <p:nvPr/>
        </p:nvSpPr>
        <p:spPr>
          <a:xfrm>
            <a:off x="941760" y="1883520"/>
            <a:ext cx="338292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Lire des données, convertir, calculer, comparer, afficher et diagnostiquer des erreurs simples.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7" name="Shape 9"/>
          <p:cNvSpPr/>
          <p:nvPr/>
        </p:nvSpPr>
        <p:spPr>
          <a:xfrm>
            <a:off x="4526280" y="1463040"/>
            <a:ext cx="3565800" cy="1462680"/>
          </a:xfrm>
          <a:prstGeom prst="roundRect">
            <a:avLst>
              <a:gd name="adj" fmla="val 5000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8" name="Shape 10"/>
          <p:cNvSpPr/>
          <p:nvPr/>
        </p:nvSpPr>
        <p:spPr>
          <a:xfrm>
            <a:off x="4526280" y="1463040"/>
            <a:ext cx="72720" cy="1462680"/>
          </a:xfrm>
          <a:prstGeom prst="rect">
            <a:avLst/>
          </a:prstGeom>
          <a:solidFill>
            <a:srgbClr val="C9732F"/>
          </a:solidFill>
          <a:ln w="12600">
            <a:solidFill>
              <a:srgbClr val="C973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9" name="Text 11"/>
          <p:cNvSpPr/>
          <p:nvPr/>
        </p:nvSpPr>
        <p:spPr>
          <a:xfrm>
            <a:off x="4690800" y="1581840"/>
            <a:ext cx="3291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Problème ouvert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0" name="Text 12"/>
          <p:cNvSpPr/>
          <p:nvPr/>
        </p:nvSpPr>
        <p:spPr>
          <a:xfrm>
            <a:off x="4690800" y="1883520"/>
            <a:ext cx="329148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Que faire si la saisie est invalide ? Comment répéter un menu ? Comment stocker plusieurs contacts ?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1" name="Shape 13"/>
          <p:cNvSpPr/>
          <p:nvPr/>
        </p:nvSpPr>
        <p:spPr>
          <a:xfrm>
            <a:off x="8183880" y="1463040"/>
            <a:ext cx="3245760" cy="1462680"/>
          </a:xfrm>
          <a:prstGeom prst="roundRect">
            <a:avLst>
              <a:gd name="adj" fmla="val 5000"/>
            </a:avLst>
          </a:prstGeom>
          <a:solidFill>
            <a:srgbClr val="F5F8FA"/>
          </a:solidFill>
          <a:ln w="10080">
            <a:solidFill>
              <a:srgbClr val="D4DEE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2" name="Shape 14"/>
          <p:cNvSpPr/>
          <p:nvPr/>
        </p:nvSpPr>
        <p:spPr>
          <a:xfrm>
            <a:off x="8183880" y="1463040"/>
            <a:ext cx="72720" cy="1462680"/>
          </a:xfrm>
          <a:prstGeom prst="rect">
            <a:avLst/>
          </a:prstGeom>
          <a:solidFill>
            <a:srgbClr val="2F6F9F"/>
          </a:solidFill>
          <a:ln w="12600">
            <a:solidFill>
              <a:srgbClr val="2F6F9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3" name="Text 15"/>
          <p:cNvSpPr/>
          <p:nvPr/>
        </p:nvSpPr>
        <p:spPr>
          <a:xfrm>
            <a:off x="8348400" y="1581840"/>
            <a:ext cx="2971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J2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4" name="Text 16"/>
          <p:cNvSpPr/>
          <p:nvPr/>
        </p:nvSpPr>
        <p:spPr>
          <a:xfrm>
            <a:off x="8348400" y="1883520"/>
            <a:ext cx="297144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F2933"/>
                </a:solidFill>
                <a:effectLst/>
                <a:uFillTx/>
                <a:latin typeface="Aptos"/>
                <a:ea typeface="Aptos"/>
              </a:rPr>
              <a:t>If, Select Case, boucles, tableaux, Sub, Function, ByVal / ByRef.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5" name="Text 17"/>
          <p:cNvSpPr/>
          <p:nvPr/>
        </p:nvSpPr>
        <p:spPr>
          <a:xfrm>
            <a:off x="1005840" y="4297680"/>
            <a:ext cx="1014948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83B5A"/>
                </a:solidFill>
                <a:effectLst/>
                <a:uFillTx/>
                <a:latin typeface="Aptos"/>
                <a:ea typeface="Aptos"/>
              </a:rPr>
              <a:t>La question vraie/fausse produite aujourd’hui servira demain à piloter le programme.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6" name="Text 18"/>
          <p:cNvSpPr/>
          <p:nvPr/>
        </p:nvSpPr>
        <p:spPr>
          <a:xfrm>
            <a:off x="502920" y="6537960"/>
            <a:ext cx="5943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Visual Basic .NET • J1 • Live coding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7" name="Text 19"/>
          <p:cNvSpPr/>
          <p:nvPr/>
        </p:nvSpPr>
        <p:spPr>
          <a:xfrm>
            <a:off x="11384280" y="649224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00" b="0" u="none" strike="noStrike">
                <a:solidFill>
                  <a:srgbClr val="78909C"/>
                </a:solidFill>
                <a:effectLst/>
                <a:uFillTx/>
                <a:latin typeface="Aptos"/>
              </a:rPr>
              <a:t>43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4076</Words>
  <Application>Microsoft Office PowerPoint</Application>
  <PresentationFormat>Grand écran</PresentationFormat>
  <Paragraphs>723</Paragraphs>
  <Slides>44</Slides>
  <Notes>44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44</vt:i4>
      </vt:variant>
    </vt:vector>
  </HeadingPairs>
  <TitlesOfParts>
    <vt:vector size="51" baseType="lpstr">
      <vt:lpstr>Aptos</vt:lpstr>
      <vt:lpstr>Arial</vt:lpstr>
      <vt:lpstr>Cascadia Mono</vt:lpstr>
      <vt:lpstr>Symbol</vt:lpstr>
      <vt:lpstr>Times New Roman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jean-christophe rangon</cp:lastModifiedBy>
  <cp:revision>1</cp:revision>
  <dcterms:modified xsi:type="dcterms:W3CDTF">2026-10-04T08:55:11Z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2026-09-27T10:26:26Z</dcterms:created>
  <dc:creator>OpenAI</dc:creator>
  <dc:description/>
  <dc:language>en-US</dc:language>
  <cp:lastModifiedBy>OpenAI</cp:lastModifiedBy>
  <dcterms:modified xsi:type="dcterms:W3CDTF">2026-09-27T10:26:26Z</dcterms:modified>
  <cp:revision>1</cp:revision>
  <dc:subject>Visual Basic J1 Live Coding</dc:subject>
  <dc:title>Support slides - Visual Basic J1 Live Coding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44</vt:r8>
  </property>
  <property fmtid="{D5CDD505-2E9C-101B-9397-08002B2CF9AE}" pid="3" name="PresentationFormat">
    <vt:lpwstr>On-screen Show (16:9)</vt:lpwstr>
  </property>
  <property fmtid="{D5CDD505-2E9C-101B-9397-08002B2CF9AE}" pid="4" name="Slides">
    <vt:r8>44</vt:r8>
  </property>
</Properties>
</file>