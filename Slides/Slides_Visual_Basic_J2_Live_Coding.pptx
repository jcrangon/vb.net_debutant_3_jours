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666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94360" y="6364224"/>
            <a:ext cx="11018520" cy="0"/>
          </a:xfrm>
          <a:prstGeom prst="line">
            <a:avLst/>
          </a:prstGeom>
          <a:noFill/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Basic .NET • J2 • Live coding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JOUR 2 • VISUAL BASIC .NET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</a:rPr>
              <a:t>Structures de contrôle, tableaux, procédures et fonctions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Cours orienté live coding : prédire, coder, exécuter, diagnostiquer, améliorer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46520" y="3886200"/>
            <a:ext cx="861365" cy="1325880"/>
          </a:xfrm>
          <a:prstGeom prst="roundRect">
            <a:avLst>
              <a:gd name="adj" fmla="val 6369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574536" y="3995928"/>
            <a:ext cx="60533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Question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7029" y="4549140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408469" y="3886200"/>
            <a:ext cx="861365" cy="1325880"/>
          </a:xfrm>
          <a:prstGeom prst="roundRect">
            <a:avLst>
              <a:gd name="adj" fmla="val 6369"/>
            </a:avLst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536485" y="3995928"/>
            <a:ext cx="60533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78978" y="4549140"/>
            <a:ext cx="73152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70418" y="3886200"/>
            <a:ext cx="861365" cy="1325880"/>
          </a:xfrm>
          <a:prstGeom prst="roundRect">
            <a:avLst>
              <a:gd name="adj" fmla="val 6369"/>
            </a:avLst>
          </a:prstGeom>
          <a:solidFill>
            <a:srgbClr val="E0F2FE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498434" y="3995928"/>
            <a:ext cx="60533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Exécution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40926" y="4549140"/>
            <a:ext cx="7315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9332366" y="3886200"/>
            <a:ext cx="861365" cy="1325880"/>
          </a:xfrm>
          <a:prstGeom prst="roundRect">
            <a:avLst>
              <a:gd name="adj" fmla="val 6369"/>
            </a:avLst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460382" y="3995928"/>
            <a:ext cx="60533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Diagnostic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202875" y="4549140"/>
            <a:ext cx="7315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0294315" y="3886200"/>
            <a:ext cx="861365" cy="1325880"/>
          </a:xfrm>
          <a:prstGeom prst="roundRect">
            <a:avLst>
              <a:gd name="adj" fmla="val 6369"/>
            </a:avLst>
          </a:prstGeom>
          <a:solidFill>
            <a:srgbClr val="E0F2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0422331" y="3995928"/>
            <a:ext cx="60533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Variation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5394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Fil rouge : mini-gestion de contacts console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7332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J2 transforme le programme linéaire du J1 en programme structuré et réutilisable.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POINT DE DÉPART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Objectifs observables du J2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557784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0F172A"/>
                </a:solidFill>
              </a:rPr>
              <a:t>Choisir la bonne condition : If, ElseIf ou Select Case.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Construire des boucles avec une condition d’arrêt claire.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Parcourir tableaux et matrices sans sortir des limites.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Découper le code avec Sub, Function, paramètres, ByVal et ByRef.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Assembler ces notions dans une mini-gestion de contacts console.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417320"/>
            <a:ext cx="888797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711696" y="1527048"/>
            <a:ext cx="63276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Prédire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81621" y="1760220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573061" y="1417320"/>
            <a:ext cx="888797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701077" y="1527048"/>
            <a:ext cx="63276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Coder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71002" y="1760220"/>
            <a:ext cx="73152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8562442" y="1417320"/>
            <a:ext cx="888797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690458" y="1527048"/>
            <a:ext cx="63276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Tester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460382" y="1760220"/>
            <a:ext cx="7315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551822" y="1417320"/>
            <a:ext cx="888797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679838" y="1527048"/>
            <a:ext cx="63276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Casser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449763" y="1760220"/>
            <a:ext cx="7315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0541203" y="1417320"/>
            <a:ext cx="888797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0669219" y="1527048"/>
            <a:ext cx="63276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Améliorer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0840" y="2423160"/>
            <a:ext cx="4526280" cy="1143000"/>
          </a:xfrm>
          <a:prstGeom prst="roundRect">
            <a:avLst>
              <a:gd name="adj" fmla="val 4800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48856" y="2532888"/>
            <a:ext cx="4270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Règle du jour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Le formateur ne montre pas la solution finie : il la construit et la corrige avec le groupe.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20840" y="3886200"/>
            <a:ext cx="45262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848856" y="3995928"/>
            <a:ext cx="42702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Trace attendue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Un programme console structuré : menu, contacts, recherche, Sub et Function.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CARTE DE ROUTE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La journée en 6 grands blocs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618488" cy="627017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04672" y="1353312"/>
            <a:ext cx="147218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Horaire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50008" y="1280160"/>
            <a:ext cx="3560674" cy="627017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423160" y="1353312"/>
            <a:ext cx="3414370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Bloc live coding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10682" y="1280160"/>
            <a:ext cx="5610758" cy="627017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83834" y="1353312"/>
            <a:ext cx="546445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Production visible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1907177"/>
            <a:ext cx="1618488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04672" y="1980329"/>
            <a:ext cx="147218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09h00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50008" y="1907177"/>
            <a:ext cx="3560674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23160" y="1980329"/>
            <a:ext cx="3414370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Réactivation J1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10682" y="1907177"/>
            <a:ext cx="5610758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83834" y="1980329"/>
            <a:ext cx="546445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lecture de code + conversions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34194"/>
            <a:ext cx="1618488" cy="62701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04672" y="2607346"/>
            <a:ext cx="147218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09h20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50008" y="2534194"/>
            <a:ext cx="3560674" cy="62701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423160" y="2607346"/>
            <a:ext cx="3414370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Conditions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10682" y="2534194"/>
            <a:ext cx="5610758" cy="62701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83834" y="2607346"/>
            <a:ext cx="546445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If, Else, ElseIf, Select Case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161211"/>
            <a:ext cx="1618488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04672" y="3234363"/>
            <a:ext cx="147218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10h35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50008" y="3161211"/>
            <a:ext cx="3560674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423160" y="3234363"/>
            <a:ext cx="3414370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Boucles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10682" y="3161211"/>
            <a:ext cx="5610758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983834" y="3234363"/>
            <a:ext cx="546445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While, Do, For, conditions d’arrêt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788229"/>
            <a:ext cx="1618488" cy="62701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04672" y="3861381"/>
            <a:ext cx="147218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11h45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50008" y="3788229"/>
            <a:ext cx="3560674" cy="62701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423160" y="3861381"/>
            <a:ext cx="3414370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Tableaux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10682" y="3788229"/>
            <a:ext cx="5610758" cy="62701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983834" y="3861381"/>
            <a:ext cx="546445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parcours, recherche, min/max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415246"/>
            <a:ext cx="1618488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804672" y="4488398"/>
            <a:ext cx="147218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13h30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50008" y="4415246"/>
            <a:ext cx="3560674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423160" y="4488398"/>
            <a:ext cx="3414370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Sub / Function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10682" y="4415246"/>
            <a:ext cx="5610758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983834" y="4488398"/>
            <a:ext cx="546445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découpage, paramètres, ByVal/ByRef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5042263"/>
            <a:ext cx="1618488" cy="62701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804672" y="5115415"/>
            <a:ext cx="147218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15h35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350008" y="5042263"/>
            <a:ext cx="3560674" cy="62701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423160" y="5115415"/>
            <a:ext cx="3414370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TP fil rouge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10682" y="5042263"/>
            <a:ext cx="5610758" cy="62701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983834" y="5115415"/>
            <a:ext cx="5464454" cy="5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mini-gestion de contacts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188720" y="5806440"/>
            <a:ext cx="9692640" cy="50292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1316736" y="5916168"/>
            <a:ext cx="9436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À chaque bloc : une question déclencheuse, un passage dans Visual Studio, une erreur volontaire et une mini-variation.</a:t>
            </a:r>
            <a:endParaRPr lang="en-US" sz="13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PRÉDICTION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Réactivation J1 : que va afficher ce code 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5669280" cy="4160520"/>
          </a:xfrm>
          <a:prstGeom prst="roundRect">
            <a:avLst>
              <a:gd name="adj" fmla="val 879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96112" y="1280160"/>
            <a:ext cx="5376672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Module Program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Sub Main()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Dim age As Integer = 20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Dim hasCard As Boolean =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Dim allowed As Boolean = age &gt;= 18 And hasCard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Console.WriteLine(allowed)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End Sub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Module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66560" y="114300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94576" y="12527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Questions au groupe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03720" y="1828800"/>
            <a:ext cx="41148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</a:rPr>
              <a:t>Quelle est la valeur de age &gt;= 18 ?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Pourquoi hasCard est déjà un Boolean ?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Que fait And ?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Quel est le lien avec un If 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12280" y="4206240"/>
            <a:ext cx="4297680" cy="96012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40296" y="4315968"/>
            <a:ext cx="4041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Réponse attendue : True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Un If utilise exactement ce type d’expression booléenne pour choisir un chemin.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RÉACTIVATION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Mini-défi : convertir sans planter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5303520" cy="2194560"/>
          </a:xfrm>
          <a:prstGeom prst="roundRect">
            <a:avLst>
              <a:gd name="adj" fmla="val 166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87552" y="1371600"/>
            <a:ext cx="50109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Console.Write("Âge : 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raw As String = Console.ReadLine()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age As Integer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ok As Boolean = Integer.TryParse(raw, age)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46520" y="1234440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574536" y="1344168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À faire prédire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452628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Que vaut ok si l’utilisateur tape « abc » ?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Que contient age si la conversion réussit ?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Pourquoi TryParse est plus utile que Parse dans une saisie utilisateur 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3977640"/>
            <a:ext cx="1894637" cy="694944"/>
          </a:xfrm>
          <a:prstGeom prst="roundRect">
            <a:avLst>
              <a:gd name="adj" fmla="val 7895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179576" y="4087368"/>
            <a:ext cx="16386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saisie texte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55341" y="4325112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046781" y="3977640"/>
            <a:ext cx="1894637" cy="694944"/>
          </a:xfrm>
          <a:prstGeom prst="roundRect">
            <a:avLst>
              <a:gd name="adj" fmla="val 7895"/>
            </a:avLst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74797" y="4087368"/>
            <a:ext cx="16386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TryParse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50562" y="4325112"/>
            <a:ext cx="73152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042002" y="3977640"/>
            <a:ext cx="1894637" cy="694944"/>
          </a:xfrm>
          <a:prstGeom prst="roundRect">
            <a:avLst>
              <a:gd name="adj" fmla="val 7895"/>
            </a:avLst>
          </a:prstGeom>
          <a:solidFill>
            <a:srgbClr val="E0F2FE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70018" y="4087368"/>
            <a:ext cx="16386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ok=True/False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5782" y="4325112"/>
            <a:ext cx="7315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7037222" y="3977640"/>
            <a:ext cx="1894637" cy="694944"/>
          </a:xfrm>
          <a:prstGeom prst="roundRect">
            <a:avLst>
              <a:gd name="adj" fmla="val 7895"/>
            </a:avLst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165238" y="4087368"/>
            <a:ext cx="16386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If ok Then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41003" y="4325112"/>
            <a:ext cx="7315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9032443" y="3977640"/>
            <a:ext cx="1894637" cy="694944"/>
          </a:xfrm>
          <a:prstGeom prst="roundRect">
            <a:avLst>
              <a:gd name="adj" fmla="val 7895"/>
            </a:avLst>
          </a:prstGeom>
          <a:solidFill>
            <a:srgbClr val="E0F2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9160459" y="4087368"/>
            <a:ext cx="16386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continuer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CONDITION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If...Then : faire exécuter un bloc seulement si...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50976" y="12984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Besoin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374136" y="129844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Si l’âge est au moins 18, afficher un message.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1536192"/>
            <a:ext cx="21031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5806440" cy="2880360"/>
          </a:xfrm>
          <a:prstGeom prst="roundRect">
            <a:avLst>
              <a:gd name="adj" fmla="val 127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87552" y="2286000"/>
            <a:ext cx="551383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Console.Write("Âge : 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age As Integer = Integer.Parse(Console.ReadLine())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age &gt;= 18 Then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Console.WriteLine("Accès autorisé")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If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95160" y="2148840"/>
            <a:ext cx="42519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</a:rPr>
              <a:t>If démarre la décision.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age &gt;= 18 produit True ou False.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Then ouvre le bloc exécuté si c’est vrai.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End If ferme explicitement la structure.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040880" y="489204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168896" y="500176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Erreur volontaire : supprimer Then puis lire le message de compilation.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CONDITION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If...Else : deux chemins exclusifs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754880" cy="2331720"/>
          </a:xfrm>
          <a:prstGeom prst="roundRect">
            <a:avLst>
              <a:gd name="adj" fmla="val 1569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87552" y="1371600"/>
            <a:ext cx="446227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age &gt;= 18 Then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Console.WriteLine("Majeur")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Console.WriteLine("Mineur")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If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1234440"/>
            <a:ext cx="484632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163056" y="1344168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Modèle mental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843077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254496" y="2029968"/>
            <a:ext cx="5870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condition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78701" y="2263140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070141" y="1920240"/>
            <a:ext cx="843077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198157" y="2029968"/>
            <a:ext cx="5870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True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22362" y="2263140"/>
            <a:ext cx="73152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8013802" y="1920240"/>
            <a:ext cx="843077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141818" y="2029968"/>
            <a:ext cx="5870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bloc If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6022" y="2263140"/>
            <a:ext cx="7315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957462" y="1920240"/>
            <a:ext cx="843077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085478" y="2029968"/>
            <a:ext cx="5870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False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809683" y="2263140"/>
            <a:ext cx="7315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9901123" y="1920240"/>
            <a:ext cx="843077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0029139" y="2029968"/>
            <a:ext cx="5870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bloc Else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3108960"/>
            <a:ext cx="452628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300216" y="3218688"/>
            <a:ext cx="4270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À faire verbaliser : Else signifie implicitement “sinon”. On ne réécrit pas la condition contraire.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" y="4069080"/>
            <a:ext cx="6446520" cy="1463040"/>
          </a:xfrm>
          <a:prstGeom prst="roundRect">
            <a:avLst>
              <a:gd name="adj" fmla="val 25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87552" y="4206240"/>
            <a:ext cx="615391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name = "" Then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Console.WriteLine("Erreur : le nom est obligatoire.")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Console.WriteLine("Contact accepté : " &amp; name)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If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543800" y="4160520"/>
            <a:ext cx="3291840" cy="1188720"/>
          </a:xfrm>
          <a:prstGeom prst="roundRect">
            <a:avLst>
              <a:gd name="adj" fmla="val 4615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671816" y="4270248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Variation fil rouge : gérer aussi le nom trop court.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CONDITION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ElseIf : l’ordre des règles change le résultat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5120640" cy="3886200"/>
          </a:xfrm>
          <a:prstGeom prst="roundRect">
            <a:avLst>
              <a:gd name="adj" fmla="val 941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41832" y="1234440"/>
            <a:ext cx="482803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score &gt;= 90 Then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Console.WriteLine("Excellent")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ElseIf score &gt;= 70 Then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Console.WriteLine("Bien")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ElseIf score &gt;= 50 Then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Console.WriteLine("Passable")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Console.WriteLine("Insuffisant")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If</a:t>
            </a:r>
            <a:endParaRPr lang="en-US" sz="1170" dirty="0"/>
          </a:p>
        </p:txBody>
      </p:sp>
      <p:sp>
        <p:nvSpPr>
          <p:cNvPr id="6" name="Shape 4"/>
          <p:cNvSpPr/>
          <p:nvPr/>
        </p:nvSpPr>
        <p:spPr>
          <a:xfrm>
            <a:off x="6355080" y="109728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83096" y="1207008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Idée clé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73952" y="1783080"/>
            <a:ext cx="42519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80" dirty="0">
                <a:solidFill>
                  <a:srgbClr val="0F172A"/>
                </a:solidFill>
              </a:rPr>
              <a:t>Une chaîne ElseIf s’arrête à la première condition vraie.</a:t>
            </a:r>
            <a:endParaRPr lang="en-US" sz="1380" dirty="0"/>
          </a:p>
          <a:p>
            <a:r>
              <a:rPr lang="en-US" sz="1380" dirty="0">
                <a:solidFill>
                  <a:srgbClr val="0F172A"/>
                </a:solidFill>
              </a:rPr>
              <a:t>On part souvent du seuil le plus strict vers le plus large.</a:t>
            </a:r>
            <a:endParaRPr lang="en-US" sz="1380" dirty="0"/>
          </a:p>
          <a:p>
            <a:r>
              <a:rPr lang="en-US" sz="1380" dirty="0">
                <a:solidFill>
                  <a:srgbClr val="0F172A"/>
                </a:solidFill>
              </a:rPr>
              <a:t>Une mauvaise position rend certains cas impossibles à atteindre.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6400800" y="3931920"/>
            <a:ext cx="4343400" cy="1463040"/>
          </a:xfrm>
          <a:prstGeom prst="roundRect">
            <a:avLst>
              <a:gd name="adj" fmla="val 2500"/>
            </a:avLst>
          </a:prstGeom>
          <a:solidFill>
            <a:srgbClr val="7F1D1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565392" y="4069080"/>
            <a:ext cx="40507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' Erreur volontaire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score &gt;= 50 Then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Console.WriteLine("Passable")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ElseIf score &gt;= 70 Then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Console.WriteLine("Bien")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If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CONDITION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Select Case : menu et valeurs discrètes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760720" cy="4709160"/>
          </a:xfrm>
          <a:prstGeom prst="roundRect">
            <a:avLst>
              <a:gd name="adj" fmla="val 77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96112" y="1234440"/>
            <a:ext cx="546811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Console.WriteLine("1 - Ajouter")</a:t>
            </a:r>
            <a:endParaRPr lang="en-US" sz="990" dirty="0"/>
          </a:p>
          <a:p>
            <a:pPr marL="0" indent="0">
              <a:buNone/>
            </a:pPr>
            <a:r>
              <a:rPr lang="en-US" sz="99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Console.WriteLine("2 - Afficher")</a:t>
            </a:r>
            <a:endParaRPr lang="en-US" sz="990" dirty="0"/>
          </a:p>
          <a:p>
            <a:pPr marL="0" indent="0">
              <a:buNone/>
            </a:pPr>
            <a:r>
              <a:rPr lang="en-US" sz="99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Console.WriteLine("3 - Rechercher")</a:t>
            </a:r>
            <a:endParaRPr lang="en-US" sz="990" dirty="0"/>
          </a:p>
          <a:p>
            <a:pPr marL="0" indent="0">
              <a:buNone/>
            </a:pPr>
            <a:r>
              <a:rPr lang="en-US" sz="99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Console.WriteLine("0 - Quitter")</a:t>
            </a:r>
            <a:endParaRPr lang="en-US" sz="990" dirty="0"/>
          </a:p>
          <a:p>
            <a:pPr marL="0" indent="0">
              <a:buNone/>
            </a:pPr>
            <a:r>
              <a:rPr lang="en-US" sz="99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choice As String = Console.ReadLine()</a:t>
            </a:r>
            <a:endParaRPr lang="en-US" sz="990" dirty="0"/>
          </a:p>
          <a:p>
            <a:pPr marL="0" indent="0">
              <a:buNone/>
            </a:pPr>
            <a:endParaRPr lang="en-US" sz="990" dirty="0"/>
          </a:p>
          <a:p>
            <a:pPr marL="0" indent="0">
              <a:buNone/>
            </a:pPr>
            <a:r>
              <a:rPr lang="en-US" sz="99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Select Case choice</a:t>
            </a:r>
            <a:endParaRPr lang="en-US" sz="990" dirty="0"/>
          </a:p>
          <a:p>
            <a:pPr marL="0" indent="0">
              <a:buNone/>
            </a:pPr>
            <a:r>
              <a:rPr lang="en-US" sz="99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Case "1" : Console.WriteLine("Ajouter")</a:t>
            </a:r>
            <a:endParaRPr lang="en-US" sz="990" dirty="0"/>
          </a:p>
          <a:p>
            <a:pPr marL="0" indent="0">
              <a:buNone/>
            </a:pPr>
            <a:r>
              <a:rPr lang="en-US" sz="99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Case "2" : Console.WriteLine("Afficher")</a:t>
            </a:r>
            <a:endParaRPr lang="en-US" sz="990" dirty="0"/>
          </a:p>
          <a:p>
            <a:pPr marL="0" indent="0">
              <a:buNone/>
            </a:pPr>
            <a:r>
              <a:rPr lang="en-US" sz="99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Case "3" : Console.WriteLine("Rechercher")</a:t>
            </a:r>
            <a:endParaRPr lang="en-US" sz="990" dirty="0"/>
          </a:p>
          <a:p>
            <a:pPr marL="0" indent="0">
              <a:buNone/>
            </a:pPr>
            <a:r>
              <a:rPr lang="en-US" sz="99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Case "0" : Console.WriteLine("Quitter")</a:t>
            </a:r>
            <a:endParaRPr lang="en-US" sz="990" dirty="0"/>
          </a:p>
          <a:p>
            <a:pPr marL="0" indent="0">
              <a:buNone/>
            </a:pPr>
            <a:r>
              <a:rPr lang="en-US" sz="99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Case Else : Console.WriteLine("Choix invalide")</a:t>
            </a:r>
            <a:endParaRPr lang="en-US" sz="990" dirty="0"/>
          </a:p>
          <a:p>
            <a:pPr marL="0" indent="0">
              <a:buNone/>
            </a:pPr>
            <a:r>
              <a:rPr lang="en-US" sz="99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Select</a:t>
            </a:r>
            <a:endParaRPr lang="en-US" sz="990" dirty="0"/>
          </a:p>
        </p:txBody>
      </p:sp>
      <p:sp>
        <p:nvSpPr>
          <p:cNvPr id="6" name="Shape 4"/>
          <p:cNvSpPr/>
          <p:nvPr/>
        </p:nvSpPr>
        <p:spPr>
          <a:xfrm>
            <a:off x="6812280" y="114300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940296" y="12527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Pourquoi ici 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03720" y="1828800"/>
            <a:ext cx="416052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</a:rPr>
              <a:t>On compare une seule variable : choice.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Les cas sont discrets : "1", "2", "3", "0".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Case Else gère le cas non prévu.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C’est souvent plus lisible qu’une longue chaîne de ElseIf.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4617720"/>
            <a:ext cx="4251960" cy="6858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86016" y="4727448"/>
            <a:ext cx="3995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Mini-défi : ajouter l’option 4 - Supprimer sans casser le menu.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DÉCISION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Choisir If, ElseIf ou Select Case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2343607" cy="649224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50392" y="1216152"/>
            <a:ext cx="2197303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Structure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120847" y="1143000"/>
            <a:ext cx="4580687" cy="649224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193999" y="1216152"/>
            <a:ext cx="4434383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Quand l’utiliser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01534" y="1143000"/>
            <a:ext cx="3728466" cy="649224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774686" y="1216152"/>
            <a:ext cx="358216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Exemple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1792224"/>
            <a:ext cx="2343607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50392" y="1865376"/>
            <a:ext cx="2197303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If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20847" y="1792224"/>
            <a:ext cx="4580687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93999" y="1865376"/>
            <a:ext cx="4434383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Une action si une condition est vraie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01534" y="1792224"/>
            <a:ext cx="3728466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774686" y="1865376"/>
            <a:ext cx="358216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si nom vide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2441448"/>
            <a:ext cx="2343607" cy="64922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50392" y="2514600"/>
            <a:ext cx="2197303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If...Else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20847" y="2441448"/>
            <a:ext cx="4580687" cy="64922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193999" y="2514600"/>
            <a:ext cx="4434383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Deux chemins exclusifs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01534" y="2441448"/>
            <a:ext cx="3728466" cy="64922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774686" y="2514600"/>
            <a:ext cx="358216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majeur / mineur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3090672"/>
            <a:ext cx="2343607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50392" y="3163824"/>
            <a:ext cx="2197303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ElseIf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20847" y="3090672"/>
            <a:ext cx="4580687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193999" y="3163824"/>
            <a:ext cx="4434383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Plusieurs règles ordonnées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01534" y="3090672"/>
            <a:ext cx="3728466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774686" y="3163824"/>
            <a:ext cx="358216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score, tarif, priorité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3739896"/>
            <a:ext cx="2343607" cy="64922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50392" y="3813048"/>
            <a:ext cx="2197303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Select Case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20847" y="3739896"/>
            <a:ext cx="4580687" cy="64922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193999" y="3813048"/>
            <a:ext cx="4434383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Plusieurs valeurs d’une même variable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01534" y="3739896"/>
            <a:ext cx="3728466" cy="64922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774686" y="3813048"/>
            <a:ext cx="358216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menu console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97280" y="475488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225296" y="4864608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Règle simple à faire formuler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40680" y="4498848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568696" y="4608576"/>
            <a:ext cx="4956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Si je teste des seuils ou des règles, je pense ElseIf.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Si je teste des choix fixes d’un menu, je pense Select Case.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BOUCLES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Boucles : répéter sans copier-coller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96696" y="19385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Initialiser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2148840"/>
            <a:ext cx="9144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182880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922776" y="193852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Tester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40680" y="2148840"/>
            <a:ext cx="11887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675120" y="182880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803136" y="193852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Exécuter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49640" y="2148840"/>
            <a:ext cx="10972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9692640" y="182880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820656" y="1938528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Modifier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0" y="2487168"/>
            <a:ext cx="0" cy="1307592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97280" y="3886200"/>
            <a:ext cx="2743200" cy="530352"/>
          </a:xfrm>
          <a:prstGeom prst="roundRect">
            <a:avLst>
              <a:gd name="adj" fmla="val 10345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225296" y="39959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Question clé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69080" y="3721608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97096" y="3831336"/>
            <a:ext cx="5596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Qu’est-ce qui fait que la boucle s’arrête 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Sans réponse claire : risque de boucle infinie.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BOUCLES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While : répéter tant que la condition est vraie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663440" cy="2560320"/>
          </a:xfrm>
          <a:prstGeom prst="roundRect">
            <a:avLst>
              <a:gd name="adj" fmla="val 1429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87552" y="1371600"/>
            <a:ext cx="437083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count As Integer = 1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While count &lt;=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Console.WriteLine(count)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count = count + 1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While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23444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071616" y="13441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Décomposition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53328" y="1920240"/>
            <a:ext cx="443484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count démarre à 1.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On teste count &lt;= 5 avant chaque tour.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On affiche count.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On modifie count pour se rapprocher de la sortie.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4434840"/>
            <a:ext cx="4526280" cy="1325880"/>
          </a:xfrm>
          <a:prstGeom prst="roundRect">
            <a:avLst>
              <a:gd name="adj" fmla="val 2759"/>
            </a:avLst>
          </a:prstGeom>
          <a:solidFill>
            <a:srgbClr val="7F1D1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124712" y="4572000"/>
            <a:ext cx="42336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' Erreur volontaire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While count &lt;= 5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Console.WriteLine(count)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' count n’évolue jamais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While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943600" y="4572000"/>
            <a:ext cx="452628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071616" y="4681728"/>
            <a:ext cx="4270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Diagnostic : si rien ne change dans la condition, la boucle peut ne jamais finir.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BOUCLES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While pour valider une saisie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5715000" cy="4754880"/>
          </a:xfrm>
          <a:prstGeom prst="roundRect">
            <a:avLst>
              <a:gd name="adj" fmla="val 769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50392" y="1188720"/>
            <a:ext cx="5422392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age As Integer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ok As Boolean = False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While Not ok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Console.Write("Âge : ")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Dim raw As String = Console.ReadLine()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ok = Integer.TryParse(raw, age)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Not ok Then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Console.WriteLine("Âge invalide.")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End If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While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6812280" y="1097280"/>
            <a:ext cx="434340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940296" y="1207008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Pourquoi cette forme 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03720" y="1783080"/>
            <a:ext cx="416052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</a:rPr>
              <a:t>La saisie utilisateur est incertaine.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La boucle continue tant que la conversion échoue.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On ne poursuit pas le programme avec une valeur invalide.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Le Boolean ok devient la porte de sortie.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4663440"/>
            <a:ext cx="4251960" cy="73152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86016" y="4773168"/>
            <a:ext cx="3995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Mini-défi : réutiliser cette logique pour demander une note entre 0 et 20.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BOUCLES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Do While / Do Until : même boucle, intention différente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754880" cy="1600200"/>
          </a:xfrm>
          <a:prstGeom prst="roundRect">
            <a:avLst>
              <a:gd name="adj" fmla="val 2286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87552" y="1371600"/>
            <a:ext cx="446227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 While password &lt;&gt; "secret"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Console.Write("Mot de passe : ")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password = Console.ReadLine()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Loop</a:t>
            </a:r>
            <a:endParaRPr lang="en-US" sz="126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4754880" cy="1600200"/>
          </a:xfrm>
          <a:prstGeom prst="roundRect">
            <a:avLst>
              <a:gd name="adj" fmla="val 2286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87552" y="3840480"/>
            <a:ext cx="446227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 Until password = "secret"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Console.Write("Mot de passe : ")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password = Console.ReadLine()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Loop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6080760" y="132588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208776" y="1435608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Choisir la phrase la plus claire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72200" y="2057400"/>
            <a:ext cx="43434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Do While = faire tant que la condition est vraie.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Do Until = faire jusqu’à ce que la condition devienne vraie.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Le bon choix dépend de ce qu’on veut faire lire au prochain développeur.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4709160"/>
            <a:ext cx="4480560" cy="6858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254496" y="4818888"/>
            <a:ext cx="4224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Question : quelle version est la plus naturelle pour “répéter jusqu’à obtenir un choix valide” 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BOUCLES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For...Next : quand le nombre de répétitions est connu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5852160" cy="237744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96112" y="1280160"/>
            <a:ext cx="555955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Console.Write("Nombre : 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n As Integer = Integer.Parse(Console.ReadLine())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i As Integer = 1 To 10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Console.WriteLine(n &amp; " x " &amp; i &amp; " = " &amp; (n * i))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03720" y="1143000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031736" y="1252728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À faire prédire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95160" y="1874520"/>
            <a:ext cx="38862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</a:rPr>
              <a:t>Quelle est la première valeur de i ?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Quelle est la dernière valeur de i ?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Combien de lignes seront affichées ?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Que se passe-t-il si on change 10 en 12 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4434840"/>
            <a:ext cx="996696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42416" y="4544568"/>
            <a:ext cx="9710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Règle : For est très lisible quand on connaît à l’avance le nombre de tours.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BOUCLES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Accumulateur : construire un résultat progressivement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5669280" cy="3840480"/>
          </a:xfrm>
          <a:prstGeom prst="roundRect">
            <a:avLst>
              <a:gd name="adj" fmla="val 95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96112" y="1188720"/>
            <a:ext cx="5376672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total As Integer = 0</a:t>
            </a:r>
            <a:endParaRPr lang="en-US" sz="1130" dirty="0"/>
          </a:p>
          <a:p>
            <a:pPr marL="0" indent="0">
              <a:buNone/>
            </a:pP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i As Integer = 1 To 5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Console.Write("Nombre : ")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Dim value As Integer = Integer.Parse(Console.ReadLine())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total = total + value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</a:t>
            </a:r>
            <a:endParaRPr lang="en-US" sz="1130" dirty="0"/>
          </a:p>
          <a:p>
            <a:pPr marL="0" indent="0">
              <a:buNone/>
            </a:pP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Console.WriteLine("Total = " &amp; total)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812280" y="118872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940296" y="1298448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Image mentale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92024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031736" y="2029968"/>
            <a:ext cx="3721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total est comme une boîte dans laquelle on ajoute une valeur à chaque tour.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0" y="3154680"/>
            <a:ext cx="4023360" cy="1325880"/>
          </a:xfrm>
          <a:prstGeom prst="roundRect">
            <a:avLst>
              <a:gd name="adj" fmla="val 2759"/>
            </a:avLst>
          </a:prstGeom>
          <a:solidFill>
            <a:srgbClr val="7F1D1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022592" y="3291840"/>
            <a:ext cx="37307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' Erreur fréquente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i = 1 To 5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Dim total As Integer = 0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total = total + value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903720" y="480060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031736" y="4910328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Diagnostic : si on initialise dans la boucle, on oublie le passé.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TABLEAUX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Tableau à une dimension : plusieurs valeurs, un seul nom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50976" y="14356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23160" y="1417320"/>
            <a:ext cx="868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423160" y="10789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572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868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383280" y="10789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572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868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343400" y="10789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1572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1417320"/>
            <a:ext cx="868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303520" y="10789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1572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417320"/>
            <a:ext cx="868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263640" y="10789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572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2788920"/>
            <a:ext cx="5852160" cy="2057400"/>
          </a:xfrm>
          <a:prstGeom prst="roundRect">
            <a:avLst>
              <a:gd name="adj" fmla="val 1778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987552" y="2926080"/>
            <a:ext cx="555955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notes() As Integer = {12, 15, 8, 17, 10}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i As Integer = 0 To notes.Length - 1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Console.WriteLine(notes(i))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2834640"/>
            <a:ext cx="365760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</a:rPr>
              <a:t>Un tableau stocke plusieurs valeurs du même type.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Les indices commencent à 0.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Le dernier indice est Length - 1.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086600" y="461772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214616" y="472744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Erreur volontaire : utiliser notes(notes.Length).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TABLEAUX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Calculer moyenne, minimum et maximum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5897880" cy="4800600"/>
          </a:xfrm>
          <a:prstGeom prst="roundRect">
            <a:avLst>
              <a:gd name="adj" fmla="val 76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96112" y="1143000"/>
            <a:ext cx="5605272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total As Integer = 0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min As Integer = notes(0)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max As Integer = notes(0)</a:t>
            </a:r>
            <a:endParaRPr lang="en-US" sz="1070" dirty="0"/>
          </a:p>
          <a:p>
            <a:pPr marL="0" indent="0">
              <a:buNone/>
            </a:pP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Each note As Integer In notes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total += note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note &lt; min Then min = note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note &gt; max Then max = note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</a:t>
            </a:r>
            <a:endParaRPr lang="en-US" sz="1070" dirty="0"/>
          </a:p>
          <a:p>
            <a:pPr marL="0" indent="0">
              <a:buNone/>
            </a:pP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moyenne As Double = total / notes.Length</a:t>
            </a:r>
            <a:endParaRPr lang="en-US" sz="1070" dirty="0"/>
          </a:p>
        </p:txBody>
      </p:sp>
      <p:sp>
        <p:nvSpPr>
          <p:cNvPr id="6" name="Shape 4"/>
          <p:cNvSpPr/>
          <p:nvPr/>
        </p:nvSpPr>
        <p:spPr>
          <a:xfrm>
            <a:off x="6995160" y="128016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123176" y="138988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Méthode en 3 gestes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4032" y="2011680"/>
            <a:ext cx="365760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</a:rPr>
              <a:t>Initialiser avant la boucle.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Comparer à chaque élément.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Mettre à jour seulement si nécessaire.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040880" y="4069080"/>
            <a:ext cx="3794760" cy="9144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168896" y="4178808"/>
            <a:ext cx="3538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Question : pourquoi min et max démarrent-ils à notes(0) plutôt qu’à 0 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TABLEAUX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Matrices : deux indices pour une grille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9601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14813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[0,0]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234440"/>
            <a:ext cx="960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920240" y="14813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[0,1]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234440"/>
            <a:ext cx="9601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926080" y="14813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[0,2]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960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225856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[1,0]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20240" y="2011680"/>
            <a:ext cx="9601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920240" y="225856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[1,1]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011680"/>
            <a:ext cx="960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926080" y="225856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[1,2]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246120"/>
            <a:ext cx="5669280" cy="2331720"/>
          </a:xfrm>
          <a:prstGeom prst="roundRect">
            <a:avLst>
              <a:gd name="adj" fmla="val 1569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41832" y="3383280"/>
            <a:ext cx="537667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grille(1, 2) As Integer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ligne As Integer = 0 To 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colonne As Integer = 0 To 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Console.WriteLine(grille(ligne, colonne))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Next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95160" y="128016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123176" y="13898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À retenir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1938528"/>
            <a:ext cx="37490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</a:rPr>
              <a:t>Une matrice est une table : ligne + colonne.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La boucle extérieure parcourt les lignes.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La boucle intérieure parcourt les colonnes.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On ne l’approfondit pas : objectif = modèle mental.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TABLEAUX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Rechercher dans un tableau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5623560" cy="4754880"/>
          </a:xfrm>
          <a:prstGeom prst="roundRect">
            <a:avLst>
              <a:gd name="adj" fmla="val 769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96112" y="1143000"/>
            <a:ext cx="5330952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names() As String = {"Ana", "Paul", "Mina"}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searched As String = "Paul"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found As Boolean = False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Each name As String In names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name = searched Then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found =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End If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Console.WriteLine(found)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0" y="118872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94576" y="129844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Limites à faire observer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1874520"/>
            <a:ext cx="416052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80" dirty="0">
                <a:solidFill>
                  <a:srgbClr val="0F172A"/>
                </a:solidFill>
              </a:rPr>
              <a:t>La recherche parcourt tous les éléments.</a:t>
            </a:r>
            <a:endParaRPr lang="en-US" sz="1380" dirty="0"/>
          </a:p>
          <a:p>
            <a:r>
              <a:rPr lang="en-US" sz="1380" dirty="0">
                <a:solidFill>
                  <a:srgbClr val="0F172A"/>
                </a:solidFill>
              </a:rPr>
              <a:t>Si on trouve, found devient True.</a:t>
            </a:r>
            <a:endParaRPr lang="en-US" sz="1380" dirty="0"/>
          </a:p>
          <a:p>
            <a:r>
              <a:rPr lang="en-US" sz="1380" dirty="0">
                <a:solidFill>
                  <a:srgbClr val="0F172A"/>
                </a:solidFill>
              </a:rPr>
              <a:t>On peut améliorer avec Exit For.</a:t>
            </a:r>
            <a:endParaRPr lang="en-US" sz="1380" dirty="0"/>
          </a:p>
          <a:p>
            <a:r>
              <a:rPr lang="en-US" sz="1380" dirty="0">
                <a:solidFill>
                  <a:srgbClr val="0F172A"/>
                </a:solidFill>
              </a:rPr>
              <a:t>La casse peut poser problème : Paul ≠ paul.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6812280" y="4572000"/>
            <a:ext cx="4251960" cy="658368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40296" y="4681728"/>
            <a:ext cx="3995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Variation : rendre la recherche insensible à la casse avec ToLower().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FIL ROUGE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Fil rouge : plusieurs contacts avec tableaux parallèles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4754880" cy="109728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41832" y="1280160"/>
            <a:ext cx="44622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names(9) As String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phones(9) As String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count As Integer = 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83464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133856" y="294436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Indice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3035808"/>
            <a:ext cx="685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971800" y="260604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099816" y="2715768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names(0) = "Ana"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phones(0) = "0600000000"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397764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133856" y="408736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Indice 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94560" y="4178808"/>
            <a:ext cx="685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971800" y="374904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099816" y="3858768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names(1) = "Paul"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phones(1) = "0611111111"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1828800"/>
            <a:ext cx="43434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80" dirty="0">
                <a:solidFill>
                  <a:srgbClr val="0F172A"/>
                </a:solidFill>
              </a:rPr>
              <a:t>Pédagogique mais fragile : deux tableaux doivent rester synchronisés.</a:t>
            </a:r>
            <a:endParaRPr lang="en-US" sz="1380" dirty="0"/>
          </a:p>
          <a:p>
            <a:r>
              <a:rPr lang="en-US" sz="1380" dirty="0">
                <a:solidFill>
                  <a:srgbClr val="0F172A"/>
                </a:solidFill>
              </a:rPr>
              <a:t>On garde cette version au J2 pour se concentrer sur conditions, boucles et Sub/Function.</a:t>
            </a:r>
            <a:endParaRPr lang="en-US" sz="1380" dirty="0"/>
          </a:p>
          <a:p>
            <a:r>
              <a:rPr lang="en-US" sz="1380" dirty="0">
                <a:solidFill>
                  <a:srgbClr val="0F172A"/>
                </a:solidFill>
              </a:rPr>
              <a:t>Au J3, on remplacera cette structure par une classe Contact.</a:t>
            </a:r>
            <a:endParaRPr lang="en-US" sz="13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FIL ROUGE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Ajouter et afficher des contacts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4663440" cy="1234440"/>
          </a:xfrm>
          <a:prstGeom prst="roundRect">
            <a:avLst>
              <a:gd name="adj" fmla="val 2963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41832" y="1280160"/>
            <a:ext cx="437083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names(count) = name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phones(count) = phone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count +=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971800"/>
            <a:ext cx="4663440" cy="13716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41832" y="3108960"/>
            <a:ext cx="43708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i As Integer = 0 To count - 1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Console.WriteLine(names(i) &amp; " - " &amp; phones(i))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345936" y="129844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Points à faire diagnostiquer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44348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</a:rPr>
              <a:t>Pourquoi on écrit à l’indice count ?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Pourquoi on augmente count après l’ajout ?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Que se passe-t-il si count atteint la taille du tableau ?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Pourquoi afficher de 0 à count - 1 et pas toute la taille 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4617720"/>
            <a:ext cx="4434840" cy="530352"/>
          </a:xfrm>
          <a:prstGeom prst="roundRect">
            <a:avLst>
              <a:gd name="adj" fmla="val 10345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37376" y="4727448"/>
            <a:ext cx="4178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Erreur volontaire : oublier count += 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MODULARISATION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Sub : extraire une action nommée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50976" y="129844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Symptôme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54680" y="1188720"/>
            <a:ext cx="5166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82696" y="1298448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Main devient trop long : menu, lecture, validation, affichage, recherche...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71800" y="1444752"/>
            <a:ext cx="16459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5074920" cy="246888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87552" y="2514600"/>
            <a:ext cx="478231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Sub AfficherMenu()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Console.WriteLine("1 - Ajouter")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Console.WriteLine("2 - Afficher")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Console.WriteLine("3 - Rechercher")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Console.WriteLine("0 - Quitter")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Sub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6446520" y="2926080"/>
            <a:ext cx="3840480" cy="82296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611112" y="3063240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AfficherMenu()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46520" y="425196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574536" y="4361688"/>
            <a:ext cx="3950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Une Sub fait une action. Elle peut avoir des paramètres, mais elle ne retourne pas de valeur.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MODULARISATION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Refactorisation live : sortir le menu de Main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4937760" cy="2331720"/>
          </a:xfrm>
          <a:prstGeom prst="roundRect">
            <a:avLst>
              <a:gd name="adj" fmla="val 1569"/>
            </a:avLst>
          </a:prstGeom>
          <a:solidFill>
            <a:srgbClr val="7F1D1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41832" y="1280160"/>
            <a:ext cx="464515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' Avant : tout est dans Main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Console.WriteLine("1 - Ajouter")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Console.WriteLine("2 - Afficher")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Console.WriteLine("3 - Rechercher")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choice = Console.ReadLine()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5897880" y="2240280"/>
            <a:ext cx="6858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720840" y="1143000"/>
            <a:ext cx="4251960" cy="1417320"/>
          </a:xfrm>
          <a:prstGeom prst="roundRect">
            <a:avLst>
              <a:gd name="adj" fmla="val 2581"/>
            </a:avLst>
          </a:prstGeom>
          <a:solidFill>
            <a:srgbClr val="1453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885432" y="1280160"/>
            <a:ext cx="39593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' Après : intention nommée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AfficherMenu()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choice = LireChoix()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20840" y="2926080"/>
            <a:ext cx="4251960" cy="224028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885432" y="3063240"/>
            <a:ext cx="3959352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Sub AfficherMenu()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Console.WriteLine("1 - Ajouter")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Console.WriteLine("2 - Afficher")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Console.WriteLine("3 - Rechercher")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Console.WriteLine("0 - Quitter")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Sub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960120" y="4846320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088136" y="4956048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Faire nommer le bénéfice : Main raconte le scénario au lieu de porter tous les détails.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MODULARISATION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Function : calculer et retourner une valeur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68680" y="1234440"/>
            <a:ext cx="5303520" cy="141732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33272" y="1371600"/>
            <a:ext cx="50109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IsValidName(name As String) As Boolean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name.Trim().Length &gt;=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Function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3108960"/>
            <a:ext cx="5303520" cy="2148840"/>
          </a:xfrm>
          <a:prstGeom prst="roundRect">
            <a:avLst>
              <a:gd name="adj" fmla="val 170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33272" y="3246120"/>
            <a:ext cx="501091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ok As Boolean = IsValidName(name)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ok Then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Console.WriteLine("Nom valide")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Console.WriteLine("Nom invalide")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If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757416" y="152704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Différence essentielle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2148840"/>
            <a:ext cx="40233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Sub : fait une action.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Function : calcule une valeur et la retourne.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Return donne le résultat à l’appelant.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Une Function pure est plus facile à tester.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20840" y="475488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48856" y="486460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Mini-défi : écrire IsValidPhone(phone).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MODULARISATION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Paramètre, argument et portée locale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4389120" cy="18288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41832" y="1280160"/>
            <a:ext cx="40965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Sub Greet(name As String)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Console.WriteLine("Bonjour " &amp; name)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Sub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Greet("Ana")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23560" y="118872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751576" y="129844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Paramètre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18120" y="118872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946136" y="129844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name dans la définition de la Sub.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23560" y="224028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751576" y="235000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Argument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18120" y="224028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946136" y="235000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"Ana" au moment de l’appel.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794760"/>
            <a:ext cx="5303520" cy="1463040"/>
          </a:xfrm>
          <a:prstGeom prst="roundRect">
            <a:avLst>
              <a:gd name="adj" fmla="val 2500"/>
            </a:avLst>
          </a:prstGeom>
          <a:solidFill>
            <a:srgbClr val="7F1D1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41832" y="3931920"/>
            <a:ext cx="501091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Sub Demo()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Dim localValue As Integer = 10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Sub</a:t>
            </a:r>
            <a:endParaRPr lang="en-US" sz="1130" dirty="0"/>
          </a:p>
          <a:p>
            <a:pPr marL="0" indent="0">
              <a:buNone/>
            </a:pP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Console.WriteLine(localValue) ' erreur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537960" y="3977640"/>
            <a:ext cx="4251960" cy="82296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665976" y="4087368"/>
            <a:ext cx="3995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Portée locale : une variable déclarée dans une procédure n’existe pas en dehors.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MODULARISATION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ByVal / ByRef : que peut modifier la procédure 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663440" cy="118872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96112" y="1280160"/>
            <a:ext cx="4370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Sub ChangeValue(ByVal number As Integer)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number = 99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Sub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143000"/>
            <a:ext cx="4663440" cy="118872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656832" y="1280160"/>
            <a:ext cx="4370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Sub ChangeValue(ByRef number As Integer)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number = 99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Sub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164592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042416" y="289864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ByVal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2578608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825496" y="2688336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La procédure reçoit une valeur. Une réaffectation locale ne modifie pas la variable appelante.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2788920"/>
            <a:ext cx="1645920" cy="475488"/>
          </a:xfrm>
          <a:prstGeom prst="roundRect">
            <a:avLst>
              <a:gd name="adj" fmla="val 11538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803136" y="289864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ByRef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58200" y="2578608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586216" y="2688336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La procédure reçoit une référence. Une modification peut être visible chez l’appelant.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0" y="4800600"/>
            <a:ext cx="8595360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956816" y="4910328"/>
            <a:ext cx="8339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Règle de prudence : préférer Function + Return quand une seule valeur doit sortir.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MODULARISATION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Effets de bord : ce qui rend un code difficile à prévoir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5212080" cy="1234440"/>
          </a:xfrm>
          <a:prstGeom prst="roundRect">
            <a:avLst>
              <a:gd name="adj" fmla="val 2963"/>
            </a:avLst>
          </a:prstGeom>
          <a:solidFill>
            <a:srgbClr val="1453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41832" y="1325880"/>
            <a:ext cx="49194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Total(a As Integer, b As Integer) As Integer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a + b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Function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96696" y="2807208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Facile à raisonner : mêmes entrées → même sortie.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5212080" cy="1325880"/>
          </a:xfrm>
          <a:prstGeom prst="roundRect">
            <a:avLst>
              <a:gd name="adj" fmla="val 2759"/>
            </a:avLst>
          </a:prstGeom>
          <a:solidFill>
            <a:srgbClr val="7F1D1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41832" y="3840480"/>
            <a:ext cx="49194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Sub AddContact(name As String)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count +=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names(count) = 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Sub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525780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96696" y="5367528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Plus délicat : modifie un état extérieur.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920240"/>
            <a:ext cx="43891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Un effet de bord est une modification visible en dehors de la procédure.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Certains sont nécessaires, mais ils doivent être maîtrisés.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Le live coding doit faire observer “qu’est-ce qui a changé après l’appel ?”.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ASSEMBLAGE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Menu répétitif : assembler conditions, boucles et procédures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78992"/>
            <a:ext cx="6492240" cy="4956048"/>
          </a:xfrm>
          <a:prstGeom prst="roundRect">
            <a:avLst>
              <a:gd name="adj" fmla="val 738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50392" y="1216152"/>
            <a:ext cx="6199632" cy="471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quit As Boolean = False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While Not quit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AfficherMenu()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Dim choice As String = LireChoix()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Select Case choice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Case "1" : AjouterContact(names, phones, count)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Case "2" : AfficherContacts(names, phones, count)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Case "3" : RechercherContact(names, phones, count)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Case "0" : quit = True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Case Else : Console.WriteLine("Choix invalide")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End Select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While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7543800" y="1188720"/>
            <a:ext cx="361188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671816" y="1298448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Le scénario devient lisible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35240" y="1874520"/>
            <a:ext cx="342900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0F172A"/>
                </a:solidFill>
              </a:rPr>
              <a:t>While garde l’application ouverte.</a:t>
            </a:r>
            <a:endParaRPr lang="en-US" sz="1320" dirty="0"/>
          </a:p>
          <a:p>
            <a:r>
              <a:rPr lang="en-US" sz="1320" dirty="0">
                <a:solidFill>
                  <a:srgbClr val="0F172A"/>
                </a:solidFill>
              </a:rPr>
              <a:t>AfficherMenu montre les options.</a:t>
            </a:r>
            <a:endParaRPr lang="en-US" sz="1320" dirty="0"/>
          </a:p>
          <a:p>
            <a:r>
              <a:rPr lang="en-US" sz="1320" dirty="0">
                <a:solidFill>
                  <a:srgbClr val="0F172A"/>
                </a:solidFill>
              </a:rPr>
              <a:t>Select Case dirige vers l’action.</a:t>
            </a:r>
            <a:endParaRPr lang="en-US" sz="1320" dirty="0"/>
          </a:p>
          <a:p>
            <a:r>
              <a:rPr lang="en-US" sz="1320" dirty="0">
                <a:solidFill>
                  <a:srgbClr val="0F172A"/>
                </a:solidFill>
              </a:rPr>
              <a:t>Les Sub cachent les détails.</a:t>
            </a:r>
            <a:endParaRPr lang="en-US" sz="1320" dirty="0"/>
          </a:p>
          <a:p>
            <a:r>
              <a:rPr lang="en-US" sz="1320" dirty="0">
                <a:solidFill>
                  <a:srgbClr val="0F172A"/>
                </a:solidFill>
              </a:rPr>
              <a:t>quit devient la condition d’arrêt.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7635240" y="470916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763256" y="481888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Erreur volontaire : oublier Case "0" ou ne jamais mettre quit à True.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TP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TP 2 : mini-gestion de contacts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711757" cy="57150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04672" y="1216152"/>
            <a:ext cx="15654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Niveau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43277" y="1143000"/>
            <a:ext cx="4065422" cy="57150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516429" y="1216152"/>
            <a:ext cx="391911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Objectif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08699" y="1143000"/>
            <a:ext cx="4921301" cy="57150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581851" y="1216152"/>
            <a:ext cx="4774997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Trace attendue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1714500"/>
            <a:ext cx="1711757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04672" y="1787652"/>
            <a:ext cx="15654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43277" y="1714500"/>
            <a:ext cx="4065422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16429" y="1787652"/>
            <a:ext cx="391911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Menu + boucle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08699" y="1714500"/>
            <a:ext cx="4921301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581851" y="1787652"/>
            <a:ext cx="4774997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menu qui se répète et option quitter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286000"/>
            <a:ext cx="1711757" cy="5715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04672" y="2359152"/>
            <a:ext cx="15654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43277" y="2286000"/>
            <a:ext cx="4065422" cy="5715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516429" y="2359152"/>
            <a:ext cx="391911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Ajouter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08699" y="2286000"/>
            <a:ext cx="4921301" cy="5715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581851" y="2359152"/>
            <a:ext cx="4774997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nom + téléphone stockés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2857500"/>
            <a:ext cx="1711757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04672" y="2930652"/>
            <a:ext cx="15654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43277" y="2857500"/>
            <a:ext cx="4065422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516429" y="2930652"/>
            <a:ext cx="391911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Afficher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08699" y="2857500"/>
            <a:ext cx="4921301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581851" y="2930652"/>
            <a:ext cx="4774997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liste des contacts saisis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429000"/>
            <a:ext cx="1711757" cy="5715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04672" y="3502152"/>
            <a:ext cx="15654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43277" y="3429000"/>
            <a:ext cx="4065422" cy="5715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516429" y="3502152"/>
            <a:ext cx="391911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Rechercher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08699" y="3429000"/>
            <a:ext cx="4921301" cy="5715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581851" y="3502152"/>
            <a:ext cx="4774997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contact trouvé / non trouvé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000500"/>
            <a:ext cx="1711757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804672" y="4073652"/>
            <a:ext cx="15654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43277" y="4000500"/>
            <a:ext cx="4065422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516429" y="4073652"/>
            <a:ext cx="391911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Modulariser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08699" y="4000500"/>
            <a:ext cx="4921301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581851" y="4073652"/>
            <a:ext cx="4774997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Sub et Function cohérentes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4400" y="4983480"/>
            <a:ext cx="297180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1042416" y="5093208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Méthode d’animation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114800" y="4800600"/>
            <a:ext cx="6858000" cy="82296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242816" y="4910328"/>
            <a:ext cx="6601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Donner un indice seulement après une hypothèse : “où stocker ? où répéter ? quelle procédure extraire ?”</a:t>
            </a:r>
            <a:endParaRPr lang="en-US" sz="13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TP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Correction progressive : squelette avant détails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78992"/>
            <a:ext cx="6080760" cy="4956048"/>
          </a:xfrm>
          <a:prstGeom prst="roundRect">
            <a:avLst>
              <a:gd name="adj" fmla="val 738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50392" y="1216152"/>
            <a:ext cx="5788152" cy="471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Module Program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Sub Main()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Dim names(9) As String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Dim phones(9) As String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Dim count As Integer = 0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Dim quit As Boolean = False</a:t>
            </a:r>
            <a:endParaRPr lang="en-US" sz="970" dirty="0"/>
          </a:p>
          <a:p>
            <a:pPr marL="0" indent="0">
              <a:buNone/>
            </a:pP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While Not quit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AfficherMenu()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Dim choice As String = LireChoix()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' Select Case ici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End While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End Sub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Module</a:t>
            </a:r>
            <a:endParaRPr lang="en-US" sz="970" dirty="0"/>
          </a:p>
        </p:txBody>
      </p:sp>
      <p:sp>
        <p:nvSpPr>
          <p:cNvPr id="6" name="Shape 4"/>
          <p:cNvSpPr/>
          <p:nvPr/>
        </p:nvSpPr>
        <p:spPr>
          <a:xfrm>
            <a:off x="7178040" y="1325880"/>
            <a:ext cx="388620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06056" y="1435608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Pourquoi commencer par le squelette 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69480" y="2057400"/>
            <a:ext cx="365760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</a:rPr>
              <a:t>On fixe d’abord la structure globale.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On vérifie la boucle et la sortie.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On ajoute ensuite chaque fonctionnalité.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On garde un programme compilable à chaque étape.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23760" y="475488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51776" y="4864608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Point de contrôle : après chaque étape, compiler et exécuter.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DIAGNOSTIC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Atelier debugging : erreurs à injecter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236976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58952" y="1216152"/>
            <a:ext cx="30906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Erreur injectée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22776" y="1143000"/>
            <a:ext cx="3668573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995928" y="1216152"/>
            <a:ext cx="352226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Symptôme visible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91349" y="1143000"/>
            <a:ext cx="3884371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664501" y="1216152"/>
            <a:ext cx="373806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Diagnostic attendu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1920240"/>
            <a:ext cx="323697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58952" y="1993392"/>
            <a:ext cx="30906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Oublier count +=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22776" y="1920240"/>
            <a:ext cx="3668573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995928" y="1993392"/>
            <a:ext cx="352226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un seul contact affiché / remplacé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91349" y="1920240"/>
            <a:ext cx="3884371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664501" y="1993392"/>
            <a:ext cx="373806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l’état count ne progresse pas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2697480"/>
            <a:ext cx="3236976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58952" y="2770632"/>
            <a:ext cx="30906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Boucle sans sortie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22776" y="2697480"/>
            <a:ext cx="3668573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995928" y="2770632"/>
            <a:ext cx="352226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programme ne s’arrête jamais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91349" y="2697480"/>
            <a:ext cx="3884371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664501" y="2770632"/>
            <a:ext cx="373806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condition d’arrêt jamais modifiée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3474720"/>
            <a:ext cx="323697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58952" y="3547872"/>
            <a:ext cx="30906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Indice count au lieu de count - 1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22776" y="3474720"/>
            <a:ext cx="3668573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995928" y="3547872"/>
            <a:ext cx="352226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erreur ou ligne vide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91349" y="3474720"/>
            <a:ext cx="3884371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664501" y="3547872"/>
            <a:ext cx="373806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limite du tableau mal lue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4251960"/>
            <a:ext cx="3236976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58952" y="4325112"/>
            <a:ext cx="30906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ByRef manquant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22776" y="4251960"/>
            <a:ext cx="3668573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995928" y="4325112"/>
            <a:ext cx="352226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count reste inchangé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91349" y="4251960"/>
            <a:ext cx="3884371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664501" y="4325112"/>
            <a:ext cx="373806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modification non visible chez l’appelant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5840" y="5486400"/>
            <a:ext cx="10149840" cy="566928"/>
          </a:xfrm>
          <a:prstGeom prst="roundRect">
            <a:avLst>
              <a:gd name="adj" fmla="val 9677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133856" y="5596128"/>
            <a:ext cx="9893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Règle de diagnostic : lire le symptôme, formuler une hypothèse, placer un point d’arrêt, observer les variables.</a:t>
            </a:r>
            <a:endParaRPr lang="en-US" sz="13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SYNTHÈSE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Checklist de qualité du code J2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68680" y="1143000"/>
            <a:ext cx="57150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20" dirty="0">
                <a:solidFill>
                  <a:srgbClr val="0F172A"/>
                </a:solidFill>
              </a:rPr>
              <a:t>Le programme compile après chaque étape importante.</a:t>
            </a:r>
            <a:endParaRPr lang="en-US" sz="1420" dirty="0"/>
          </a:p>
          <a:p>
            <a:r>
              <a:rPr lang="en-US" sz="1420" dirty="0">
                <a:solidFill>
                  <a:srgbClr val="0F172A"/>
                </a:solidFill>
              </a:rPr>
              <a:t>Les conditions sont lisibles et testent une vraie règle métier.</a:t>
            </a:r>
            <a:endParaRPr lang="en-US" sz="1420" dirty="0"/>
          </a:p>
          <a:p>
            <a:r>
              <a:rPr lang="en-US" sz="1420" dirty="0">
                <a:solidFill>
                  <a:srgbClr val="0F172A"/>
                </a:solidFill>
              </a:rPr>
              <a:t>Chaque boucle a une condition d’arrêt identifiable.</a:t>
            </a:r>
            <a:endParaRPr lang="en-US" sz="1420" dirty="0"/>
          </a:p>
          <a:p>
            <a:r>
              <a:rPr lang="en-US" sz="1420" dirty="0">
                <a:solidFill>
                  <a:srgbClr val="0F172A"/>
                </a:solidFill>
              </a:rPr>
              <a:t>Les tableaux sont parcourus de 0 à Length - 1 ou count - 1.</a:t>
            </a:r>
            <a:endParaRPr lang="en-US" sz="1420" dirty="0"/>
          </a:p>
          <a:p>
            <a:r>
              <a:rPr lang="en-US" sz="1420" dirty="0">
                <a:solidFill>
                  <a:srgbClr val="0F172A"/>
                </a:solidFill>
              </a:rPr>
              <a:t>Main reste lisible grâce aux Sub et Function.</a:t>
            </a:r>
            <a:endParaRPr lang="en-US" sz="1420" dirty="0"/>
          </a:p>
          <a:p>
            <a:r>
              <a:rPr lang="en-US" sz="1420" dirty="0">
                <a:solidFill>
                  <a:srgbClr val="0F172A"/>
                </a:solidFill>
              </a:rPr>
              <a:t>Les noms de procédures indiquent clairement leur responsabilité.</a:t>
            </a:r>
            <a:endParaRPr lang="en-US" sz="1420" dirty="0"/>
          </a:p>
          <a:p>
            <a:r>
              <a:rPr lang="en-US" sz="1420" dirty="0">
                <a:solidFill>
                  <a:srgbClr val="0F172A"/>
                </a:solidFill>
              </a:rPr>
              <a:t>ByRef est utilisé avec prudence et seulement si nécessaire.</a:t>
            </a:r>
            <a:endParaRPr lang="en-US" sz="1420" dirty="0"/>
          </a:p>
        </p:txBody>
      </p:sp>
      <p:sp>
        <p:nvSpPr>
          <p:cNvPr id="5" name="Shape 3"/>
          <p:cNvSpPr/>
          <p:nvPr/>
        </p:nvSpPr>
        <p:spPr>
          <a:xfrm>
            <a:off x="6949440" y="1417320"/>
            <a:ext cx="388620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077456" y="1527048"/>
            <a:ext cx="363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À demander aux étudiants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95160" y="2103120"/>
            <a:ext cx="3794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123176" y="2212848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“Quelle règle du jour votre code respecte-t-il le mieux 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Laquelle devez-vous encore améliorer ?”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95160" y="3931920"/>
            <a:ext cx="3794760" cy="77724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123176" y="4041648"/>
            <a:ext cx="3538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Trace : 3 règles de conception simples formulées par le groupe.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TRANSITION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Synthèse J2 : du code linéaire au programme structuré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1699260" cy="713232"/>
          </a:xfrm>
          <a:prstGeom prst="roundRect">
            <a:avLst>
              <a:gd name="adj" fmla="val 7692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05256" y="1252728"/>
            <a:ext cx="14432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Conditions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85644" y="1499616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577084" y="1143000"/>
            <a:ext cx="1699260" cy="713232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05100" y="1252728"/>
            <a:ext cx="14432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Boucles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85488" y="1499616"/>
            <a:ext cx="73152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376928" y="1143000"/>
            <a:ext cx="1699260" cy="713232"/>
          </a:xfrm>
          <a:prstGeom prst="roundRect">
            <a:avLst>
              <a:gd name="adj" fmla="val 7692"/>
            </a:avLst>
          </a:prstGeom>
          <a:solidFill>
            <a:srgbClr val="E0F2FE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04944" y="1252728"/>
            <a:ext cx="14432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Tableaux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5332" y="1499616"/>
            <a:ext cx="7315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76772" y="1143000"/>
            <a:ext cx="1699260" cy="713232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304788" y="1252728"/>
            <a:ext cx="14432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Sub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85176" y="1499616"/>
            <a:ext cx="7315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976616" y="1143000"/>
            <a:ext cx="1699260" cy="713232"/>
          </a:xfrm>
          <a:prstGeom prst="roundRect">
            <a:avLst>
              <a:gd name="adj" fmla="val 7692"/>
            </a:avLst>
          </a:prstGeom>
          <a:solidFill>
            <a:srgbClr val="E0F2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104632" y="1252728"/>
            <a:ext cx="14432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Function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85020" y="1499616"/>
            <a:ext cx="73152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9776460" y="1143000"/>
            <a:ext cx="1699260" cy="713232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904476" y="1252728"/>
            <a:ext cx="14432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Menu contacts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51560" y="2331720"/>
            <a:ext cx="516636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20" dirty="0">
                <a:solidFill>
                  <a:srgbClr val="0F172A"/>
                </a:solidFill>
              </a:rPr>
              <a:t>Conditions : choisir un chemin selon une règle.</a:t>
            </a:r>
            <a:endParaRPr lang="en-US" sz="1420" dirty="0"/>
          </a:p>
          <a:p>
            <a:r>
              <a:rPr lang="en-US" sz="1420" dirty="0">
                <a:solidFill>
                  <a:srgbClr val="0F172A"/>
                </a:solidFill>
              </a:rPr>
              <a:t>Boucles : répéter jusqu’à un arrêt clair.</a:t>
            </a:r>
            <a:endParaRPr lang="en-US" sz="1420" dirty="0"/>
          </a:p>
          <a:p>
            <a:r>
              <a:rPr lang="en-US" sz="1420" dirty="0">
                <a:solidFill>
                  <a:srgbClr val="0F172A"/>
                </a:solidFill>
              </a:rPr>
              <a:t>Tableaux : stocker et parcourir plusieurs données.</a:t>
            </a:r>
            <a:endParaRPr lang="en-US" sz="1420" dirty="0"/>
          </a:p>
          <a:p>
            <a:r>
              <a:rPr lang="en-US" sz="1420" dirty="0">
                <a:solidFill>
                  <a:srgbClr val="0F172A"/>
                </a:solidFill>
              </a:rPr>
              <a:t>Sub / Function : nommer, isoler et réutiliser des traitements.</a:t>
            </a:r>
            <a:endParaRPr lang="en-US" sz="1420" dirty="0"/>
          </a:p>
          <a:p>
            <a:r>
              <a:rPr lang="en-US" sz="1420" dirty="0">
                <a:solidFill>
                  <a:srgbClr val="0F172A"/>
                </a:solidFill>
              </a:rPr>
              <a:t>Fil rouge : un programme console qui commence à ressembler à une application.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6720840" y="233172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848856" y="2441448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Préparation J3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3017520"/>
            <a:ext cx="4160520" cy="1508760"/>
          </a:xfrm>
          <a:prstGeom prst="roundRect">
            <a:avLst>
              <a:gd name="adj" fmla="val 3636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894576" y="3127248"/>
            <a:ext cx="3904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Les tableaux parallèles sont utiles pour apprendre, mais fragiles.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 J3, nous créerons une vraie classe Contact : données + comportements + responsabilités.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3506</Words>
  <Application>Microsoft Office PowerPoint</Application>
  <PresentationFormat>Grand écran</PresentationFormat>
  <Paragraphs>655</Paragraphs>
  <Slides>34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8" baseType="lpstr">
      <vt:lpstr>Aptos</vt:lpstr>
      <vt:lpstr>Aptos Mono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Visual Basic J2 Live Coding</dc:title>
  <dc:subject>Visual Basic J2 Live Coding</dc:subject>
  <dc:creator>OpenAI</dc:creator>
  <cp:lastModifiedBy>jean-christophe rangon</cp:lastModifiedBy>
  <cp:revision>2</cp:revision>
  <dcterms:created xsi:type="dcterms:W3CDTF">2026-09-27T10:31:39Z</dcterms:created>
  <dcterms:modified xsi:type="dcterms:W3CDTF">2026-10-04T09:31:04Z</dcterms:modified>
</cp:coreProperties>
</file>