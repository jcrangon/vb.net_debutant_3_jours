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6364224"/>
            <a:ext cx="11018520" cy="0"/>
          </a:xfrm>
          <a:prstGeom prst="line">
            <a:avLst/>
          </a:prstGeom>
          <a:noFill/>
          <a:ln w="12700">
            <a:solidFill>
              <a:srgbClr val="CBD5E1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43737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Basic .NET • J3 • Live coding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9601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</a:rPr>
              <a:t>JOUR 3 • VISUAL BASIC .NET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9966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</a:rPr>
              <a:t>Objet, données, débogage et tests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49808" y="260604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75569"/>
                </a:solidFill>
              </a:rPr>
              <a:t>Cours orienté live coding : transformer le programme console en application structurée, testable et maintenable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126480" y="3822192"/>
            <a:ext cx="952805" cy="1325880"/>
          </a:xfrm>
          <a:prstGeom prst="roundRect">
            <a:avLst>
              <a:gd name="adj" fmla="val 5758"/>
            </a:avLst>
          </a:prstGeom>
          <a:solidFill>
            <a:srgbClr val="E0F2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54496" y="3913632"/>
            <a:ext cx="696773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Objet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088429" y="4485132"/>
            <a:ext cx="73152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179869" y="3822192"/>
            <a:ext cx="952805" cy="1325880"/>
          </a:xfrm>
          <a:prstGeom prst="roundRect">
            <a:avLst>
              <a:gd name="adj" fmla="val 5758"/>
            </a:avLst>
          </a:prstGeom>
          <a:solidFill>
            <a:srgbClr val="EFF6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07885" y="3913632"/>
            <a:ext cx="696773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Données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141818" y="4485132"/>
            <a:ext cx="73152" cy="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233258" y="3822192"/>
            <a:ext cx="952805" cy="1325880"/>
          </a:xfrm>
          <a:prstGeom prst="roundRect">
            <a:avLst>
              <a:gd name="adj" fmla="val 5758"/>
            </a:avLst>
          </a:prstGeom>
          <a:solidFill>
            <a:srgbClr val="E0F2FE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61274" y="3913632"/>
            <a:ext cx="696773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WinForms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195206" y="4485132"/>
            <a:ext cx="73152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286646" y="3822192"/>
            <a:ext cx="952805" cy="1325880"/>
          </a:xfrm>
          <a:prstGeom prst="roundRect">
            <a:avLst>
              <a:gd name="adj" fmla="val 5758"/>
            </a:avLst>
          </a:prstGeom>
          <a:solidFill>
            <a:srgbClr val="EFF6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4662" y="3913632"/>
            <a:ext cx="696773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Debug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248595" y="4485132"/>
            <a:ext cx="73152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0340035" y="3822192"/>
            <a:ext cx="952805" cy="1325880"/>
          </a:xfrm>
          <a:prstGeom prst="roundRect">
            <a:avLst>
              <a:gd name="adj" fmla="val 5758"/>
            </a:avLst>
          </a:prstGeom>
          <a:solidFill>
            <a:srgbClr val="E0F2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68051" y="3913632"/>
            <a:ext cx="696773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Tests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77240" y="5303520"/>
            <a:ext cx="7772400" cy="868680"/>
          </a:xfrm>
          <a:prstGeom prst="roundRect">
            <a:avLst>
              <a:gd name="adj" fmla="val 6316"/>
            </a:avLst>
          </a:prstGeom>
          <a:solidFill>
            <a:srgbClr val="E0F2F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5256" y="5394960"/>
            <a:ext cx="751636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Fil rouge : application Contacts — classe Contact, recherche, base locale, bugs et tests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4ED8"/>
                </a:solidFill>
              </a:rPr>
              <a:t>POINT DE DÉPART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Objectifs observables du J3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571500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50" dirty="0">
                <a:solidFill>
                  <a:srgbClr val="0F172A"/>
                </a:solidFill>
              </a:rPr>
              <a:t>Transformer un contact stocké en tableau en classe Contact.</a:t>
            </a:r>
            <a:endParaRPr lang="en-US" sz="1450" dirty="0"/>
          </a:p>
          <a:p>
            <a:r>
              <a:rPr lang="en-US" sz="1450" dirty="0">
                <a:solidFill>
                  <a:srgbClr val="0F172A"/>
                </a:solidFill>
              </a:rPr>
              <a:t>Identifier propriété, méthode, constructeur et responsabilité.</a:t>
            </a:r>
            <a:endParaRPr lang="en-US" sz="1450" dirty="0"/>
          </a:p>
          <a:p>
            <a:r>
              <a:rPr lang="en-US" sz="1450" dirty="0">
                <a:solidFill>
                  <a:srgbClr val="0F172A"/>
                </a:solidFill>
              </a:rPr>
              <a:t>Comprendre le flux connexion → requête → récupération → affichage.</a:t>
            </a:r>
            <a:endParaRPr lang="en-US" sz="1450" dirty="0"/>
          </a:p>
          <a:p>
            <a:r>
              <a:rPr lang="en-US" sz="1450" dirty="0">
                <a:solidFill>
                  <a:srgbClr val="0F172A"/>
                </a:solidFill>
              </a:rPr>
              <a:t>Créer un formulaire WinForms de recherche.</a:t>
            </a:r>
            <a:endParaRPr lang="en-US" sz="1450" dirty="0"/>
          </a:p>
          <a:p>
            <a:r>
              <a:rPr lang="en-US" sz="1450" dirty="0">
                <a:solidFill>
                  <a:srgbClr val="0F172A"/>
                </a:solidFill>
              </a:rPr>
              <a:t>Diagnostiquer une erreur avec le débogueur Visual Studio.</a:t>
            </a:r>
            <a:endParaRPr lang="en-US" sz="1450" dirty="0"/>
          </a:p>
          <a:p>
            <a:r>
              <a:rPr lang="en-US" sz="1450" dirty="0">
                <a:solidFill>
                  <a:srgbClr val="0F172A"/>
                </a:solidFill>
              </a:rPr>
              <a:t>Écrire un premier test unitaire MSTest.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812280" y="1325880"/>
            <a:ext cx="4297680" cy="502920"/>
          </a:xfrm>
          <a:prstGeom prst="roundRect">
            <a:avLst>
              <a:gd name="adj" fmla="val 10909"/>
            </a:avLst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0296" y="1417320"/>
            <a:ext cx="40416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Rythme live coding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720840" y="2148840"/>
            <a:ext cx="824789" cy="731520"/>
          </a:xfrm>
          <a:prstGeom prst="roundRect">
            <a:avLst>
              <a:gd name="adj" fmla="val 7500"/>
            </a:avLst>
          </a:prstGeom>
          <a:solidFill>
            <a:srgbClr val="E0F2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48856" y="2240280"/>
            <a:ext cx="56875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Prédire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554773" y="2514600"/>
            <a:ext cx="73152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646213" y="2148840"/>
            <a:ext cx="824789" cy="731520"/>
          </a:xfrm>
          <a:prstGeom prst="roundRect">
            <a:avLst>
              <a:gd name="adj" fmla="val 7500"/>
            </a:avLst>
          </a:prstGeom>
          <a:solidFill>
            <a:srgbClr val="EFF6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4229" y="2240280"/>
            <a:ext cx="56875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Coder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480146" y="2514600"/>
            <a:ext cx="73152" cy="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571586" y="2148840"/>
            <a:ext cx="824789" cy="731520"/>
          </a:xfrm>
          <a:prstGeom prst="roundRect">
            <a:avLst>
              <a:gd name="adj" fmla="val 7500"/>
            </a:avLst>
          </a:prstGeom>
          <a:solidFill>
            <a:srgbClr val="E0F2FE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99602" y="2240280"/>
            <a:ext cx="56875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Exécuter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405518" y="2514600"/>
            <a:ext cx="73152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496958" y="2148840"/>
            <a:ext cx="824789" cy="731520"/>
          </a:xfrm>
          <a:prstGeom prst="roundRect">
            <a:avLst>
              <a:gd name="adj" fmla="val 7500"/>
            </a:avLst>
          </a:prstGeom>
          <a:solidFill>
            <a:srgbClr val="EFF6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24974" y="2240280"/>
            <a:ext cx="56875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Casser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0330891" y="2514600"/>
            <a:ext cx="73152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0422331" y="2148840"/>
            <a:ext cx="824789" cy="731520"/>
          </a:xfrm>
          <a:prstGeom prst="roundRect">
            <a:avLst>
              <a:gd name="adj" fmla="val 7500"/>
            </a:avLst>
          </a:prstGeom>
          <a:solidFill>
            <a:srgbClr val="E0F2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50347" y="2240280"/>
            <a:ext cx="56875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Tester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812280" y="3657600"/>
            <a:ext cx="4297680" cy="1051560"/>
          </a:xfrm>
          <a:prstGeom prst="roundRect">
            <a:avLst>
              <a:gd name="adj" fmla="val 5217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0296" y="3749040"/>
            <a:ext cx="404164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Trace finale : une mini-application Contacts plus organisée, avec recherche, diagnostic et test simple.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4ED8"/>
                </a:solidFill>
              </a:rPr>
              <a:t>CARTE DE ROUTE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La journée en 6 grands blocs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618488" cy="587829"/>
          </a:xfrm>
          <a:prstGeom prst="rect">
            <a:avLst/>
          </a:prstGeom>
          <a:solidFill>
            <a:srgbClr val="0F172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207008"/>
            <a:ext cx="1472184" cy="4963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Horaire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350008" y="1143000"/>
            <a:ext cx="3776472" cy="587829"/>
          </a:xfrm>
          <a:prstGeom prst="rect">
            <a:avLst/>
          </a:prstGeom>
          <a:solidFill>
            <a:srgbClr val="0F172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23160" y="1207008"/>
            <a:ext cx="3630168" cy="4963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Bloc live coding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126480" y="1143000"/>
            <a:ext cx="5394960" cy="587829"/>
          </a:xfrm>
          <a:prstGeom prst="rect">
            <a:avLst/>
          </a:prstGeom>
          <a:solidFill>
            <a:srgbClr val="0F172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99632" y="1207008"/>
            <a:ext cx="5248656" cy="4963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Production visible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1520" y="1730829"/>
            <a:ext cx="1618488" cy="587829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1794837"/>
            <a:ext cx="1472184" cy="4963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09h00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2350008" y="1730829"/>
            <a:ext cx="3776472" cy="587829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23160" y="1794837"/>
            <a:ext cx="3630168" cy="4963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Réactivation J2</a:t>
            </a:r>
            <a:endParaRPr lang="en-US" sz="970" dirty="0"/>
          </a:p>
        </p:txBody>
      </p:sp>
      <p:sp>
        <p:nvSpPr>
          <p:cNvPr id="14" name="Shape 12"/>
          <p:cNvSpPr/>
          <p:nvPr/>
        </p:nvSpPr>
        <p:spPr>
          <a:xfrm>
            <a:off x="6126480" y="1730829"/>
            <a:ext cx="5394960" cy="587829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99632" y="1794837"/>
            <a:ext cx="5248656" cy="4963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lecture du mini-projet console</a:t>
            </a:r>
            <a:endParaRPr lang="en-US" sz="970" dirty="0"/>
          </a:p>
        </p:txBody>
      </p:sp>
      <p:sp>
        <p:nvSpPr>
          <p:cNvPr id="16" name="Shape 14"/>
          <p:cNvSpPr/>
          <p:nvPr/>
        </p:nvSpPr>
        <p:spPr>
          <a:xfrm>
            <a:off x="731520" y="2318657"/>
            <a:ext cx="1618488" cy="587829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2382665"/>
            <a:ext cx="1472184" cy="4963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09h20</a:t>
            </a:r>
            <a:endParaRPr lang="en-US" sz="970" dirty="0"/>
          </a:p>
        </p:txBody>
      </p:sp>
      <p:sp>
        <p:nvSpPr>
          <p:cNvPr id="18" name="Shape 16"/>
          <p:cNvSpPr/>
          <p:nvPr/>
        </p:nvSpPr>
        <p:spPr>
          <a:xfrm>
            <a:off x="2350008" y="2318657"/>
            <a:ext cx="3776472" cy="587829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23160" y="2382665"/>
            <a:ext cx="3630168" cy="4963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Classe Contact</a:t>
            </a:r>
            <a:endParaRPr lang="en-US" sz="970" dirty="0"/>
          </a:p>
        </p:txBody>
      </p:sp>
      <p:sp>
        <p:nvSpPr>
          <p:cNvPr id="20" name="Shape 18"/>
          <p:cNvSpPr/>
          <p:nvPr/>
        </p:nvSpPr>
        <p:spPr>
          <a:xfrm>
            <a:off x="6126480" y="2318657"/>
            <a:ext cx="5394960" cy="587829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2382665"/>
            <a:ext cx="5248656" cy="4963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propriétés, constructeur, instances</a:t>
            </a: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731520" y="2906486"/>
            <a:ext cx="1618488" cy="587829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2970494"/>
            <a:ext cx="1472184" cy="4963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10h45</a:t>
            </a:r>
            <a:endParaRPr lang="en-US" sz="970" dirty="0"/>
          </a:p>
        </p:txBody>
      </p:sp>
      <p:sp>
        <p:nvSpPr>
          <p:cNvPr id="24" name="Shape 22"/>
          <p:cNvSpPr/>
          <p:nvPr/>
        </p:nvSpPr>
        <p:spPr>
          <a:xfrm>
            <a:off x="2350008" y="2906486"/>
            <a:ext cx="3776472" cy="587829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23160" y="2970494"/>
            <a:ext cx="3630168" cy="4963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Organisation du code</a:t>
            </a:r>
            <a:endParaRPr lang="en-US" sz="970" dirty="0"/>
          </a:p>
        </p:txBody>
      </p:sp>
      <p:sp>
        <p:nvSpPr>
          <p:cNvPr id="26" name="Shape 24"/>
          <p:cNvSpPr/>
          <p:nvPr/>
        </p:nvSpPr>
        <p:spPr>
          <a:xfrm>
            <a:off x="6126480" y="2906486"/>
            <a:ext cx="5394960" cy="587829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99632" y="2970494"/>
            <a:ext cx="5248656" cy="4963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séparer interaction, logique, données</a:t>
            </a:r>
            <a:endParaRPr lang="en-US" sz="970" dirty="0"/>
          </a:p>
        </p:txBody>
      </p:sp>
      <p:sp>
        <p:nvSpPr>
          <p:cNvPr id="28" name="Shape 26"/>
          <p:cNvSpPr/>
          <p:nvPr/>
        </p:nvSpPr>
        <p:spPr>
          <a:xfrm>
            <a:off x="731520" y="3494314"/>
            <a:ext cx="1618488" cy="587829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" y="3558322"/>
            <a:ext cx="1472184" cy="4963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11h30</a:t>
            </a:r>
            <a:endParaRPr lang="en-US" sz="970" dirty="0"/>
          </a:p>
        </p:txBody>
      </p:sp>
      <p:sp>
        <p:nvSpPr>
          <p:cNvPr id="30" name="Shape 28"/>
          <p:cNvSpPr/>
          <p:nvPr/>
        </p:nvSpPr>
        <p:spPr>
          <a:xfrm>
            <a:off x="2350008" y="3494314"/>
            <a:ext cx="3776472" cy="587829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23160" y="3558322"/>
            <a:ext cx="3630168" cy="4963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Accès aux données</a:t>
            </a:r>
            <a:endParaRPr lang="en-US" sz="970" dirty="0"/>
          </a:p>
        </p:txBody>
      </p:sp>
      <p:sp>
        <p:nvSpPr>
          <p:cNvPr id="32" name="Shape 30"/>
          <p:cNvSpPr/>
          <p:nvPr/>
        </p:nvSpPr>
        <p:spPr>
          <a:xfrm>
            <a:off x="6126480" y="3494314"/>
            <a:ext cx="5394960" cy="587829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99632" y="3558322"/>
            <a:ext cx="5248656" cy="4963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requête paramétrée + résultats</a:t>
            </a:r>
            <a:endParaRPr lang="en-US" sz="970" dirty="0"/>
          </a:p>
        </p:txBody>
      </p:sp>
      <p:sp>
        <p:nvSpPr>
          <p:cNvPr id="34" name="Shape 32"/>
          <p:cNvSpPr/>
          <p:nvPr/>
        </p:nvSpPr>
        <p:spPr>
          <a:xfrm>
            <a:off x="731520" y="4082143"/>
            <a:ext cx="1618488" cy="587829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4672" y="4146151"/>
            <a:ext cx="1472184" cy="4963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13h30</a:t>
            </a:r>
            <a:endParaRPr lang="en-US" sz="970" dirty="0"/>
          </a:p>
        </p:txBody>
      </p:sp>
      <p:sp>
        <p:nvSpPr>
          <p:cNvPr id="36" name="Shape 34"/>
          <p:cNvSpPr/>
          <p:nvPr/>
        </p:nvSpPr>
        <p:spPr>
          <a:xfrm>
            <a:off x="2350008" y="4082143"/>
            <a:ext cx="3776472" cy="587829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23160" y="4146151"/>
            <a:ext cx="3630168" cy="4963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WinForms recherche</a:t>
            </a:r>
            <a:endParaRPr lang="en-US" sz="970" dirty="0"/>
          </a:p>
        </p:txBody>
      </p:sp>
      <p:sp>
        <p:nvSpPr>
          <p:cNvPr id="38" name="Shape 36"/>
          <p:cNvSpPr/>
          <p:nvPr/>
        </p:nvSpPr>
        <p:spPr>
          <a:xfrm>
            <a:off x="6126480" y="4082143"/>
            <a:ext cx="5394960" cy="587829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99632" y="4146151"/>
            <a:ext cx="5248656" cy="4963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TextBox, Button, ListBox/DataGridView</a:t>
            </a:r>
            <a:endParaRPr lang="en-US" sz="970" dirty="0"/>
          </a:p>
        </p:txBody>
      </p:sp>
      <p:sp>
        <p:nvSpPr>
          <p:cNvPr id="40" name="Shape 38"/>
          <p:cNvSpPr/>
          <p:nvPr/>
        </p:nvSpPr>
        <p:spPr>
          <a:xfrm>
            <a:off x="731520" y="4669971"/>
            <a:ext cx="1618488" cy="587829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4733979"/>
            <a:ext cx="1472184" cy="4963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14h35</a:t>
            </a:r>
            <a:endParaRPr lang="en-US" sz="970" dirty="0"/>
          </a:p>
        </p:txBody>
      </p:sp>
      <p:sp>
        <p:nvSpPr>
          <p:cNvPr id="42" name="Shape 40"/>
          <p:cNvSpPr/>
          <p:nvPr/>
        </p:nvSpPr>
        <p:spPr>
          <a:xfrm>
            <a:off x="2350008" y="4669971"/>
            <a:ext cx="3776472" cy="587829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423160" y="4733979"/>
            <a:ext cx="3630168" cy="4963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Erreurs, debug, tests</a:t>
            </a:r>
            <a:endParaRPr lang="en-US" sz="970" dirty="0"/>
          </a:p>
        </p:txBody>
      </p:sp>
      <p:sp>
        <p:nvSpPr>
          <p:cNvPr id="44" name="Shape 42"/>
          <p:cNvSpPr/>
          <p:nvPr/>
        </p:nvSpPr>
        <p:spPr>
          <a:xfrm>
            <a:off x="6126480" y="4669971"/>
            <a:ext cx="5394960" cy="587829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99632" y="4733979"/>
            <a:ext cx="5248656" cy="4963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breakpoints, Watch, MSTest</a:t>
            </a:r>
            <a:endParaRPr lang="en-US" sz="970" dirty="0"/>
          </a:p>
        </p:txBody>
      </p:sp>
      <p:sp>
        <p:nvSpPr>
          <p:cNvPr id="46" name="Shape 44"/>
          <p:cNvSpPr/>
          <p:nvPr/>
        </p:nvSpPr>
        <p:spPr>
          <a:xfrm>
            <a:off x="1143000" y="5532120"/>
            <a:ext cx="9784080" cy="594360"/>
          </a:xfrm>
          <a:prstGeom prst="roundRect">
            <a:avLst>
              <a:gd name="adj" fmla="val 9231"/>
            </a:avLst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271016" y="5623560"/>
            <a:ext cx="95280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Fil conducteur : chaque bloc améliore la même application Contacts au lieu d’empiler des exemples isolés.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4ED8"/>
                </a:solidFill>
              </a:rPr>
              <a:t>LECTURE DE CODE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Réactivation J2 : où sont les limites du tableau ?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5394960" cy="3429000"/>
          </a:xfrm>
          <a:prstGeom prst="roundRect">
            <a:avLst>
              <a:gd name="adj" fmla="val 106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" y="1261872"/>
            <a:ext cx="5120640" cy="3227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Dim names(2) As String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names(0) = "Ada"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names(1) = "Grace"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names(2) = "Alan"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For i As Integer = 0 To names.Length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Console.WriteLine(names(i))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Next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629400" y="1143000"/>
            <a:ext cx="4389120" cy="45720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57416" y="1234440"/>
            <a:ext cx="4133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Questions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720840" y="1828800"/>
            <a:ext cx="416052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00" dirty="0">
                <a:solidFill>
                  <a:srgbClr val="0F172A"/>
                </a:solidFill>
              </a:rPr>
              <a:t>Combien d’éléments contient names ?</a:t>
            </a:r>
            <a:endParaRPr lang="en-US" sz="1400" dirty="0"/>
          </a:p>
          <a:p>
            <a:r>
              <a:rPr lang="en-US" sz="1400" dirty="0">
                <a:solidFill>
                  <a:srgbClr val="0F172A"/>
                </a:solidFill>
              </a:rPr>
              <a:t>Quels sont les index valides ?</a:t>
            </a:r>
            <a:endParaRPr lang="en-US" sz="1400" dirty="0"/>
          </a:p>
          <a:p>
            <a:r>
              <a:rPr lang="en-US" sz="1400" dirty="0">
                <a:solidFill>
                  <a:srgbClr val="0F172A"/>
                </a:solidFill>
              </a:rPr>
              <a:t>À quel moment le programme plante ?</a:t>
            </a:r>
            <a:endParaRPr lang="en-US" sz="1400" dirty="0"/>
          </a:p>
          <a:p>
            <a:r>
              <a:rPr lang="en-US" sz="1400" dirty="0">
                <a:solidFill>
                  <a:srgbClr val="0F172A"/>
                </a:solidFill>
              </a:rPr>
              <a:t>Quelle correction proposez-vous 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29400" y="4434840"/>
            <a:ext cx="4389120" cy="640080"/>
          </a:xfrm>
          <a:prstGeom prst="roundRect">
            <a:avLst>
              <a:gd name="adj" fmla="val 8571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57416" y="4526280"/>
            <a:ext cx="4133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</a:rPr>
              <a:t>Correction attendue : For i = 0 To names.Length - 1</a:t>
            </a:r>
            <a:endParaRPr lang="en-US" sz="13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4ED8"/>
                </a:solidFill>
              </a:rPr>
              <a:t>BESOIN AVANT SYNTAXE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Pourquoi passer à une classe Contact ?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77240" y="1371600"/>
            <a:ext cx="3108960" cy="1874520"/>
          </a:xfrm>
          <a:prstGeom prst="roundRect">
            <a:avLst>
              <a:gd name="adj" fmla="val 2927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05256" y="1463040"/>
            <a:ext cx="2852928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Version fragile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60120" y="2011680"/>
            <a:ext cx="2743200" cy="868680"/>
          </a:xfrm>
          <a:prstGeom prst="roundRect">
            <a:avLst>
              <a:gd name="adj" fmla="val 4211"/>
            </a:avLst>
          </a:prstGeom>
          <a:solidFill>
            <a:srgbClr val="7F1D1D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06424" y="2130552"/>
            <a:ext cx="24688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names(0) = "Ada"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emails(0) = "ada@demo.fr"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phones(0) = "0102030405"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160520" y="2240280"/>
            <a:ext cx="137160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577840" y="1371600"/>
            <a:ext cx="3108960" cy="1874520"/>
          </a:xfrm>
          <a:prstGeom prst="roundRect">
            <a:avLst>
              <a:gd name="adj" fmla="val 2927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05856" y="1463040"/>
            <a:ext cx="2852928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Version objet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760720" y="2011680"/>
            <a:ext cx="2743200" cy="868680"/>
          </a:xfrm>
          <a:prstGeom prst="roundRect">
            <a:avLst>
              <a:gd name="adj" fmla="val 4211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07024" y="2130552"/>
            <a:ext cx="24688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Dim c As New Contact(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"Ada", "ada@demo.fr",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"0102030405")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14400" y="3977640"/>
            <a:ext cx="1051560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50" dirty="0">
                <a:solidFill>
                  <a:srgbClr val="0F172A"/>
                </a:solidFill>
              </a:rPr>
              <a:t>Un contact regroupe ses données.</a:t>
            </a:r>
            <a:endParaRPr lang="en-US" sz="1450" dirty="0"/>
          </a:p>
          <a:p>
            <a:r>
              <a:rPr lang="en-US" sz="1450" dirty="0">
                <a:solidFill>
                  <a:srgbClr val="0F172A"/>
                </a:solidFill>
              </a:rPr>
              <a:t>On évite de synchroniser plusieurs tableaux.</a:t>
            </a:r>
            <a:endParaRPr lang="en-US" sz="1450" dirty="0"/>
          </a:p>
          <a:p>
            <a:r>
              <a:rPr lang="en-US" sz="1450" dirty="0">
                <a:solidFill>
                  <a:srgbClr val="0F172A"/>
                </a:solidFill>
              </a:rPr>
              <a:t>Le code exprime mieux le domaine métier.</a:t>
            </a:r>
            <a:endParaRPr lang="en-US" sz="1450" dirty="0"/>
          </a:p>
          <a:p>
            <a:r>
              <a:rPr lang="en-US" sz="1450" dirty="0">
                <a:solidFill>
                  <a:srgbClr val="0F172A"/>
                </a:solidFill>
              </a:rPr>
              <a:t>La classe devient une brique réutilisable.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4ED8"/>
                </a:solidFill>
              </a:rPr>
              <a:t>MODÈLE MENTAL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Classe, objet, propriété, méthode : le vocabulaire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2148840" cy="723900"/>
          </a:xfrm>
          <a:prstGeom prst="rect">
            <a:avLst/>
          </a:prstGeom>
          <a:solidFill>
            <a:srgbClr val="0F172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161288"/>
            <a:ext cx="2002536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Mot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880360" y="1097280"/>
            <a:ext cx="4620006" cy="723900"/>
          </a:xfrm>
          <a:prstGeom prst="rect">
            <a:avLst/>
          </a:prstGeom>
          <a:solidFill>
            <a:srgbClr val="0F172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53512" y="1161288"/>
            <a:ext cx="4473702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Définition simple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500366" y="1097280"/>
            <a:ext cx="3975354" cy="723900"/>
          </a:xfrm>
          <a:prstGeom prst="rect">
            <a:avLst/>
          </a:prstGeom>
          <a:solidFill>
            <a:srgbClr val="0F172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73518" y="1161288"/>
            <a:ext cx="382905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Dans Contacts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1520" y="1821180"/>
            <a:ext cx="2148840" cy="7239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1885188"/>
            <a:ext cx="2002536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Classe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2880360" y="1821180"/>
            <a:ext cx="4620006" cy="7239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53512" y="1885188"/>
            <a:ext cx="4473702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modèle ou plan de fabrication</a:t>
            </a:r>
            <a:endParaRPr lang="en-US" sz="970" dirty="0"/>
          </a:p>
        </p:txBody>
      </p:sp>
      <p:sp>
        <p:nvSpPr>
          <p:cNvPr id="14" name="Shape 12"/>
          <p:cNvSpPr/>
          <p:nvPr/>
        </p:nvSpPr>
        <p:spPr>
          <a:xfrm>
            <a:off x="7500366" y="1821180"/>
            <a:ext cx="3975354" cy="7239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73518" y="1885188"/>
            <a:ext cx="382905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Contact</a:t>
            </a:r>
            <a:endParaRPr lang="en-US" sz="970" dirty="0"/>
          </a:p>
        </p:txBody>
      </p:sp>
      <p:sp>
        <p:nvSpPr>
          <p:cNvPr id="16" name="Shape 14"/>
          <p:cNvSpPr/>
          <p:nvPr/>
        </p:nvSpPr>
        <p:spPr>
          <a:xfrm>
            <a:off x="731520" y="2545080"/>
            <a:ext cx="2148840" cy="7239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2609088"/>
            <a:ext cx="2002536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Objet / instance</a:t>
            </a:r>
            <a:endParaRPr lang="en-US" sz="970" dirty="0"/>
          </a:p>
        </p:txBody>
      </p:sp>
      <p:sp>
        <p:nvSpPr>
          <p:cNvPr id="18" name="Shape 16"/>
          <p:cNvSpPr/>
          <p:nvPr/>
        </p:nvSpPr>
        <p:spPr>
          <a:xfrm>
            <a:off x="2880360" y="2545080"/>
            <a:ext cx="4620006" cy="7239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53512" y="2609088"/>
            <a:ext cx="4473702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exemplaire créé à partir du plan</a:t>
            </a:r>
            <a:endParaRPr lang="en-US" sz="970" dirty="0"/>
          </a:p>
        </p:txBody>
      </p:sp>
      <p:sp>
        <p:nvSpPr>
          <p:cNvPr id="20" name="Shape 18"/>
          <p:cNvSpPr/>
          <p:nvPr/>
        </p:nvSpPr>
        <p:spPr>
          <a:xfrm>
            <a:off x="7500366" y="2545080"/>
            <a:ext cx="3975354" cy="7239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73518" y="2609088"/>
            <a:ext cx="382905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ada, grace</a:t>
            </a: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731520" y="3268980"/>
            <a:ext cx="2148840" cy="7239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3332988"/>
            <a:ext cx="2002536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Propriété</a:t>
            </a:r>
            <a:endParaRPr lang="en-US" sz="970" dirty="0"/>
          </a:p>
        </p:txBody>
      </p:sp>
      <p:sp>
        <p:nvSpPr>
          <p:cNvPr id="24" name="Shape 22"/>
          <p:cNvSpPr/>
          <p:nvPr/>
        </p:nvSpPr>
        <p:spPr>
          <a:xfrm>
            <a:off x="2880360" y="3268980"/>
            <a:ext cx="4620006" cy="7239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53512" y="3332988"/>
            <a:ext cx="4473702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information portée par l’objet</a:t>
            </a:r>
            <a:endParaRPr lang="en-US" sz="970" dirty="0"/>
          </a:p>
        </p:txBody>
      </p:sp>
      <p:sp>
        <p:nvSpPr>
          <p:cNvPr id="26" name="Shape 24"/>
          <p:cNvSpPr/>
          <p:nvPr/>
        </p:nvSpPr>
        <p:spPr>
          <a:xfrm>
            <a:off x="7500366" y="3268980"/>
            <a:ext cx="3975354" cy="7239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73518" y="3332988"/>
            <a:ext cx="382905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Name, Email, Phone</a:t>
            </a:r>
            <a:endParaRPr lang="en-US" sz="970" dirty="0"/>
          </a:p>
        </p:txBody>
      </p:sp>
      <p:sp>
        <p:nvSpPr>
          <p:cNvPr id="28" name="Shape 26"/>
          <p:cNvSpPr/>
          <p:nvPr/>
        </p:nvSpPr>
        <p:spPr>
          <a:xfrm>
            <a:off x="731520" y="3992880"/>
            <a:ext cx="2148840" cy="7239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" y="4056888"/>
            <a:ext cx="2002536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Méthode</a:t>
            </a:r>
            <a:endParaRPr lang="en-US" sz="970" dirty="0"/>
          </a:p>
        </p:txBody>
      </p:sp>
      <p:sp>
        <p:nvSpPr>
          <p:cNvPr id="30" name="Shape 28"/>
          <p:cNvSpPr/>
          <p:nvPr/>
        </p:nvSpPr>
        <p:spPr>
          <a:xfrm>
            <a:off x="2880360" y="3992880"/>
            <a:ext cx="4620006" cy="7239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53512" y="4056888"/>
            <a:ext cx="4473702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action ou calcul de l’objet</a:t>
            </a:r>
            <a:endParaRPr lang="en-US" sz="970" dirty="0"/>
          </a:p>
        </p:txBody>
      </p:sp>
      <p:sp>
        <p:nvSpPr>
          <p:cNvPr id="32" name="Shape 30"/>
          <p:cNvSpPr/>
          <p:nvPr/>
        </p:nvSpPr>
        <p:spPr>
          <a:xfrm>
            <a:off x="7500366" y="3992880"/>
            <a:ext cx="3975354" cy="7239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73518" y="4056888"/>
            <a:ext cx="382905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DisplayLine()</a:t>
            </a:r>
            <a:endParaRPr lang="en-US" sz="970" dirty="0"/>
          </a:p>
        </p:txBody>
      </p:sp>
      <p:sp>
        <p:nvSpPr>
          <p:cNvPr id="34" name="Shape 32"/>
          <p:cNvSpPr/>
          <p:nvPr/>
        </p:nvSpPr>
        <p:spPr>
          <a:xfrm>
            <a:off x="731520" y="4716780"/>
            <a:ext cx="2148840" cy="7239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4672" y="4780788"/>
            <a:ext cx="2002536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Constructeur</a:t>
            </a:r>
            <a:endParaRPr lang="en-US" sz="970" dirty="0"/>
          </a:p>
        </p:txBody>
      </p:sp>
      <p:sp>
        <p:nvSpPr>
          <p:cNvPr id="36" name="Shape 34"/>
          <p:cNvSpPr/>
          <p:nvPr/>
        </p:nvSpPr>
        <p:spPr>
          <a:xfrm>
            <a:off x="2880360" y="4716780"/>
            <a:ext cx="4620006" cy="7239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53512" y="4780788"/>
            <a:ext cx="4473702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initialisation à la création</a:t>
            </a:r>
            <a:endParaRPr lang="en-US" sz="970" dirty="0"/>
          </a:p>
        </p:txBody>
      </p:sp>
      <p:sp>
        <p:nvSpPr>
          <p:cNvPr id="38" name="Shape 36"/>
          <p:cNvSpPr/>
          <p:nvPr/>
        </p:nvSpPr>
        <p:spPr>
          <a:xfrm>
            <a:off x="7500366" y="4716780"/>
            <a:ext cx="3975354" cy="7239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73518" y="4780788"/>
            <a:ext cx="382905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Sub New(...)</a:t>
            </a:r>
            <a:endParaRPr lang="en-US" sz="970" dirty="0"/>
          </a:p>
        </p:txBody>
      </p:sp>
      <p:sp>
        <p:nvSpPr>
          <p:cNvPr id="40" name="Shape 38"/>
          <p:cNvSpPr/>
          <p:nvPr/>
        </p:nvSpPr>
        <p:spPr>
          <a:xfrm>
            <a:off x="1097280" y="5715000"/>
            <a:ext cx="9875520" cy="502920"/>
          </a:xfrm>
          <a:prstGeom prst="roundRect">
            <a:avLst>
              <a:gd name="adj" fmla="val 10909"/>
            </a:avLst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225296" y="5806440"/>
            <a:ext cx="96194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À dire : une classe n’est pas encore un contact réel ; c’est le modèle qui permet d’en fabriquer.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4ED8"/>
                </a:solidFill>
              </a:rPr>
              <a:t>LIVE CODING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Coder progressivement la classe Contact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5212080" cy="2148840"/>
          </a:xfrm>
          <a:prstGeom prst="roundRect">
            <a:avLst>
              <a:gd name="adj" fmla="val 1702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2104" y="1261872"/>
            <a:ext cx="4937760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Public Class Contact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Public Property Name As String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Public Property Email As String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Public Property Phone As String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End Class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143000"/>
            <a:ext cx="4480560" cy="45720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91656" y="1234440"/>
            <a:ext cx="4224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Étape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55080" y="1828800"/>
            <a:ext cx="4251960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00" dirty="0">
                <a:solidFill>
                  <a:srgbClr val="0F172A"/>
                </a:solidFill>
              </a:rPr>
              <a:t>Créer un fichier Contact.vb.</a:t>
            </a:r>
            <a:endParaRPr lang="en-US" sz="1400" dirty="0"/>
          </a:p>
          <a:p>
            <a:r>
              <a:rPr lang="en-US" sz="1400" dirty="0">
                <a:solidFill>
                  <a:srgbClr val="0F172A"/>
                </a:solidFill>
              </a:rPr>
              <a:t>Déclarer la classe.</a:t>
            </a:r>
            <a:endParaRPr lang="en-US" sz="1400" dirty="0"/>
          </a:p>
          <a:p>
            <a:r>
              <a:rPr lang="en-US" sz="1400" dirty="0">
                <a:solidFill>
                  <a:srgbClr val="0F172A"/>
                </a:solidFill>
              </a:rPr>
              <a:t>Ajouter les propriétés publiques.</a:t>
            </a:r>
            <a:endParaRPr lang="en-US" sz="1400" dirty="0"/>
          </a:p>
          <a:p>
            <a:r>
              <a:rPr lang="en-US" sz="1400" dirty="0">
                <a:solidFill>
                  <a:srgbClr val="0F172A"/>
                </a:solidFill>
              </a:rPr>
              <a:t>Créer une instance dans Sub Main.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4160520"/>
            <a:ext cx="5212080" cy="1234440"/>
          </a:xfrm>
          <a:prstGeom prst="roundRect">
            <a:avLst>
              <a:gd name="adj" fmla="val 2963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2104" y="4279392"/>
            <a:ext cx="493776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Dim contact As New Contact()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contact.Name = "Ada"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contact.Email = "ada@demo.fr"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contact.Phone = "0102030405"</a:t>
            </a:r>
            <a:endParaRPr lang="en-US" sz="1140" dirty="0"/>
          </a:p>
        </p:txBody>
      </p:sp>
      <p:sp>
        <p:nvSpPr>
          <p:cNvPr id="11" name="Shape 9"/>
          <p:cNvSpPr/>
          <p:nvPr/>
        </p:nvSpPr>
        <p:spPr>
          <a:xfrm>
            <a:off x="6309360" y="4297680"/>
            <a:ext cx="4389120" cy="868680"/>
          </a:xfrm>
          <a:prstGeom prst="roundRect">
            <a:avLst>
              <a:gd name="adj" fmla="val 6316"/>
            </a:avLst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37376" y="4389120"/>
            <a:ext cx="413308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Prédiction : que vaut contact.Name avant affectation ? après affectation ?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4ED8"/>
                </a:solidFill>
              </a:rPr>
              <a:t>OBJET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Ajouter un constructeur Sub New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6035040" cy="2057400"/>
          </a:xfrm>
          <a:prstGeom prst="roundRect">
            <a:avLst>
              <a:gd name="adj" fmla="val 1778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" y="1261872"/>
            <a:ext cx="576072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Public Sub New(name As String, email As String, phone As String)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Me.Name = name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Me.Email = email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Me.Phone = phone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End Sub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132320" y="1143000"/>
            <a:ext cx="3977640" cy="45720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60336" y="1234440"/>
            <a:ext cx="3721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Pourquoi 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223760" y="1828800"/>
            <a:ext cx="3749040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00" dirty="0">
                <a:solidFill>
                  <a:srgbClr val="0F172A"/>
                </a:solidFill>
              </a:rPr>
              <a:t>Forcer la création avec les informations utiles.</a:t>
            </a:r>
            <a:endParaRPr lang="en-US" sz="1400" dirty="0"/>
          </a:p>
          <a:p>
            <a:r>
              <a:rPr lang="en-US" sz="1400" dirty="0">
                <a:solidFill>
                  <a:srgbClr val="0F172A"/>
                </a:solidFill>
              </a:rPr>
              <a:t>Éviter un objet Contact à moitié rempli.</a:t>
            </a:r>
            <a:endParaRPr lang="en-US" sz="1400" dirty="0"/>
          </a:p>
          <a:p>
            <a:r>
              <a:rPr lang="en-US" sz="1400" dirty="0">
                <a:solidFill>
                  <a:srgbClr val="0F172A"/>
                </a:solidFill>
              </a:rPr>
              <a:t>Centraliser l’initialisation.</a:t>
            </a:r>
            <a:endParaRPr lang="en-US" sz="1400" dirty="0"/>
          </a:p>
          <a:p>
            <a:r>
              <a:rPr lang="en-US" sz="1400" dirty="0">
                <a:solidFill>
                  <a:srgbClr val="0F172A"/>
                </a:solidFill>
              </a:rPr>
              <a:t>Clarifier le code appelant.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4206240"/>
            <a:ext cx="6400800" cy="64008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4325112"/>
            <a:ext cx="6126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Dim ada As New Contact("Ada", "ada@demo.fr", "0102030405")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498080" y="4069080"/>
            <a:ext cx="3474720" cy="960120"/>
          </a:xfrm>
          <a:prstGeom prst="roundRect">
            <a:avLst>
              <a:gd name="adj" fmla="val 5714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26096" y="4160520"/>
            <a:ext cx="321868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Erreur volontaire : inverser email et téléphone pour montrer que le typage String ne suffit pas toujours.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4ED8"/>
                </a:solidFill>
              </a:rPr>
              <a:t>CONCEPTION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Responsabilité : quelle méthode appartient au Contact ?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77240" y="1234440"/>
            <a:ext cx="5394960" cy="1417320"/>
          </a:xfrm>
          <a:prstGeom prst="roundRect">
            <a:avLst>
              <a:gd name="adj" fmla="val 2581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23544" y="1353312"/>
            <a:ext cx="512064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Public Function DisplayLine() As String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Return Name &amp; " - " &amp; Email &amp; " - " &amp; Phone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End Function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0" y="1234440"/>
            <a:ext cx="4389120" cy="566928"/>
          </a:xfrm>
          <a:prstGeom prst="roundRect">
            <a:avLst>
              <a:gd name="adj" fmla="val 9677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11696" y="1325880"/>
            <a:ext cx="4133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Bonne responsabilité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720840" y="2011680"/>
            <a:ext cx="406908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00" dirty="0">
                <a:solidFill>
                  <a:srgbClr val="0F172A"/>
                </a:solidFill>
              </a:rPr>
              <a:t>Le contact sait produire une ligne d’affichage simple.</a:t>
            </a:r>
            <a:endParaRPr lang="en-US" sz="1400" dirty="0"/>
          </a:p>
          <a:p>
            <a:r>
              <a:rPr lang="en-US" sz="1400" dirty="0">
                <a:solidFill>
                  <a:srgbClr val="0F172A"/>
                </a:solidFill>
              </a:rPr>
              <a:t>Le menu console n’a plus à connaître tous les détails de concaténation.</a:t>
            </a:r>
            <a:endParaRPr lang="en-US" sz="1400" dirty="0"/>
          </a:p>
          <a:p>
            <a:r>
              <a:rPr lang="en-US" sz="1400" dirty="0">
                <a:solidFill>
                  <a:srgbClr val="0F172A"/>
                </a:solidFill>
              </a:rPr>
              <a:t>La méthode évite la duplication.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3794760"/>
            <a:ext cx="2286000" cy="502920"/>
          </a:xfrm>
          <a:prstGeom prst="roundRect">
            <a:avLst>
              <a:gd name="adj" fmla="val 10909"/>
            </a:avLst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3886200"/>
            <a:ext cx="20299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Question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29000" y="3657600"/>
            <a:ext cx="7132320" cy="822960"/>
          </a:xfrm>
          <a:prstGeom prst="roundRect">
            <a:avLst>
              <a:gd name="adj" fmla="val 6667"/>
            </a:avLst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57016" y="3749040"/>
            <a:ext cx="6876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La méthode SaveToDatabase() doit-elle être dans Contact ? Faire discuter : donnée métier ou accès technique 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4ED8"/>
                </a:solidFill>
              </a:rPr>
              <a:t>ARCHITECTURE SIMPLE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Organisation du code : interaction, logique, données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274320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0976" y="1645920"/>
            <a:ext cx="2487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Console / WinForms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interaction utilisateur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11880" y="2011680"/>
            <a:ext cx="100584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663440" y="1554480"/>
            <a:ext cx="2743200" cy="91440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91456" y="1645920"/>
            <a:ext cx="2487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Logique métier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Contact + règles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52360" y="2011680"/>
            <a:ext cx="1005840" cy="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503920" y="1554480"/>
            <a:ext cx="2743200" cy="914400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31936" y="1645920"/>
            <a:ext cx="2487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Données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base Contacts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337560"/>
            <a:ext cx="987552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00" dirty="0">
                <a:solidFill>
                  <a:srgbClr val="0F172A"/>
                </a:solidFill>
              </a:rPr>
              <a:t>But du J3 : ne pas tout mettre dans le même Sub Main.</a:t>
            </a:r>
            <a:endParaRPr lang="en-US" sz="1500" dirty="0"/>
          </a:p>
          <a:p>
            <a:r>
              <a:rPr lang="en-US" sz="1500" dirty="0">
                <a:solidFill>
                  <a:srgbClr val="0F172A"/>
                </a:solidFill>
              </a:rPr>
              <a:t>Chaque zone a une responsabilité identifiable.</a:t>
            </a:r>
            <a:endParaRPr lang="en-US" sz="1500" dirty="0"/>
          </a:p>
          <a:p>
            <a:r>
              <a:rPr lang="en-US" sz="1500" dirty="0">
                <a:solidFill>
                  <a:srgbClr val="0F172A"/>
                </a:solidFill>
              </a:rPr>
              <a:t>Le débogage devient plus simple car on sait où chercher.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371600" y="5212080"/>
            <a:ext cx="9235440" cy="594360"/>
          </a:xfrm>
          <a:prstGeom prst="roundRect">
            <a:avLst>
              <a:gd name="adj" fmla="val 923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99616" y="5303520"/>
            <a:ext cx="89794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Mini-défi : classer les lignes du programme J2 dans une de ces trois zones.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4ED8"/>
                </a:solidFill>
              </a:rPr>
              <a:t>BASE DE DONNÉES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Accès aux données : le cycle à comprendre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14400" y="1508760"/>
            <a:ext cx="1967789" cy="777240"/>
          </a:xfrm>
          <a:prstGeom prst="roundRect">
            <a:avLst>
              <a:gd name="adj" fmla="val 7059"/>
            </a:avLst>
          </a:prstGeom>
          <a:solidFill>
            <a:srgbClr val="E0F2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2416" y="1600200"/>
            <a:ext cx="1711757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Connexion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891333" y="1897380"/>
            <a:ext cx="73152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982773" y="1508760"/>
            <a:ext cx="1967789" cy="777240"/>
          </a:xfrm>
          <a:prstGeom prst="roundRect">
            <a:avLst>
              <a:gd name="adj" fmla="val 7059"/>
            </a:avLst>
          </a:prstGeom>
          <a:solidFill>
            <a:srgbClr val="EFF6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10789" y="1600200"/>
            <a:ext cx="1711757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Commande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959706" y="1897380"/>
            <a:ext cx="73152" cy="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051146" y="1508760"/>
            <a:ext cx="1967789" cy="777240"/>
          </a:xfrm>
          <a:prstGeom prst="roundRect">
            <a:avLst>
              <a:gd name="adj" fmla="val 7059"/>
            </a:avLst>
          </a:prstGeom>
          <a:solidFill>
            <a:srgbClr val="E0F2FE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79162" y="1600200"/>
            <a:ext cx="1711757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Paramètres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028078" y="1897380"/>
            <a:ext cx="73152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119518" y="1508760"/>
            <a:ext cx="1967789" cy="777240"/>
          </a:xfrm>
          <a:prstGeom prst="roundRect">
            <a:avLst>
              <a:gd name="adj" fmla="val 7059"/>
            </a:avLst>
          </a:prstGeom>
          <a:solidFill>
            <a:srgbClr val="EFF6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47534" y="1600200"/>
            <a:ext cx="1711757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Exécution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096451" y="1897380"/>
            <a:ext cx="73152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187891" y="1508760"/>
            <a:ext cx="1967789" cy="777240"/>
          </a:xfrm>
          <a:prstGeom prst="roundRect">
            <a:avLst>
              <a:gd name="adj" fmla="val 7059"/>
            </a:avLst>
          </a:prstGeom>
          <a:solidFill>
            <a:srgbClr val="E0F2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15907" y="1600200"/>
            <a:ext cx="1711757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Lecture résultats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60120" y="3017520"/>
            <a:ext cx="2834640" cy="502920"/>
          </a:xfrm>
          <a:prstGeom prst="roundRect">
            <a:avLst>
              <a:gd name="adj" fmla="val 10909"/>
            </a:avLst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88136" y="3108960"/>
            <a:ext cx="25786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Message clé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069080" y="2816352"/>
            <a:ext cx="68580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97096" y="2907792"/>
            <a:ext cx="6601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On ne “lit pas un fichier magique”. On ouvre une connexion, on envoie une requête, puis on récupère une table de résultats.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60120" y="4892040"/>
            <a:ext cx="2834640" cy="502920"/>
          </a:xfrm>
          <a:prstGeom prst="roundRect">
            <a:avLst>
              <a:gd name="adj" fmla="val 10909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88136" y="4983480"/>
            <a:ext cx="25786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Sécurité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069080" y="4709160"/>
            <a:ext cx="6858000" cy="749808"/>
          </a:xfrm>
          <a:prstGeom prst="roundRect">
            <a:avLst>
              <a:gd name="adj" fmla="val 7317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97096" y="4800600"/>
            <a:ext cx="66019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Les valeurs saisies par l’utilisateur doivent passer par des paramètres, pas par concaténation dans le SQL.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4ED8"/>
                </a:solidFill>
              </a:rPr>
              <a:t>ADO.NET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Requête paramétrée : chercher sans concaténer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1051560"/>
            <a:ext cx="6492240" cy="4846320"/>
          </a:xfrm>
          <a:prstGeom prst="roundRect">
            <a:avLst>
              <a:gd name="adj" fmla="val 755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2104" y="1170432"/>
            <a:ext cx="6217920" cy="4645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Dim sql As String =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"SELECT Name, Email, Phone FROM Contacts WHERE Name LIKE @search"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Using cmd As New SQLiteCommand(sql, connection)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cmd.Parameters.AddWithValue("@search", "%" &amp; keyword &amp; "%")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Using reader = cmd.ExecuteReader()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While reader.Read()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    ' construire un Contact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End While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End Using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End Using</a:t>
            </a:r>
            <a:endParaRPr lang="en-US" sz="920" dirty="0"/>
          </a:p>
        </p:txBody>
      </p:sp>
      <p:sp>
        <p:nvSpPr>
          <p:cNvPr id="6" name="Shape 4"/>
          <p:cNvSpPr/>
          <p:nvPr/>
        </p:nvSpPr>
        <p:spPr>
          <a:xfrm>
            <a:off x="7543800" y="1097280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71816" y="1188720"/>
            <a:ext cx="3447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À faire observer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35240" y="1783080"/>
            <a:ext cx="3474720" cy="2240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20" dirty="0">
                <a:solidFill>
                  <a:srgbClr val="0F172A"/>
                </a:solidFill>
              </a:rPr>
              <a:t>Le SQL contient @search.</a:t>
            </a:r>
            <a:endParaRPr lang="en-US" sz="1320" dirty="0"/>
          </a:p>
          <a:p>
            <a:r>
              <a:rPr lang="en-US" sz="1320" dirty="0">
                <a:solidFill>
                  <a:srgbClr val="0F172A"/>
                </a:solidFill>
              </a:rPr>
              <a:t>La valeur est fournie à part.</a:t>
            </a:r>
            <a:endParaRPr lang="en-US" sz="1320" dirty="0"/>
          </a:p>
          <a:p>
            <a:r>
              <a:rPr lang="en-US" sz="1320" dirty="0">
                <a:solidFill>
                  <a:srgbClr val="0F172A"/>
                </a:solidFill>
              </a:rPr>
              <a:t>Le lecteur parcourt les lignes retournées.</a:t>
            </a:r>
            <a:endParaRPr lang="en-US" sz="1320" dirty="0"/>
          </a:p>
          <a:p>
            <a:r>
              <a:rPr lang="en-US" sz="1320" dirty="0">
                <a:solidFill>
                  <a:srgbClr val="0F172A"/>
                </a:solidFill>
              </a:rPr>
              <a:t>Chaque ligne peut devenir un objet Contact.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7543800" y="4663440"/>
            <a:ext cx="3703320" cy="777240"/>
          </a:xfrm>
          <a:prstGeom prst="roundRect">
            <a:avLst>
              <a:gd name="adj" fmla="val 7059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71816" y="4754880"/>
            <a:ext cx="34472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Erreur volontaire : remplacer @search par concaténation et expliquer le risque.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4ED8"/>
                </a:solidFill>
              </a:rPr>
              <a:t>INTERFACE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WinForms : du clic utilisateur à la recherche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22960" y="1508760"/>
            <a:ext cx="2011680" cy="777240"/>
          </a:xfrm>
          <a:prstGeom prst="roundRect">
            <a:avLst>
              <a:gd name="adj" fmla="val 7059"/>
            </a:avLst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0976" y="1600200"/>
            <a:ext cx="175564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TextBox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critère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880360" y="1901952"/>
            <a:ext cx="100584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931920" y="1508760"/>
            <a:ext cx="2194560" cy="777240"/>
          </a:xfrm>
          <a:prstGeom prst="roundRect">
            <a:avLst>
              <a:gd name="adj" fmla="val 7059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59936" y="1600200"/>
            <a:ext cx="193852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Button.Click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événement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1901952"/>
            <a:ext cx="1005840" cy="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223760" y="1508760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51776" y="1600200"/>
            <a:ext cx="157276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Recherche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base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098280" y="1901952"/>
            <a:ext cx="960120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0104120" y="1508760"/>
            <a:ext cx="1508760" cy="777240"/>
          </a:xfrm>
          <a:prstGeom prst="roundRect">
            <a:avLst>
              <a:gd name="adj" fmla="val 7059"/>
            </a:avLst>
          </a:prstGeom>
          <a:solidFill>
            <a:srgbClr val="F3E8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32136" y="1600200"/>
            <a:ext cx="125272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ListBox /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DataGridView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14400" y="3200400"/>
            <a:ext cx="9966960" cy="2240280"/>
          </a:xfrm>
          <a:prstGeom prst="roundRect">
            <a:avLst>
              <a:gd name="adj" fmla="val 1633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0704" y="3319272"/>
            <a:ext cx="9692640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Private Sub btnSearch_Click(sender As Object, e As EventArgs) Handles btnSearch.Click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Dim keyword As String = txtSearch.Text.Trim()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Dim results As List(Of Contact) = SearchContacts(keyword)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lstResults.Items.Clear()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For Each contact In results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lstResults.Items.Add(contact.DisplayLine())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Next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End Sub</a:t>
            </a:r>
            <a:endParaRPr lang="en-US" sz="9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4ED8"/>
                </a:solidFill>
              </a:rPr>
              <a:t>ATELIER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TP guidé : formulaire de recherche Contacts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77240" y="1143000"/>
            <a:ext cx="5486400" cy="4206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00" dirty="0">
                <a:solidFill>
                  <a:srgbClr val="0F172A"/>
                </a:solidFill>
              </a:rPr>
              <a:t>Créer un projet WinForms Visual Basic.</a:t>
            </a:r>
            <a:endParaRPr lang="en-US" sz="1400" dirty="0"/>
          </a:p>
          <a:p>
            <a:r>
              <a:rPr lang="en-US" sz="1400" dirty="0">
                <a:solidFill>
                  <a:srgbClr val="0F172A"/>
                </a:solidFill>
              </a:rPr>
              <a:t>Ajouter TextBox txtSearch, Button btnSearch, ListBox lstResults.</a:t>
            </a:r>
            <a:endParaRPr lang="en-US" sz="1400" dirty="0"/>
          </a:p>
          <a:p>
            <a:r>
              <a:rPr lang="en-US" sz="1400" dirty="0">
                <a:solidFill>
                  <a:srgbClr val="0F172A"/>
                </a:solidFill>
              </a:rPr>
              <a:t>Écrire le gestionnaire btnSearch_Click.</a:t>
            </a:r>
            <a:endParaRPr lang="en-US" sz="1400" dirty="0"/>
          </a:p>
          <a:p>
            <a:r>
              <a:rPr lang="en-US" sz="1400" dirty="0">
                <a:solidFill>
                  <a:srgbClr val="0F172A"/>
                </a:solidFill>
              </a:rPr>
              <a:t>Appeler SearchContacts(keyword).</a:t>
            </a:r>
            <a:endParaRPr lang="en-US" sz="1400" dirty="0"/>
          </a:p>
          <a:p>
            <a:r>
              <a:rPr lang="en-US" sz="1400" dirty="0">
                <a:solidFill>
                  <a:srgbClr val="0F172A"/>
                </a:solidFill>
              </a:rPr>
              <a:t>Afficher chaque résultat avec DisplayLine().</a:t>
            </a:r>
            <a:endParaRPr lang="en-US" sz="1400" dirty="0"/>
          </a:p>
          <a:p>
            <a:r>
              <a:rPr lang="en-US" sz="1400" dirty="0">
                <a:solidFill>
                  <a:srgbClr val="0F172A"/>
                </a:solidFill>
              </a:rPr>
              <a:t>Tester les cas : recherche vide, résultat unique, aucun résultat.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20840" y="1234440"/>
            <a:ext cx="4389120" cy="45720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48856" y="1325880"/>
            <a:ext cx="4133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Indices progressifs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720840" y="1920240"/>
            <a:ext cx="1228954" cy="475488"/>
          </a:xfrm>
          <a:prstGeom prst="rect">
            <a:avLst/>
          </a:prstGeom>
          <a:solidFill>
            <a:srgbClr val="0F172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93992" y="1984248"/>
            <a:ext cx="10826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Niveau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949794" y="1920240"/>
            <a:ext cx="3160166" cy="475488"/>
          </a:xfrm>
          <a:prstGeom prst="rect">
            <a:avLst/>
          </a:prstGeom>
          <a:solidFill>
            <a:srgbClr val="0F172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22946" y="1984248"/>
            <a:ext cx="30138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Aide donnée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720840" y="2395728"/>
            <a:ext cx="122895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93992" y="2459736"/>
            <a:ext cx="10826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1</a:t>
            </a:r>
            <a:endParaRPr lang="en-US" sz="970" dirty="0"/>
          </a:p>
        </p:txBody>
      </p:sp>
      <p:sp>
        <p:nvSpPr>
          <p:cNvPr id="13" name="Shape 11"/>
          <p:cNvSpPr/>
          <p:nvPr/>
        </p:nvSpPr>
        <p:spPr>
          <a:xfrm>
            <a:off x="7949794" y="2395728"/>
            <a:ext cx="3160166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22946" y="2459736"/>
            <a:ext cx="30138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nommer correctement les contrôles</a:t>
            </a:r>
            <a:endParaRPr lang="en-US" sz="970" dirty="0"/>
          </a:p>
        </p:txBody>
      </p:sp>
      <p:sp>
        <p:nvSpPr>
          <p:cNvPr id="15" name="Shape 13"/>
          <p:cNvSpPr/>
          <p:nvPr/>
        </p:nvSpPr>
        <p:spPr>
          <a:xfrm>
            <a:off x="6720840" y="2871216"/>
            <a:ext cx="1228954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93992" y="2935224"/>
            <a:ext cx="10826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2</a:t>
            </a:r>
            <a:endParaRPr lang="en-US" sz="970" dirty="0"/>
          </a:p>
        </p:txBody>
      </p:sp>
      <p:sp>
        <p:nvSpPr>
          <p:cNvPr id="17" name="Shape 15"/>
          <p:cNvSpPr/>
          <p:nvPr/>
        </p:nvSpPr>
        <p:spPr>
          <a:xfrm>
            <a:off x="7949794" y="2871216"/>
            <a:ext cx="3160166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22946" y="2935224"/>
            <a:ext cx="30138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faire afficher le mot saisi</a:t>
            </a:r>
            <a:endParaRPr lang="en-US" sz="970" dirty="0"/>
          </a:p>
        </p:txBody>
      </p:sp>
      <p:sp>
        <p:nvSpPr>
          <p:cNvPr id="19" name="Shape 17"/>
          <p:cNvSpPr/>
          <p:nvPr/>
        </p:nvSpPr>
        <p:spPr>
          <a:xfrm>
            <a:off x="6720840" y="3346704"/>
            <a:ext cx="122895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93992" y="3410712"/>
            <a:ext cx="10826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3</a:t>
            </a:r>
            <a:endParaRPr lang="en-US" sz="970" dirty="0"/>
          </a:p>
        </p:txBody>
      </p:sp>
      <p:sp>
        <p:nvSpPr>
          <p:cNvPr id="21" name="Shape 19"/>
          <p:cNvSpPr/>
          <p:nvPr/>
        </p:nvSpPr>
        <p:spPr>
          <a:xfrm>
            <a:off x="7949794" y="3346704"/>
            <a:ext cx="3160166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22946" y="3410712"/>
            <a:ext cx="30138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retourner une liste fictive</a:t>
            </a:r>
            <a:endParaRPr lang="en-US" sz="970" dirty="0"/>
          </a:p>
        </p:txBody>
      </p:sp>
      <p:sp>
        <p:nvSpPr>
          <p:cNvPr id="23" name="Shape 21"/>
          <p:cNvSpPr/>
          <p:nvPr/>
        </p:nvSpPr>
        <p:spPr>
          <a:xfrm>
            <a:off x="6720840" y="3822192"/>
            <a:ext cx="1228954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93992" y="3886200"/>
            <a:ext cx="10826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4</a:t>
            </a:r>
            <a:endParaRPr lang="en-US" sz="970" dirty="0"/>
          </a:p>
        </p:txBody>
      </p:sp>
      <p:sp>
        <p:nvSpPr>
          <p:cNvPr id="25" name="Shape 23"/>
          <p:cNvSpPr/>
          <p:nvPr/>
        </p:nvSpPr>
        <p:spPr>
          <a:xfrm>
            <a:off x="7949794" y="3822192"/>
            <a:ext cx="3160166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22946" y="3886200"/>
            <a:ext cx="30138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brancher la vraie recherche</a:t>
            </a:r>
            <a:endParaRPr lang="en-US" sz="970" dirty="0"/>
          </a:p>
        </p:txBody>
      </p:sp>
      <p:sp>
        <p:nvSpPr>
          <p:cNvPr id="27" name="Shape 25"/>
          <p:cNvSpPr/>
          <p:nvPr/>
        </p:nvSpPr>
        <p:spPr>
          <a:xfrm>
            <a:off x="6720840" y="4800600"/>
            <a:ext cx="4389120" cy="731520"/>
          </a:xfrm>
          <a:prstGeom prst="roundRect">
            <a:avLst>
              <a:gd name="adj" fmla="val 7500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48856" y="4892040"/>
            <a:ext cx="4133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0F172A"/>
                </a:solidFill>
              </a:rPr>
              <a:t>Critère de réussite : le formulaire affiche une liste cohérente et reste compréhensible à expliquer.</a:t>
            </a:r>
            <a:endParaRPr lang="en-US" sz="12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4ED8"/>
                </a:solidFill>
              </a:rPr>
              <a:t>DIAGNOSTIC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Typologie des erreurs : compilation, exécution, logique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2589581" cy="685800"/>
          </a:xfrm>
          <a:prstGeom prst="rect">
            <a:avLst/>
          </a:prstGeom>
          <a:solidFill>
            <a:srgbClr val="0F172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207008"/>
            <a:ext cx="244327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Type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321101" y="1143000"/>
            <a:ext cx="3884371" cy="685800"/>
          </a:xfrm>
          <a:prstGeom prst="rect">
            <a:avLst/>
          </a:prstGeom>
          <a:solidFill>
            <a:srgbClr val="0F172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94253" y="1207008"/>
            <a:ext cx="373806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Symptôme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205472" y="1143000"/>
            <a:ext cx="4315968" cy="685800"/>
          </a:xfrm>
          <a:prstGeom prst="rect">
            <a:avLst/>
          </a:prstGeom>
          <a:solidFill>
            <a:srgbClr val="0F172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78624" y="1207008"/>
            <a:ext cx="4169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Exemple live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1520" y="1828800"/>
            <a:ext cx="2589581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1892808"/>
            <a:ext cx="244327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Compilation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3321101" y="1828800"/>
            <a:ext cx="3884371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94253" y="1892808"/>
            <a:ext cx="373806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le programme ne démarre pas</a:t>
            </a:r>
            <a:endParaRPr lang="en-US" sz="970" dirty="0"/>
          </a:p>
        </p:txBody>
      </p:sp>
      <p:sp>
        <p:nvSpPr>
          <p:cNvPr id="14" name="Shape 12"/>
          <p:cNvSpPr/>
          <p:nvPr/>
        </p:nvSpPr>
        <p:spPr>
          <a:xfrm>
            <a:off x="7205472" y="1828800"/>
            <a:ext cx="4315968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78624" y="1892808"/>
            <a:ext cx="4169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End If manquant</a:t>
            </a:r>
            <a:endParaRPr lang="en-US" sz="970" dirty="0"/>
          </a:p>
        </p:txBody>
      </p:sp>
      <p:sp>
        <p:nvSpPr>
          <p:cNvPr id="16" name="Shape 14"/>
          <p:cNvSpPr/>
          <p:nvPr/>
        </p:nvSpPr>
        <p:spPr>
          <a:xfrm>
            <a:off x="731520" y="2514600"/>
            <a:ext cx="2589581" cy="6858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2578608"/>
            <a:ext cx="244327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Exécution</a:t>
            </a:r>
            <a:endParaRPr lang="en-US" sz="970" dirty="0"/>
          </a:p>
        </p:txBody>
      </p:sp>
      <p:sp>
        <p:nvSpPr>
          <p:cNvPr id="18" name="Shape 16"/>
          <p:cNvSpPr/>
          <p:nvPr/>
        </p:nvSpPr>
        <p:spPr>
          <a:xfrm>
            <a:off x="3321101" y="2514600"/>
            <a:ext cx="3884371" cy="6858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94253" y="2578608"/>
            <a:ext cx="373806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crash pendant l’usage</a:t>
            </a:r>
            <a:endParaRPr lang="en-US" sz="970" dirty="0"/>
          </a:p>
        </p:txBody>
      </p:sp>
      <p:sp>
        <p:nvSpPr>
          <p:cNvPr id="20" name="Shape 18"/>
          <p:cNvSpPr/>
          <p:nvPr/>
        </p:nvSpPr>
        <p:spPr>
          <a:xfrm>
            <a:off x="7205472" y="2514600"/>
            <a:ext cx="4315968" cy="6858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78624" y="2578608"/>
            <a:ext cx="4169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index hors limites</a:t>
            </a: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731520" y="3200400"/>
            <a:ext cx="2589581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3264408"/>
            <a:ext cx="244327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Logique</a:t>
            </a:r>
            <a:endParaRPr lang="en-US" sz="970" dirty="0"/>
          </a:p>
        </p:txBody>
      </p:sp>
      <p:sp>
        <p:nvSpPr>
          <p:cNvPr id="24" name="Shape 22"/>
          <p:cNvSpPr/>
          <p:nvPr/>
        </p:nvSpPr>
        <p:spPr>
          <a:xfrm>
            <a:off x="3321101" y="3200400"/>
            <a:ext cx="3884371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94253" y="3264408"/>
            <a:ext cx="373806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le programme tourne mais répond mal</a:t>
            </a:r>
            <a:endParaRPr lang="en-US" sz="970" dirty="0"/>
          </a:p>
        </p:txBody>
      </p:sp>
      <p:sp>
        <p:nvSpPr>
          <p:cNvPr id="26" name="Shape 24"/>
          <p:cNvSpPr/>
          <p:nvPr/>
        </p:nvSpPr>
        <p:spPr>
          <a:xfrm>
            <a:off x="7205472" y="3200400"/>
            <a:ext cx="4315968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78624" y="3264408"/>
            <a:ext cx="4169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mauvaise condition de recherche</a:t>
            </a:r>
            <a:endParaRPr lang="en-US" sz="970" dirty="0"/>
          </a:p>
        </p:txBody>
      </p:sp>
      <p:sp>
        <p:nvSpPr>
          <p:cNvPr id="28" name="Shape 26"/>
          <p:cNvSpPr/>
          <p:nvPr/>
        </p:nvSpPr>
        <p:spPr>
          <a:xfrm>
            <a:off x="914400" y="4343400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42416" y="4434840"/>
            <a:ext cx="18470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Méthode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246120" y="4160520"/>
            <a:ext cx="758952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50" dirty="0">
                <a:solidFill>
                  <a:srgbClr val="0F172A"/>
                </a:solidFill>
              </a:rPr>
              <a:t>Lire le message exact.</a:t>
            </a:r>
            <a:endParaRPr lang="en-US" sz="1450" dirty="0"/>
          </a:p>
          <a:p>
            <a:r>
              <a:rPr lang="en-US" sz="1450" dirty="0">
                <a:solidFill>
                  <a:srgbClr val="0F172A"/>
                </a:solidFill>
              </a:rPr>
              <a:t>Reproduire le problème.</a:t>
            </a:r>
            <a:endParaRPr lang="en-US" sz="1450" dirty="0"/>
          </a:p>
          <a:p>
            <a:r>
              <a:rPr lang="en-US" sz="1450" dirty="0">
                <a:solidFill>
                  <a:srgbClr val="0F172A"/>
                </a:solidFill>
              </a:rPr>
              <a:t>Isoler la zone de code.</a:t>
            </a:r>
            <a:endParaRPr lang="en-US" sz="1450" dirty="0"/>
          </a:p>
          <a:p>
            <a:r>
              <a:rPr lang="en-US" sz="1450" dirty="0">
                <a:solidFill>
                  <a:srgbClr val="0F172A"/>
                </a:solidFill>
              </a:rPr>
              <a:t>Observer les valeurs.</a:t>
            </a:r>
            <a:endParaRPr lang="en-US" sz="1450" dirty="0"/>
          </a:p>
          <a:p>
            <a:r>
              <a:rPr lang="en-US" sz="1450" dirty="0">
                <a:solidFill>
                  <a:srgbClr val="0F172A"/>
                </a:solidFill>
              </a:rPr>
              <a:t>Corriger une seule hypothèse à la fois.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4ED8"/>
                </a:solidFill>
              </a:rPr>
              <a:t>DEBUG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Débogueur Visual Studio : voir le programme vivre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14400" y="1234440"/>
            <a:ext cx="1949501" cy="777240"/>
          </a:xfrm>
          <a:prstGeom prst="roundRect">
            <a:avLst>
              <a:gd name="adj" fmla="val 7059"/>
            </a:avLst>
          </a:prstGeom>
          <a:solidFill>
            <a:srgbClr val="E0F2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2416" y="1325880"/>
            <a:ext cx="1693469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Breakpoint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873045" y="1623060"/>
            <a:ext cx="73152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964485" y="1234440"/>
            <a:ext cx="1949501" cy="777240"/>
          </a:xfrm>
          <a:prstGeom prst="roundRect">
            <a:avLst>
              <a:gd name="adj" fmla="val 7059"/>
            </a:avLst>
          </a:prstGeom>
          <a:solidFill>
            <a:srgbClr val="EFF6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92501" y="1325880"/>
            <a:ext cx="1693469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F5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923130" y="1623060"/>
            <a:ext cx="73152" cy="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014570" y="1234440"/>
            <a:ext cx="1949501" cy="777240"/>
          </a:xfrm>
          <a:prstGeom prst="roundRect">
            <a:avLst>
              <a:gd name="adj" fmla="val 7059"/>
            </a:avLst>
          </a:prstGeom>
          <a:solidFill>
            <a:srgbClr val="E0F2FE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42586" y="1325880"/>
            <a:ext cx="1693469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Step Over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973214" y="1623060"/>
            <a:ext cx="73152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064654" y="1234440"/>
            <a:ext cx="1949501" cy="777240"/>
          </a:xfrm>
          <a:prstGeom prst="roundRect">
            <a:avLst>
              <a:gd name="adj" fmla="val 7059"/>
            </a:avLst>
          </a:prstGeom>
          <a:solidFill>
            <a:srgbClr val="EFF6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92670" y="1325880"/>
            <a:ext cx="1693469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Watch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023299" y="1623060"/>
            <a:ext cx="73152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114739" y="1234440"/>
            <a:ext cx="1949501" cy="777240"/>
          </a:xfrm>
          <a:prstGeom prst="roundRect">
            <a:avLst>
              <a:gd name="adj" fmla="val 7059"/>
            </a:avLst>
          </a:prstGeom>
          <a:solidFill>
            <a:srgbClr val="E0F2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42755" y="1325880"/>
            <a:ext cx="1693469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Hypothèse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2960" y="2697480"/>
            <a:ext cx="5029200" cy="1645920"/>
          </a:xfrm>
          <a:prstGeom prst="roundRect">
            <a:avLst>
              <a:gd name="adj" fmla="val 2222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9264" y="2816352"/>
            <a:ext cx="47548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For Each contact In contacts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If contact.Name.Contains(keyword) Then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results.Add(contact)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End If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Next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0" y="2697480"/>
            <a:ext cx="4389120" cy="45720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28816" y="2788920"/>
            <a:ext cx="4133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À inspecter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92240" y="3383280"/>
            <a:ext cx="416052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00" dirty="0">
                <a:solidFill>
                  <a:srgbClr val="0F172A"/>
                </a:solidFill>
              </a:rPr>
              <a:t>keyword vaut-il ce qu’on croit ?</a:t>
            </a:r>
            <a:endParaRPr lang="en-US" sz="1400" dirty="0"/>
          </a:p>
          <a:p>
            <a:r>
              <a:rPr lang="en-US" sz="1400" dirty="0">
                <a:solidFill>
                  <a:srgbClr val="0F172A"/>
                </a:solidFill>
              </a:rPr>
              <a:t>contacts contient-il des éléments ?</a:t>
            </a:r>
            <a:endParaRPr lang="en-US" sz="1400" dirty="0"/>
          </a:p>
          <a:p>
            <a:r>
              <a:rPr lang="en-US" sz="1400" dirty="0">
                <a:solidFill>
                  <a:srgbClr val="0F172A"/>
                </a:solidFill>
              </a:rPr>
              <a:t>La condition devient-elle True ?</a:t>
            </a:r>
            <a:endParaRPr lang="en-US" sz="1400" dirty="0"/>
          </a:p>
          <a:p>
            <a:r>
              <a:rPr lang="en-US" sz="1400" dirty="0">
                <a:solidFill>
                  <a:srgbClr val="0F172A"/>
                </a:solidFill>
              </a:rPr>
              <a:t>results augmente-t-il ?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097280" y="5166360"/>
            <a:ext cx="9646920" cy="594360"/>
          </a:xfrm>
          <a:prstGeom prst="roundRect">
            <a:avLst>
              <a:gd name="adj" fmla="val 9231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25296" y="5257800"/>
            <a:ext cx="93908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Erreur volontaire : rechercher en respectant la casse puis observer pourquoi “ada” ne trouve pas “Ada”.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4ED8"/>
                </a:solidFill>
              </a:rPr>
              <a:t>TESTS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Introduction aux tests unitaires MSTest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1005840"/>
            <a:ext cx="6400800" cy="4983480"/>
          </a:xfrm>
          <a:prstGeom prst="roundRect">
            <a:avLst>
              <a:gd name="adj" fmla="val 734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2104" y="1124712"/>
            <a:ext cx="6126480" cy="478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&lt;TestMethod&gt;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Public Sub DisplayLine_ReturnsExpectedText()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' Arrange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Dim c As New Contact("Ada", "ada@demo.fr", "0102030405")</a:t>
            </a:r>
            <a:endParaRPr lang="en-US" sz="940" dirty="0"/>
          </a:p>
          <a:p>
            <a:pPr indent="0" marL="0">
              <a:buNone/>
            </a:pP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' Act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Dim text As String = c.DisplayLine()</a:t>
            </a:r>
            <a:endParaRPr lang="en-US" sz="940" dirty="0"/>
          </a:p>
          <a:p>
            <a:pPr indent="0" marL="0">
              <a:buNone/>
            </a:pP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' Assert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Assert.AreEqual("Ada - ada@demo.fr - 0102030405", text)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End Sub</a:t>
            </a:r>
            <a:endParaRPr lang="en-US" sz="940" dirty="0"/>
          </a:p>
        </p:txBody>
      </p:sp>
      <p:sp>
        <p:nvSpPr>
          <p:cNvPr id="6" name="Shape 4"/>
          <p:cNvSpPr/>
          <p:nvPr/>
        </p:nvSpPr>
        <p:spPr>
          <a:xfrm>
            <a:off x="7452360" y="1143000"/>
            <a:ext cx="3657600" cy="475488"/>
          </a:xfrm>
          <a:prstGeom prst="roundRect">
            <a:avLst>
              <a:gd name="adj" fmla="val 11538"/>
            </a:avLst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0376" y="1234440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Arrange - Act - Assert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43800" y="1828800"/>
            <a:ext cx="3429000" cy="2240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50" dirty="0">
                <a:solidFill>
                  <a:srgbClr val="0F172A"/>
                </a:solidFill>
              </a:rPr>
              <a:t>Arrange : préparer les données.</a:t>
            </a:r>
            <a:endParaRPr lang="en-US" sz="1350" dirty="0"/>
          </a:p>
          <a:p>
            <a:r>
              <a:rPr lang="en-US" sz="1350" dirty="0">
                <a:solidFill>
                  <a:srgbClr val="0F172A"/>
                </a:solidFill>
              </a:rPr>
              <a:t>Act : exécuter ce qu’on teste.</a:t>
            </a:r>
            <a:endParaRPr lang="en-US" sz="1350" dirty="0"/>
          </a:p>
          <a:p>
            <a:r>
              <a:rPr lang="en-US" sz="1350" dirty="0">
                <a:solidFill>
                  <a:srgbClr val="0F172A"/>
                </a:solidFill>
              </a:rPr>
              <a:t>Assert : vérifier le résultat attendu.</a:t>
            </a:r>
            <a:endParaRPr lang="en-US" sz="1350" dirty="0"/>
          </a:p>
          <a:p>
            <a:r>
              <a:rPr lang="en-US" sz="1350" dirty="0">
                <a:solidFill>
                  <a:srgbClr val="0F172A"/>
                </a:solidFill>
              </a:rPr>
              <a:t>Un test protège contre une régression.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452360" y="4663440"/>
            <a:ext cx="3657600" cy="822960"/>
          </a:xfrm>
          <a:prstGeom prst="roundRect">
            <a:avLst>
              <a:gd name="adj" fmla="val 6667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0376" y="4754880"/>
            <a:ext cx="3401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0F172A"/>
                </a:solidFill>
              </a:rPr>
              <a:t>Live : casser DisplayLine(), voir le test rouge, corriger, revoir le test vert.</a:t>
            </a:r>
            <a:endParaRPr lang="en-US" sz="12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4ED8"/>
                </a:solidFill>
              </a:rPr>
              <a:t>ÉVALUATION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TP final court : diagnostic + amélioration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77240" y="1143000"/>
            <a:ext cx="5394960" cy="4297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00" dirty="0">
                <a:solidFill>
                  <a:srgbClr val="0F172A"/>
                </a:solidFill>
              </a:rPr>
              <a:t>Partir d’un mini-projet Contacts déjà fonctionnel mais imparfait.</a:t>
            </a:r>
            <a:endParaRPr lang="en-US" sz="1400" dirty="0"/>
          </a:p>
          <a:p>
            <a:r>
              <a:rPr lang="en-US" sz="1400" dirty="0">
                <a:solidFill>
                  <a:srgbClr val="0F172A"/>
                </a:solidFill>
              </a:rPr>
              <a:t>Trouver un bug de recherche avec le débogueur.</a:t>
            </a:r>
            <a:endParaRPr lang="en-US" sz="1400" dirty="0"/>
          </a:p>
          <a:p>
            <a:r>
              <a:rPr lang="en-US" sz="1400" dirty="0">
                <a:solidFill>
                  <a:srgbClr val="0F172A"/>
                </a:solidFill>
              </a:rPr>
              <a:t>Corriger une erreur de condition ou de casse.</a:t>
            </a:r>
            <a:endParaRPr lang="en-US" sz="1400" dirty="0"/>
          </a:p>
          <a:p>
            <a:r>
              <a:rPr lang="en-US" sz="1400" dirty="0">
                <a:solidFill>
                  <a:srgbClr val="0F172A"/>
                </a:solidFill>
              </a:rPr>
              <a:t>Ajouter une petite règle de validation.</a:t>
            </a:r>
            <a:endParaRPr lang="en-US" sz="1400" dirty="0"/>
          </a:p>
          <a:p>
            <a:r>
              <a:rPr lang="en-US" sz="1400" dirty="0">
                <a:solidFill>
                  <a:srgbClr val="0F172A"/>
                </a:solidFill>
              </a:rPr>
              <a:t>Écrire ou compléter un test simple.</a:t>
            </a:r>
            <a:endParaRPr lang="en-US" sz="1400" dirty="0"/>
          </a:p>
          <a:p>
            <a:r>
              <a:rPr lang="en-US" sz="1400" dirty="0">
                <a:solidFill>
                  <a:srgbClr val="0F172A"/>
                </a:solidFill>
              </a:rPr>
              <a:t>Expliquer oralement la correction en 2 minutes.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675120" y="1234440"/>
            <a:ext cx="4434840" cy="502920"/>
          </a:xfrm>
          <a:prstGeom prst="roundRect">
            <a:avLst>
              <a:gd name="adj" fmla="val 10909"/>
            </a:avLst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03136" y="1325880"/>
            <a:ext cx="41788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Preuve d’apprentissage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766560" y="1920240"/>
            <a:ext cx="416052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70" dirty="0">
                <a:solidFill>
                  <a:srgbClr val="0F172A"/>
                </a:solidFill>
              </a:rPr>
              <a:t>Le bug est localisé, pas seulement “réparé au hasard”.</a:t>
            </a:r>
            <a:endParaRPr lang="en-US" sz="1370" dirty="0"/>
          </a:p>
          <a:p>
            <a:r>
              <a:rPr lang="en-US" sz="1370" dirty="0">
                <a:solidFill>
                  <a:srgbClr val="0F172A"/>
                </a:solidFill>
              </a:rPr>
              <a:t>La correction est minimale et expliquée.</a:t>
            </a:r>
            <a:endParaRPr lang="en-US" sz="1370" dirty="0"/>
          </a:p>
          <a:p>
            <a:r>
              <a:rPr lang="en-US" sz="1370" dirty="0">
                <a:solidFill>
                  <a:srgbClr val="0F172A"/>
                </a:solidFill>
              </a:rPr>
              <a:t>Le test montre ce que l’on sécurise.</a:t>
            </a:r>
            <a:endParaRPr lang="en-US" sz="1370" dirty="0"/>
          </a:p>
          <a:p>
            <a:r>
              <a:rPr lang="en-US" sz="1370" dirty="0">
                <a:solidFill>
                  <a:srgbClr val="0F172A"/>
                </a:solidFill>
              </a:rPr>
              <a:t>Le code reste lisible.</a:t>
            </a:r>
            <a:endParaRPr lang="en-US" sz="1370" dirty="0"/>
          </a:p>
        </p:txBody>
      </p:sp>
      <p:sp>
        <p:nvSpPr>
          <p:cNvPr id="8" name="Shape 6"/>
          <p:cNvSpPr/>
          <p:nvPr/>
        </p:nvSpPr>
        <p:spPr>
          <a:xfrm>
            <a:off x="6675120" y="4572000"/>
            <a:ext cx="4434840" cy="822960"/>
          </a:xfrm>
          <a:prstGeom prst="roundRect">
            <a:avLst>
              <a:gd name="adj" fmla="val 6667"/>
            </a:avLst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03136" y="4663440"/>
            <a:ext cx="4178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Modalité : binômes puis correction live collective avec comparaison des hypothèses.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4ED8"/>
                </a:solidFill>
              </a:rPr>
              <a:t>CLÔTURE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Synthèse J3 : ce que les étudiants doivent savoir expliquer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2805379" cy="607423"/>
          </a:xfrm>
          <a:prstGeom prst="rect">
            <a:avLst/>
          </a:prstGeom>
          <a:solidFill>
            <a:srgbClr val="0F172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069848"/>
            <a:ext cx="2659075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Notion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536899" y="1005840"/>
            <a:ext cx="7984541" cy="607423"/>
          </a:xfrm>
          <a:prstGeom prst="rect">
            <a:avLst/>
          </a:prstGeom>
          <a:solidFill>
            <a:srgbClr val="0F172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10051" y="1069848"/>
            <a:ext cx="7838237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Phrase attendue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" y="1613263"/>
            <a:ext cx="2805379" cy="607423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77271"/>
            <a:ext cx="2659075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Classe / objet</a:t>
            </a:r>
            <a:endParaRPr lang="en-US" sz="970" dirty="0"/>
          </a:p>
        </p:txBody>
      </p:sp>
      <p:sp>
        <p:nvSpPr>
          <p:cNvPr id="10" name="Shape 8"/>
          <p:cNvSpPr/>
          <p:nvPr/>
        </p:nvSpPr>
        <p:spPr>
          <a:xfrm>
            <a:off x="3536899" y="1613263"/>
            <a:ext cx="7984541" cy="607423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0051" y="1677271"/>
            <a:ext cx="7838237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une classe décrit, un objet existe en mémoire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731520" y="2220686"/>
            <a:ext cx="2805379" cy="607423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2284694"/>
            <a:ext cx="2659075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Responsabilité</a:t>
            </a:r>
            <a:endParaRPr lang="en-US" sz="970" dirty="0"/>
          </a:p>
        </p:txBody>
      </p:sp>
      <p:sp>
        <p:nvSpPr>
          <p:cNvPr id="14" name="Shape 12"/>
          <p:cNvSpPr/>
          <p:nvPr/>
        </p:nvSpPr>
        <p:spPr>
          <a:xfrm>
            <a:off x="3536899" y="2220686"/>
            <a:ext cx="7984541" cy="607423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10051" y="2284694"/>
            <a:ext cx="7838237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chaque partie du code doit avoir un rôle clair</a:t>
            </a:r>
            <a:endParaRPr lang="en-US" sz="970" dirty="0"/>
          </a:p>
        </p:txBody>
      </p:sp>
      <p:sp>
        <p:nvSpPr>
          <p:cNvPr id="16" name="Shape 14"/>
          <p:cNvSpPr/>
          <p:nvPr/>
        </p:nvSpPr>
        <p:spPr>
          <a:xfrm>
            <a:off x="731520" y="2828109"/>
            <a:ext cx="2805379" cy="607423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2892117"/>
            <a:ext cx="2659075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Accès données</a:t>
            </a:r>
            <a:endParaRPr lang="en-US" sz="970" dirty="0"/>
          </a:p>
        </p:txBody>
      </p:sp>
      <p:sp>
        <p:nvSpPr>
          <p:cNvPr id="18" name="Shape 16"/>
          <p:cNvSpPr/>
          <p:nvPr/>
        </p:nvSpPr>
        <p:spPr>
          <a:xfrm>
            <a:off x="3536899" y="2828109"/>
            <a:ext cx="7984541" cy="607423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10051" y="2892117"/>
            <a:ext cx="7838237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connexion, requête paramétrée, lecture des résultats</a:t>
            </a:r>
            <a:endParaRPr lang="en-US" sz="970" dirty="0"/>
          </a:p>
        </p:txBody>
      </p:sp>
      <p:sp>
        <p:nvSpPr>
          <p:cNvPr id="20" name="Shape 18"/>
          <p:cNvSpPr/>
          <p:nvPr/>
        </p:nvSpPr>
        <p:spPr>
          <a:xfrm>
            <a:off x="731520" y="3435531"/>
            <a:ext cx="2805379" cy="607423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3499539"/>
            <a:ext cx="2659075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WinForms</a:t>
            </a: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3536899" y="3435531"/>
            <a:ext cx="7984541" cy="607423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10051" y="3499539"/>
            <a:ext cx="7838237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un événement déclenche du code applicatif</a:t>
            </a:r>
            <a:endParaRPr lang="en-US" sz="970" dirty="0"/>
          </a:p>
        </p:txBody>
      </p:sp>
      <p:sp>
        <p:nvSpPr>
          <p:cNvPr id="24" name="Shape 22"/>
          <p:cNvSpPr/>
          <p:nvPr/>
        </p:nvSpPr>
        <p:spPr>
          <a:xfrm>
            <a:off x="731520" y="4042954"/>
            <a:ext cx="2805379" cy="607423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" y="4106962"/>
            <a:ext cx="2659075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Debug</a:t>
            </a:r>
            <a:endParaRPr lang="en-US" sz="970" dirty="0"/>
          </a:p>
        </p:txBody>
      </p:sp>
      <p:sp>
        <p:nvSpPr>
          <p:cNvPr id="26" name="Shape 24"/>
          <p:cNvSpPr/>
          <p:nvPr/>
        </p:nvSpPr>
        <p:spPr>
          <a:xfrm>
            <a:off x="3536899" y="4042954"/>
            <a:ext cx="7984541" cy="607423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10051" y="4106962"/>
            <a:ext cx="7838237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observer les valeurs pour vérifier une hypothèse</a:t>
            </a:r>
            <a:endParaRPr lang="en-US" sz="970" dirty="0"/>
          </a:p>
        </p:txBody>
      </p:sp>
      <p:sp>
        <p:nvSpPr>
          <p:cNvPr id="28" name="Shape 26"/>
          <p:cNvSpPr/>
          <p:nvPr/>
        </p:nvSpPr>
        <p:spPr>
          <a:xfrm>
            <a:off x="731520" y="4650377"/>
            <a:ext cx="2805379" cy="607423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" y="4714385"/>
            <a:ext cx="2659075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Test</a:t>
            </a:r>
            <a:endParaRPr lang="en-US" sz="970" dirty="0"/>
          </a:p>
        </p:txBody>
      </p:sp>
      <p:sp>
        <p:nvSpPr>
          <p:cNvPr id="30" name="Shape 28"/>
          <p:cNvSpPr/>
          <p:nvPr/>
        </p:nvSpPr>
        <p:spPr>
          <a:xfrm>
            <a:off x="3536899" y="4650377"/>
            <a:ext cx="7984541" cy="607423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10051" y="4714385"/>
            <a:ext cx="7838237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0F172A"/>
                </a:solidFill>
              </a:rPr>
              <a:t>automatiser une vérification pour éviter une régression</a:t>
            </a:r>
            <a:endParaRPr lang="en-US" sz="970" dirty="0"/>
          </a:p>
        </p:txBody>
      </p:sp>
      <p:sp>
        <p:nvSpPr>
          <p:cNvPr id="32" name="Shape 30"/>
          <p:cNvSpPr/>
          <p:nvPr/>
        </p:nvSpPr>
        <p:spPr>
          <a:xfrm>
            <a:off x="1051560" y="5577840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79576" y="5669280"/>
            <a:ext cx="97109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Transition post-formation : refaire l’application Contacts en ajoutant modifier/supprimer et plus de tests.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Slides Visual Basic J3 Live Coding</dc:title>
  <dc:subject>Visual Basic J3 Live Coding</dc:subject>
  <dc:creator>OpenAI</dc:creator>
  <cp:lastModifiedBy>OpenAI</cp:lastModifiedBy>
  <cp:revision>1</cp:revision>
  <dcterms:created xsi:type="dcterms:W3CDTF">2026-09-27T10:35:21Z</dcterms:created>
  <dcterms:modified xsi:type="dcterms:W3CDTF">2026-09-27T10:35:21Z</dcterms:modified>
</cp:coreProperties>
</file>